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0b93df8b-dfa0-4b17-5f1b-1e764954b08f}">
          <p14:sldIdLst>
            <p14:sldId id="256"/>
          </p14:sldIdLst>
        </p14:section>
        <p14:section name="Datos" id="{0e2dd2df-1a0a-666e-59d3-fc0d9fb7721a}">
          <p14:sldIdLst>
            <p14:sldId id="257"/>
            <p14:sldId id="258"/>
            <p14:sldId id="259"/>
          </p14:sldIdLst>
        </p14:section>
        <p14:section name="Método" id="{c85d3050-a228-9455-88b9-d830fd886407}">
          <p14:sldIdLst>
            <p14:sldId id="260"/>
          </p14:sldIdLst>
        </p14:section>
        <p14:section name="Resultados" id="{ac4e01fd-b5f0-c35c-de7b-ca3ebb660a54}">
          <p14:sldIdLst>
            <p14:sldId id="261"/>
            <p14:sldId id="262"/>
            <p14:sldId id="263"/>
            <p14:sldId id="264"/>
          </p14:sldIdLst>
        </p14:section>
        <p14:section name="Cierre" id="{8c97bd08-cf5a-112c-cb29-b38de90d30da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342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3426"/>
                </a:solidFill>
                <a:latin typeface="+mn-lt"/>
              </a:rPr>
              <a:t>Semillas por variedad (entrenamiento)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Semillas</c:v>
                </c:pt>
              </c:strCache>
            </c:strRef>
          </c:tx>
          <c:spPr>
            <a:solidFill>
              <a:srgbClr val="7A9E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F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DERMASON</c:v>
                  </c:pt>
                  <c:pt idx="1">
                    <c:v>SIRA</c:v>
                  </c:pt>
                  <c:pt idx="2">
                    <c:v>SEKER</c:v>
                  </c:pt>
                  <c:pt idx="3">
                    <c:v>HOROZ</c:v>
                  </c:pt>
                  <c:pt idx="4">
                    <c:v>CALI</c:v>
                  </c:pt>
                  <c:pt idx="5">
                    <c:v>BARBUNYA</c:v>
                  </c:pt>
                  <c:pt idx="6">
                    <c:v>BOMBAY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2837</c:v>
                </c:pt>
                <c:pt idx="1">
                  <c:v>2109</c:v>
                </c:pt>
                <c:pt idx="2">
                  <c:v>1621</c:v>
                </c:pt>
                <c:pt idx="3">
                  <c:v>1488</c:v>
                </c:pt>
                <c:pt idx="4">
                  <c:v>1304</c:v>
                </c:pt>
                <c:pt idx="5">
                  <c:v>1057</c:v>
                </c:pt>
                <c:pt idx="6">
                  <c:v>418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1F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34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DE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C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342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3426"/>
                </a:solidFill>
                <a:latin typeface="+mn-lt"/>
              </a:rPr>
              <a:t>F1 macro promedio en validación cruzada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macro</c:v>
                </c:pt>
              </c:strCache>
            </c:strRef>
          </c:tx>
          <c:spPr>
            <a:solidFill>
              <a:srgbClr val="7A9E7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F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Árbol</c:v>
                  </c:pt>
                  <c:pt idx="2">
                    <c:v>Random forest</c:v>
                  </c:pt>
                  <c:pt idx="3">
                    <c:v>Regresión logística</c:v>
                  </c:pt>
                  <c:pt idx="4">
                    <c:v>KNN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0.059</c:v>
                </c:pt>
                <c:pt idx="1">
                  <c:v>0.924</c:v>
                </c:pt>
                <c:pt idx="2">
                  <c:v>0.937</c:v>
                </c:pt>
                <c:pt idx="3">
                  <c:v>0.938</c:v>
                </c:pt>
                <c:pt idx="4">
                  <c:v>0.939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2B1F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34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9525" cap="flat">
              <a:solidFill>
                <a:srgbClr val="E3DED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C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342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3426"/>
                </a:solidFill>
                <a:latin typeface="+mn-lt"/>
              </a:rPr>
              <a:t>F1 por variedad en test (2,709 semillas)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7A9E7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F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BOMBAY</c:v>
                  </c:pt>
                  <c:pt idx="1">
                    <c:v>HOROZ</c:v>
                  </c:pt>
                  <c:pt idx="2">
                    <c:v>SEKER</c:v>
                  </c:pt>
                  <c:pt idx="3">
                    <c:v>CALI</c:v>
                  </c:pt>
                  <c:pt idx="4">
                    <c:v>DERMASON</c:v>
                  </c:pt>
                  <c:pt idx="5">
                    <c:v>BARBUNYA</c:v>
                  </c:pt>
                  <c:pt idx="6">
                    <c:v>SIRA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0.995</c:v>
                </c:pt>
                <c:pt idx="1">
                  <c:v>0.955</c:v>
                </c:pt>
                <c:pt idx="2">
                  <c:v>0.942</c:v>
                </c:pt>
                <c:pt idx="3">
                  <c:v>0.923</c:v>
                </c:pt>
                <c:pt idx="4">
                  <c:v>0.917</c:v>
                </c:pt>
                <c:pt idx="5">
                  <c:v>0.912</c:v>
                </c:pt>
                <c:pt idx="6">
                  <c:v>0.875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2B1F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34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b"/>
        <c:majorGridlines>
          <c:spPr>
            <a:ln w="9525" cap="flat">
              <a:solidFill>
                <a:srgbClr val="E3DED5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C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342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3426"/>
                </a:solidFill>
                <a:latin typeface="+mn-lt"/>
              </a:rPr>
              <a:t>Errores en test por par de variedades (214 en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Errores</c:v>
                </c:pt>
              </c:strCache>
            </c:strRef>
          </c:tx>
          <c:spPr>
            <a:solidFill>
              <a:srgbClr val="A245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F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245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B3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B3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B3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B38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DERMASON ↔ SIRA</c:v>
                  </c:pt>
                  <c:pt idx="1">
                    <c:v>BARBUNYA ↔ CALI</c:v>
                  </c:pt>
                  <c:pt idx="2">
                    <c:v>SEKER ↔ SIRA</c:v>
                  </c:pt>
                  <c:pt idx="3">
                    <c:v>HOROZ ↔ CALI</c:v>
                  </c:pt>
                  <c:pt idx="4">
                    <c:v>Resto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27</c:v>
                </c:pt>
                <c:pt idx="2">
                  <c:v>18</c:v>
                </c:pt>
                <c:pt idx="3">
                  <c:v>17</c:v>
                </c:pt>
                <c:pt idx="4">
                  <c:v>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1F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34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DE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C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proyecto: clasificar siete variedades de frijol solo con medidas de tamaño y forma de cada semilla.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dataset es Dry Bean de UCI, de 2020. Las medidas ya vienen calculadas a partir de fotos. Eliminamos los duplicados antes de separar para que ninguna semilla quedara en entrenamiento y en test al mismo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modelo que siempre diga DERMASON acierta el 26 % de las veces, pero no reconoce a las otras seis variedades. F1 macro castiga 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Desde el análisis exploratorio ya se veía qué pares iban a costar: DERMASON contra SIRA y BARBUNYA contra CALI. Lo confirmamos al final en el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importante es que todos los modelos se evaluaron con las mismas cinco particiones, así podemos comparar partición por partición y no solo los promedios.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diferencias entre los tres primeros son más pequeñas que lo que varía el resultado entre particiones, así que no podemos decir que alguno sea mejor.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Aunque no contáramos la brecha de KNN, la regresión logística seguiría siendo la opción más simple dentro del empate.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BOMBAY es casi perfecta por su tamaño. SIRA es la variedad más difícil. Ojo: el eje empieza en 0.8 para que se vean las diferencias.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53 DERMASON se clasificaron como SIRA y 42 SIRA como DERMASON. Con solo tamaño y forma una parte de estas dos no se puede separar.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limitaciones también están en el informe, en la sección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Clasificación de variedades de frijol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Siete variedades a partir de 16 medidas de tamaño y forma · Dry Bean (UCI)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Rodrigo Ramírez y Denis Rodríguez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Qué datos usamos</a:t>
            </a:r>
            <a:endParaRPr lang="en-US" sz="3200" dirty="0"/>
          </a:p>
        </p:txBody>
      </p:sp>
      <p:sp>
        <p:nvSpPr>
          <p:cNvPr id="3" name="dato0"/>
          <p:cNvSpPr/>
          <p:nvPr/>
        </p:nvSpPr>
        <p:spPr>
          <a:xfrm>
            <a:off x="548640" y="146304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13,611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semillas en el dataset original</a:t>
            </a:r>
            <a:endParaRPr lang="en-US" sz="1600" dirty="0"/>
          </a:p>
        </p:txBody>
      </p:sp>
      <p:sp>
        <p:nvSpPr>
          <p:cNvPr id="6" name="dato1"/>
          <p:cNvSpPr/>
          <p:nvPr/>
        </p:nvSpPr>
        <p:spPr>
          <a:xfrm>
            <a:off x="4297680" y="146304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variedades de frijol</a:t>
            </a:r>
            <a:endParaRPr lang="en-US" sz="1600" dirty="0"/>
          </a:p>
        </p:txBody>
      </p:sp>
      <p:sp>
        <p:nvSpPr>
          <p:cNvPr id="9" name="dato2"/>
          <p:cNvSpPr/>
          <p:nvPr/>
        </p:nvSpPr>
        <p:spPr>
          <a:xfrm>
            <a:off x="8046720" y="146304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2104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medidas numéricas por semilla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Revisión: sin faltantes, sin infinitos y sin valores imposibles. Quitamos 68 filas repetidas antes de separar.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Separación estratificada: 10,834 semillas para entrenamiento y 2,709 para test (20 %, semilla 42).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test se usó una sola vez, al final.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Las variedades no están balanceadas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nota"/>
          <p:cNvSpPr/>
          <p:nvPr/>
        </p:nvSpPr>
        <p:spPr>
          <a:xfrm>
            <a:off x="7863840" y="1554480"/>
            <a:ext cx="3749040" cy="42062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38160" y="182880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6.8×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más semillas de DERMASON que de BOMBAY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Por eso medimos con F1 macro: cada variedad pesa lo mismo, aunque tenga pocas semillas.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Qué distingue a cada variedad</a:t>
            </a:r>
            <a:endParaRPr lang="en-US" sz="3200" dirty="0"/>
          </a:p>
        </p:txBody>
      </p:sp>
      <p:pic>
        <p:nvPicPr>
          <p:cNvPr id="3" name="Image 0" descr="Cajas de las medidas de tamaño por varie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040880" cy="40782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955280" y="14173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BOMBAY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 separa sola por tamaño: más del doble de área que las demás.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7955280" y="2514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SEKER y HOROZ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 reconocen por forma: SEKER es la más redonda y HOROZ la más alargada.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36118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DERMASON y SIRA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son pequeñas y se traslapan mucho.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4709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BARBUNYA y CALI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tienen tamaños parecidos.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623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Los atípicos (22 % de las filas) casi siempre pertenecen a una variedad, como BOMBAY por su tamaño. No son errores, así que no se eliminaron.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Cómo comparamos los modelos</a:t>
            </a:r>
            <a:endParaRPr lang="en-US" sz="3200" dirty="0"/>
          </a:p>
        </p:txBody>
      </p:sp>
      <p:sp>
        <p:nvSpPr>
          <p:cNvPr id="3" name="paso1"/>
          <p:cNvSpPr/>
          <p:nvPr/>
        </p:nvSpPr>
        <p:spPr>
          <a:xfrm>
            <a:off x="548640" y="16459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num1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Pipeline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Escalado dentro de cada partición para regresión logística y KNN.</a:t>
            </a:r>
            <a:endParaRPr lang="en-US" sz="1400" dirty="0"/>
          </a:p>
        </p:txBody>
      </p:sp>
      <p:sp>
        <p:nvSpPr>
          <p:cNvPr id="8" name="paso2"/>
          <p:cNvSpPr/>
          <p:nvPr/>
        </p:nvSpPr>
        <p:spPr>
          <a:xfrm>
            <a:off x="3383280" y="16459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9" name="num2"/>
          <p:cNvSpPr/>
          <p:nvPr/>
        </p:nvSpPr>
        <p:spPr>
          <a:xfrm>
            <a:off x="365760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Cinco modelos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2461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Baseline, regresión logística, KNN, árbol y random forest.</a:t>
            </a:r>
            <a:endParaRPr lang="en-US" sz="1400" dirty="0"/>
          </a:p>
        </p:txBody>
      </p:sp>
      <p:sp>
        <p:nvSpPr>
          <p:cNvPr id="13" name="paso3"/>
          <p:cNvSpPr/>
          <p:nvPr/>
        </p:nvSpPr>
        <p:spPr>
          <a:xfrm>
            <a:off x="6217920" y="16459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4" name="num3"/>
          <p:cNvSpPr/>
          <p:nvPr/>
        </p:nvSpPr>
        <p:spPr>
          <a:xfrm>
            <a:off x="649224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Misma validación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2461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particiones estratificadas, iguales para todos. Se elige por F1 macro.</a:t>
            </a:r>
            <a:endParaRPr lang="en-US" sz="1400" dirty="0"/>
          </a:p>
        </p:txBody>
      </p:sp>
      <p:sp>
        <p:nvSpPr>
          <p:cNvPr id="18" name="paso4"/>
          <p:cNvSpPr/>
          <p:nvPr/>
        </p:nvSpPr>
        <p:spPr>
          <a:xfrm>
            <a:off x="9052560" y="16459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9" name="num4"/>
          <p:cNvSpPr/>
          <p:nvPr/>
        </p:nvSpPr>
        <p:spPr>
          <a:xfrm>
            <a:off x="932688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268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Regla de selección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2461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Empatados: a menos de una desviación del mejor. Gana el de menor sobreajuste.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La regla de selección se definió antes de abrir el test.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Tres modelos quedan empatados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ectura"/>
          <p:cNvSpPr/>
          <p:nvPr/>
        </p:nvSpPr>
        <p:spPr>
          <a:xfrm>
            <a:off x="7863840" y="1554480"/>
            <a:ext cx="3749040" cy="42062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38160" y="182880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KNN, regresión logística y random forest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quedan a menos de una desviación (±0.004). KNN le gana a la logística solo en 3 de 5 particiones.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El árbol sí queda atrás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Pierde contra los otros tres en las 5 particiones. A partir de profundidad 8 solo memoriza.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Elegimos la regresión logística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2011680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4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validación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4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entrenamiento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4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Brecha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4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logística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0.061*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B1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0233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* Con pesos por distancia, cada semilla se encuentra a sí misma en entrenamiento. La brecha de KNN se ve exagerada.</a:t>
            </a:r>
            <a:endParaRPr lang="en-US" sz="1200" dirty="0"/>
          </a:p>
        </p:txBody>
      </p:sp>
      <p:sp>
        <p:nvSpPr>
          <p:cNvPr id="5" name="porque"/>
          <p:cNvSpPr/>
          <p:nvPr/>
        </p:nvSpPr>
        <p:spPr>
          <a:xfrm>
            <a:off x="7863840" y="1554480"/>
            <a:ext cx="37490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138160" y="182880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Por qué la logística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Está empatada con las mejores.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Casi no hay diferencia entre entrenamiento y validación.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Es el modelo más simple de los tres.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Parámetros finales: C = 10, sin pesos por clase, variables escaladas.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En test se mantiene el desempeño</a:t>
            </a:r>
            <a:endParaRPr lang="en-US" sz="3200" dirty="0"/>
          </a:p>
        </p:txBody>
      </p:sp>
      <p:sp>
        <p:nvSpPr>
          <p:cNvPr id="3" name="test0"/>
          <p:cNvSpPr/>
          <p:nvPr/>
        </p:nvSpPr>
        <p:spPr>
          <a:xfrm>
            <a:off x="548640" y="1463040"/>
            <a:ext cx="347472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F1 macro en test</a:t>
            </a:r>
            <a:endParaRPr lang="en-US" sz="1600" dirty="0"/>
          </a:p>
        </p:txBody>
      </p:sp>
      <p:sp>
        <p:nvSpPr>
          <p:cNvPr id="6" name="test1"/>
          <p:cNvSpPr/>
          <p:nvPr/>
        </p:nvSpPr>
        <p:spPr>
          <a:xfrm>
            <a:off x="548640" y="3611880"/>
            <a:ext cx="347472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0.921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754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accuracy en test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806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En validación era 0.938: solo bajó 0.006.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389120" y="1371600"/>
          <a:ext cx="72237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Casi la mitad de los errores: DERMASON y SIRA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errores"/>
          <p:cNvSpPr/>
          <p:nvPr/>
        </p:nvSpPr>
        <p:spPr>
          <a:xfrm>
            <a:off x="7863840" y="1554480"/>
            <a:ext cx="3749040" cy="42062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38160" y="182880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44 %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de los errores son entre DERMASON y SIRA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Son los mismos pares que se traslapaban en el análisis exploratorio. El modelo falla donde las medidas se parecen.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Limitaciones</a:t>
            </a:r>
            <a:endParaRPr lang="en-US" sz="3200" dirty="0"/>
          </a:p>
        </p:txBody>
      </p:sp>
      <p:sp>
        <p:nvSpPr>
          <p:cNvPr id="3" name="lim0"/>
          <p:cNvSpPr/>
          <p:nvPr/>
        </p:nvSpPr>
        <p:spPr>
          <a:xfrm>
            <a:off x="548640" y="1554480"/>
            <a:ext cx="544068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Un solo origen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77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Mismas condiciones de cámara y luz. No sabemos cómo funciona con otras fotos.</a:t>
            </a:r>
            <a:endParaRPr lang="en-US" sz="1600" dirty="0"/>
          </a:p>
        </p:txBody>
      </p:sp>
      <p:sp>
        <p:nvSpPr>
          <p:cNvPr id="6" name="lim1"/>
          <p:cNvSpPr/>
          <p:nvPr/>
        </p:nvSpPr>
        <p:spPr>
          <a:xfrm>
            <a:off x="6172200" y="1554480"/>
            <a:ext cx="544068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Solo 7 variedades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77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Una semilla de otra variedad se clasificaría mal sin aviso.</a:t>
            </a:r>
            <a:endParaRPr lang="en-US" sz="1600" dirty="0"/>
          </a:p>
        </p:txBody>
      </p:sp>
      <p:sp>
        <p:nvSpPr>
          <p:cNvPr id="9" name="lim2"/>
          <p:cNvSpPr/>
          <p:nvPr/>
        </p:nvSpPr>
        <p:spPr>
          <a:xfrm>
            <a:off x="548640" y="3566160"/>
            <a:ext cx="544068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Empate entre modelos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3891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Ganó la logística por la regla, no por una ventaja clara.</a:t>
            </a:r>
            <a:endParaRPr lang="en-US" sz="1600" dirty="0"/>
          </a:p>
        </p:txBody>
      </p:sp>
      <p:sp>
        <p:nvSpPr>
          <p:cNvPr id="12" name="lim3"/>
          <p:cNvSpPr/>
          <p:nvPr/>
        </p:nvSpPr>
        <p:spPr>
          <a:xfrm>
            <a:off x="6172200" y="3566160"/>
            <a:ext cx="544068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Faltan datos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3891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Para separar DERMASON de SIRA probablemente haría falta color o textura.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Con 16 medidas basta para un F1 de 0.93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Un modelo lineal simple rinde igual que KNN y el random forest.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Los errores se concentran en variedades que también se parecen en las medidas.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Gracias · ¿Preguntas?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ijol">
  <a:themeElements>
    <a:clrScheme name="Frijol">
      <a:dk1>
        <a:srgbClr val="2B1F17"/>
      </a:dk1>
      <a:lt1>
        <a:srgbClr val="FFFFFF"/>
      </a:lt1>
      <a:dk2>
        <a:srgbClr val="4A3426"/>
      </a:dk2>
      <a:lt2>
        <a:srgbClr val="F1EEE8"/>
      </a:lt2>
      <a:accent1>
        <a:srgbClr val="7A9E7E"/>
      </a:accent1>
      <a:accent2>
        <a:srgbClr val="A2452F"/>
      </a:accent2>
      <a:accent3>
        <a:srgbClr val="C9B38A"/>
      </a:accent3>
      <a:accent4>
        <a:srgbClr val="4A3426"/>
      </a:accent4>
      <a:accent5>
        <a:srgbClr val="8C8C8C"/>
      </a:accent5>
      <a:accent6>
        <a:srgbClr val="D9D2C3"/>
      </a:accent6>
      <a:hlink>
        <a:srgbClr val="A2452F"/>
      </a:hlink>
      <a:folHlink>
        <a:srgbClr val="4A3426"/>
      </a:folHlink>
    </a:clrScheme>
    <a:fontScheme name="Frijo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Clasificación de variedades de frijol</dc:title>
  <dc:subject>PptxGenJS Presentation</dc:subject>
  <dc:creator>Rodrigo Ramírez y Denis Rodríguez</dc:creator>
  <cp:lastModifiedBy>Rodrigo Ramírez y Denis Rodríguez</cp:lastModifiedBy>
  <cp:revision>1</cp:revision>
  <dcterms:created xsi:type="dcterms:W3CDTF">2026-10-26T01:39:21Z</dcterms:created>
  <dcterms:modified xsi:type="dcterms:W3CDTF">2026-10-26T01:39:21Z</dcterms:modified>
</cp:coreProperties>
</file>