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6.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7C53FA7B-E406-E706-8BC8-D308D353CDA6}">
          <p14:sldIdLst>
            <p14:sldId id="256"/>
            <p14:sldId id="257"/>
          </p14:sldIdLst>
        </p14:section>
        <p14:section name="Datos" id="{C2D62FDE-8E80-7B7A-B3EA-F212C6694BB1}">
          <p14:sldIdLst>
            <p14:sldId id="258"/>
            <p14:sldId id="259"/>
            <p14:sldId id="260"/>
          </p14:sldIdLst>
        </p14:section>
        <p14:section name="Método" id="{F929F9FC-F850-B1DD-EAD9-9088CAB8521D}">
          <p14:sldIdLst>
            <p14:sldId id="261"/>
            <p14:sldId id="262"/>
          </p14:sldIdLst>
        </p14:section>
        <p14:section name="Modelos" id="{0EADC0DE-1E17-8AC7-C9CE-FBFFC81945DA}">
          <p14:sldIdLst>
            <p14:sldId id="263"/>
            <p14:sldId id="264"/>
            <p14:sldId id="265"/>
            <p14:sldId id="266"/>
            <p14:sldId id="267"/>
          </p14:sldIdLst>
        </p14:section>
        <p14:section name="Resultados" id="{E0A313EB-C099-C8B0-C155-C8C123C85D8E}">
          <p14:sldIdLst>
            <p14:sldId id="268"/>
            <p14:sldId id="269"/>
            <p14:sldId id="270"/>
            <p14:sldId id="271"/>
            <p14:sldId id="272"/>
          </p14:sldIdLst>
        </p14:section>
        <p14:section name="Cierre" id="{98BBD655-EE93-2134-7DD2-9427497D30E7}">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4A3428"/>
                </a:solidFill>
                <a:latin typeface="+mn-lt"/>
              </a:defRPr>
            </a:pPr>
            <a:r>
              <a:rPr lang="es-ES" sz="1400" b="0" i="0" u="none" strike="noStrike">
                <a:solidFill>
                  <a:srgbClr val="4A3428"/>
                </a:solidFill>
                <a:latin typeface="+mn-lt"/>
              </a:rPr>
              <a:t>Semillas por variedad en entrenamiento</a:t>
            </a:r>
          </a:p>
        </c:rich>
      </c:tx>
      <c:overlay val="0"/>
    </c:title>
    <c:autoTitleDeleted val="0"/>
    <c:plotArea>
      <c:layout/>
      <c:barChart>
        <c:barDir val="col"/>
        <c:grouping val="clustered"/>
        <c:varyColors val="0"/>
        <c:ser>
          <c:idx val="0"/>
          <c:order val="0"/>
          <c:tx>
            <c:strRef>
              <c:f>Sheet1!$B$1</c:f>
              <c:strCache>
                <c:ptCount val="1"/>
                <c:pt idx="0">
                  <c:v>Semillas</c:v>
                </c:pt>
              </c:strCache>
            </c:strRef>
          </c:tx>
          <c:spPr>
            <a:solidFill>
              <a:srgbClr val="5B8C5A"/>
            </a:solidFill>
            <a:effectLst/>
          </c:spPr>
          <c:invertIfNegative val="0"/>
          <c:dPt>
            <c:idx val="0"/>
            <c:invertIfNegative val="0"/>
            <c:bubble3D val="0"/>
            <c:extLst>
              <c:ext xmlns:c16="http://schemas.microsoft.com/office/drawing/2014/chart" uri="{C3380CC4-5D6E-409C-BE32-E72D297353CC}">
                <c16:uniqueId val="{00000001-E222-4159-BFCE-132D376E28EF}"/>
              </c:ext>
            </c:extLst>
          </c:dPt>
          <c:dPt>
            <c:idx val="1"/>
            <c:invertIfNegative val="0"/>
            <c:bubble3D val="0"/>
            <c:extLst>
              <c:ext xmlns:c16="http://schemas.microsoft.com/office/drawing/2014/chart" uri="{C3380CC4-5D6E-409C-BE32-E72D297353CC}">
                <c16:uniqueId val="{00000003-E222-4159-BFCE-132D376E28EF}"/>
              </c:ext>
            </c:extLst>
          </c:dPt>
          <c:dPt>
            <c:idx val="2"/>
            <c:invertIfNegative val="0"/>
            <c:bubble3D val="0"/>
            <c:extLst>
              <c:ext xmlns:c16="http://schemas.microsoft.com/office/drawing/2014/chart" uri="{C3380CC4-5D6E-409C-BE32-E72D297353CC}">
                <c16:uniqueId val="{00000005-E222-4159-BFCE-132D376E28EF}"/>
              </c:ext>
            </c:extLst>
          </c:dPt>
          <c:dPt>
            <c:idx val="3"/>
            <c:invertIfNegative val="0"/>
            <c:bubble3D val="0"/>
            <c:extLst>
              <c:ext xmlns:c16="http://schemas.microsoft.com/office/drawing/2014/chart" uri="{C3380CC4-5D6E-409C-BE32-E72D297353CC}">
                <c16:uniqueId val="{00000007-E222-4159-BFCE-132D376E28EF}"/>
              </c:ext>
            </c:extLst>
          </c:dPt>
          <c:dPt>
            <c:idx val="4"/>
            <c:invertIfNegative val="0"/>
            <c:bubble3D val="0"/>
            <c:extLst>
              <c:ext xmlns:c16="http://schemas.microsoft.com/office/drawing/2014/chart" uri="{C3380CC4-5D6E-409C-BE32-E72D297353CC}">
                <c16:uniqueId val="{00000009-E222-4159-BFCE-132D376E28EF}"/>
              </c:ext>
            </c:extLst>
          </c:dPt>
          <c:dPt>
            <c:idx val="5"/>
            <c:invertIfNegative val="0"/>
            <c:bubble3D val="0"/>
            <c:extLst>
              <c:ext xmlns:c16="http://schemas.microsoft.com/office/drawing/2014/chart" uri="{C3380CC4-5D6E-409C-BE32-E72D297353CC}">
                <c16:uniqueId val="{0000000B-E222-4159-BFCE-132D376E28EF}"/>
              </c:ext>
            </c:extLst>
          </c:dPt>
          <c:dPt>
            <c:idx val="6"/>
            <c:invertIfNegative val="0"/>
            <c:bubble3D val="0"/>
            <c:spPr>
              <a:solidFill>
                <a:srgbClr val="C0532F"/>
              </a:solidFill>
              <a:effectLst/>
            </c:spPr>
            <c:extLst>
              <c:ext xmlns:c16="http://schemas.microsoft.com/office/drawing/2014/chart" uri="{C3380CC4-5D6E-409C-BE32-E72D297353CC}">
                <c16:uniqueId val="{0000000D-E222-4159-BFCE-132D376E28EF}"/>
              </c:ext>
            </c:extLst>
          </c:dPt>
          <c:dLbls>
            <c:numFmt formatCode="#,##0" sourceLinked="0"/>
            <c:spPr>
              <a:noFill/>
              <a:ln>
                <a:noFill/>
              </a:ln>
              <a:effectLst/>
            </c:spPr>
            <c:txPr>
              <a:bodyPr/>
              <a:lstStyle/>
              <a:p>
                <a:pPr>
                  <a:defRPr sz="1200" b="0" i="0" u="none" strike="noStrike">
                    <a:solidFill>
                      <a:srgbClr val="2B1D14"/>
                    </a:solidFill>
                    <a:latin typeface="+mn-lt"/>
                  </a:defRPr>
                </a:pPr>
                <a:endParaRPr lang="es-G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DERMASON</c:v>
                </c:pt>
                <c:pt idx="1">
                  <c:v>SIRA</c:v>
                </c:pt>
                <c:pt idx="2">
                  <c:v>SEKER</c:v>
                </c:pt>
                <c:pt idx="3">
                  <c:v>HOROZ</c:v>
                </c:pt>
                <c:pt idx="4">
                  <c:v>CALI</c:v>
                </c:pt>
                <c:pt idx="5">
                  <c:v>BARBUNYA</c:v>
                </c:pt>
                <c:pt idx="6">
                  <c:v>BOMBAY</c:v>
                </c:pt>
              </c:strCache>
            </c:strRef>
          </c:cat>
          <c:val>
            <c:numRef>
              <c:f>Sheet1!$B$2:$B$8</c:f>
              <c:numCache>
                <c:formatCode>General</c:formatCode>
                <c:ptCount val="7"/>
                <c:pt idx="0">
                  <c:v>2837</c:v>
                </c:pt>
                <c:pt idx="1">
                  <c:v>2109</c:v>
                </c:pt>
                <c:pt idx="2">
                  <c:v>1621</c:v>
                </c:pt>
                <c:pt idx="3">
                  <c:v>1488</c:v>
                </c:pt>
                <c:pt idx="4">
                  <c:v>1304</c:v>
                </c:pt>
                <c:pt idx="5">
                  <c:v>1057</c:v>
                </c:pt>
                <c:pt idx="6">
                  <c:v>418</c:v>
                </c:pt>
              </c:numCache>
            </c:numRef>
          </c:val>
          <c:extLst>
            <c:ext xmlns:c16="http://schemas.microsoft.com/office/drawing/2014/chart" uri="{C3380CC4-5D6E-409C-BE32-E72D297353CC}">
              <c16:uniqueId val="{0000000E-E222-4159-BFCE-132D376E28E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3428"/>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6DED4"/>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5D52"/>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4A3428"/>
                </a:solidFill>
                <a:latin typeface="+mn-lt"/>
              </a:defRPr>
            </a:pPr>
            <a:r>
              <a:rPr lang="es-GT" sz="1400" b="0" i="0" u="none" strike="noStrike">
                <a:solidFill>
                  <a:srgbClr val="4A3428"/>
                </a:solidFill>
                <a:latin typeface="+mn-lt"/>
              </a:rPr>
              <a:t>F1 macro en validación</a:t>
            </a:r>
          </a:p>
        </c:rich>
      </c:tx>
      <c:overlay val="0"/>
    </c:title>
    <c:autoTitleDeleted val="0"/>
    <c:plotArea>
      <c:layout/>
      <c:barChart>
        <c:barDir val="col"/>
        <c:grouping val="clustered"/>
        <c:varyColors val="0"/>
        <c:ser>
          <c:idx val="0"/>
          <c:order val="0"/>
          <c:tx>
            <c:strRef>
              <c:f>Sheet1!$B$1</c:f>
              <c:strCache>
                <c:ptCount val="1"/>
                <c:pt idx="0">
                  <c:v>F1 macro</c:v>
                </c:pt>
              </c:strCache>
            </c:strRef>
          </c:tx>
          <c:spPr>
            <a:solidFill>
              <a:srgbClr val="9A9A9A"/>
            </a:solidFill>
            <a:effectLst/>
          </c:spPr>
          <c:invertIfNegative val="0"/>
          <c:dPt>
            <c:idx val="0"/>
            <c:invertIfNegative val="0"/>
            <c:bubble3D val="0"/>
            <c:extLst>
              <c:ext xmlns:c16="http://schemas.microsoft.com/office/drawing/2014/chart" uri="{C3380CC4-5D6E-409C-BE32-E72D297353CC}">
                <c16:uniqueId val="{00000001-D9FA-4D41-8EA4-73473589E975}"/>
              </c:ext>
            </c:extLst>
          </c:dPt>
          <c:dPt>
            <c:idx val="1"/>
            <c:invertIfNegative val="0"/>
            <c:bubble3D val="0"/>
            <c:spPr>
              <a:solidFill>
                <a:srgbClr val="5B8C5A"/>
              </a:solidFill>
              <a:effectLst/>
            </c:spPr>
            <c:extLst>
              <c:ext xmlns:c16="http://schemas.microsoft.com/office/drawing/2014/chart" uri="{C3380CC4-5D6E-409C-BE32-E72D297353CC}">
                <c16:uniqueId val="{00000003-D9FA-4D41-8EA4-73473589E975}"/>
              </c:ext>
            </c:extLst>
          </c:dPt>
          <c:dLbls>
            <c:numFmt formatCode="0.000" sourceLinked="0"/>
            <c:spPr>
              <a:noFill/>
              <a:ln>
                <a:noFill/>
              </a:ln>
              <a:effectLst/>
            </c:spPr>
            <c:txPr>
              <a:bodyPr/>
              <a:lstStyle/>
              <a:p>
                <a:pPr>
                  <a:defRPr sz="1200" b="0" i="0" u="none" strike="noStrike">
                    <a:solidFill>
                      <a:srgbClr val="2B1D14"/>
                    </a:solidFill>
                    <a:latin typeface="+mn-lt"/>
                  </a:defRPr>
                </a:pPr>
                <a:endParaRPr lang="es-G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Baseline trivial</c:v>
                </c:pt>
                <c:pt idx="1">
                  <c:v>Regresión logística (baseline simple)</c:v>
                </c:pt>
              </c:strCache>
            </c:strRef>
          </c:cat>
          <c:val>
            <c:numRef>
              <c:f>Sheet1!$B$2:$B$3</c:f>
              <c:numCache>
                <c:formatCode>General</c:formatCode>
                <c:ptCount val="2"/>
                <c:pt idx="0">
                  <c:v>5.8999999999999997E-2</c:v>
                </c:pt>
                <c:pt idx="1">
                  <c:v>0.93799999999999994</c:v>
                </c:pt>
              </c:numCache>
            </c:numRef>
          </c:val>
          <c:extLst>
            <c:ext xmlns:c16="http://schemas.microsoft.com/office/drawing/2014/chart" uri="{C3380CC4-5D6E-409C-BE32-E72D297353CC}">
              <c16:uniqueId val="{00000004-D9FA-4D41-8EA4-73473589E97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3428"/>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E6DED4"/>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5D52"/>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4A3428"/>
                </a:solidFill>
                <a:latin typeface="+mn-lt"/>
              </a:defRPr>
            </a:pPr>
            <a:r>
              <a:rPr lang="es-ES" sz="1400" b="0" i="0" u="none" strike="noStrike">
                <a:solidFill>
                  <a:srgbClr val="4A3428"/>
                </a:solidFill>
                <a:latin typeface="+mn-lt"/>
              </a:rPr>
              <a:t>F1 macro promedio (eje desde 0.90)</a:t>
            </a:r>
          </a:p>
        </c:rich>
      </c:tx>
      <c:overlay val="0"/>
    </c:title>
    <c:autoTitleDeleted val="0"/>
    <c:plotArea>
      <c:layout/>
      <c:barChart>
        <c:barDir val="bar"/>
        <c:grouping val="clustered"/>
        <c:varyColors val="0"/>
        <c:ser>
          <c:idx val="0"/>
          <c:order val="0"/>
          <c:tx>
            <c:strRef>
              <c:f>Sheet1!$B$1</c:f>
              <c:strCache>
                <c:ptCount val="1"/>
                <c:pt idx="0">
                  <c:v>F1 macro</c:v>
                </c:pt>
              </c:strCache>
            </c:strRef>
          </c:tx>
          <c:spPr>
            <a:solidFill>
              <a:srgbClr val="5B8C5A"/>
            </a:solidFill>
            <a:effectLst/>
          </c:spPr>
          <c:invertIfNegative val="0"/>
          <c:dPt>
            <c:idx val="0"/>
            <c:invertIfNegative val="0"/>
            <c:bubble3D val="0"/>
            <c:extLst>
              <c:ext xmlns:c16="http://schemas.microsoft.com/office/drawing/2014/chart" uri="{C3380CC4-5D6E-409C-BE32-E72D297353CC}">
                <c16:uniqueId val="{00000001-48D1-4072-B74D-558DA360DCAF}"/>
              </c:ext>
            </c:extLst>
          </c:dPt>
          <c:dPt>
            <c:idx val="1"/>
            <c:invertIfNegative val="0"/>
            <c:bubble3D val="0"/>
            <c:extLst>
              <c:ext xmlns:c16="http://schemas.microsoft.com/office/drawing/2014/chart" uri="{C3380CC4-5D6E-409C-BE32-E72D297353CC}">
                <c16:uniqueId val="{00000003-48D1-4072-B74D-558DA360DCAF}"/>
              </c:ext>
            </c:extLst>
          </c:dPt>
          <c:dPt>
            <c:idx val="2"/>
            <c:invertIfNegative val="0"/>
            <c:bubble3D val="0"/>
            <c:extLst>
              <c:ext xmlns:c16="http://schemas.microsoft.com/office/drawing/2014/chart" uri="{C3380CC4-5D6E-409C-BE32-E72D297353CC}">
                <c16:uniqueId val="{00000005-48D1-4072-B74D-558DA360DCAF}"/>
              </c:ext>
            </c:extLst>
          </c:dPt>
          <c:dPt>
            <c:idx val="3"/>
            <c:invertIfNegative val="0"/>
            <c:bubble3D val="0"/>
            <c:spPr>
              <a:solidFill>
                <a:srgbClr val="9A9A9A"/>
              </a:solidFill>
              <a:effectLst/>
            </c:spPr>
            <c:extLst>
              <c:ext xmlns:c16="http://schemas.microsoft.com/office/drawing/2014/chart" uri="{C3380CC4-5D6E-409C-BE32-E72D297353CC}">
                <c16:uniqueId val="{00000007-48D1-4072-B74D-558DA360DCAF}"/>
              </c:ext>
            </c:extLst>
          </c:dPt>
          <c:dLbls>
            <c:numFmt formatCode="0.0000" sourceLinked="0"/>
            <c:spPr>
              <a:noFill/>
              <a:ln>
                <a:noFill/>
              </a:ln>
              <a:effectLst/>
            </c:spPr>
            <c:txPr>
              <a:bodyPr/>
              <a:lstStyle/>
              <a:p>
                <a:pPr>
                  <a:defRPr sz="1200" b="0" i="0" u="none" strike="noStrike">
                    <a:solidFill>
                      <a:srgbClr val="2B1D14"/>
                    </a:solidFill>
                    <a:latin typeface="+mn-lt"/>
                  </a:defRPr>
                </a:pPr>
                <a:endParaRPr lang="es-G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KNN</c:v>
                </c:pt>
                <c:pt idx="1">
                  <c:v>Regresión logística</c:v>
                </c:pt>
                <c:pt idx="2">
                  <c:v>Random forest</c:v>
                </c:pt>
                <c:pt idx="3">
                  <c:v>Árbol</c:v>
                </c:pt>
              </c:strCache>
            </c:strRef>
          </c:cat>
          <c:val>
            <c:numRef>
              <c:f>Sheet1!$B$2:$B$5</c:f>
              <c:numCache>
                <c:formatCode>General</c:formatCode>
                <c:ptCount val="4"/>
                <c:pt idx="0">
                  <c:v>0.93859999999999999</c:v>
                </c:pt>
                <c:pt idx="1">
                  <c:v>0.9375</c:v>
                </c:pt>
                <c:pt idx="2">
                  <c:v>0.9365</c:v>
                </c:pt>
                <c:pt idx="3">
                  <c:v>0.92379999999999995</c:v>
                </c:pt>
              </c:numCache>
            </c:numRef>
          </c:val>
          <c:extLst>
            <c:ext xmlns:c16="http://schemas.microsoft.com/office/drawing/2014/chart" uri="{C3380CC4-5D6E-409C-BE32-E72D297353CC}">
              <c16:uniqueId val="{00000008-48D1-4072-B74D-558DA360DCAF}"/>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3428"/>
                </a:solidFill>
                <a:latin typeface="+mn-lt"/>
              </a:defRPr>
            </a:pPr>
            <a:endParaRPr lang="en-US"/>
          </a:p>
        </c:txPr>
        <c:crossAx val="2094734552"/>
        <c:crosses val="autoZero"/>
        <c:auto val="1"/>
        <c:lblAlgn val="ctr"/>
        <c:lblOffset val="100"/>
        <c:noMultiLvlLbl val="1"/>
      </c:catAx>
      <c:valAx>
        <c:axId val="2094734552"/>
        <c:scaling>
          <c:orientation val="minMax"/>
          <c:max val="0.95"/>
          <c:min val="0.9"/>
        </c:scaling>
        <c:delete val="0"/>
        <c:axPos val="t"/>
        <c:majorGridlines>
          <c:spPr>
            <a:ln w="9525" cap="flat">
              <a:solidFill>
                <a:srgbClr val="E6DED4"/>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E5D52"/>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4A3428"/>
                </a:solidFill>
                <a:latin typeface="+mn-lt"/>
              </a:defRPr>
            </a:pPr>
            <a:r>
              <a:rPr lang="es-ES" sz="1400" b="0" i="0" u="none" strike="noStrike">
                <a:solidFill>
                  <a:srgbClr val="4A3428"/>
                </a:solidFill>
                <a:latin typeface="+mn-lt"/>
              </a:rPr>
              <a:t>Árbol: F1 macro según la profundidad máxima</a:t>
            </a:r>
          </a:p>
        </c:rich>
      </c:tx>
      <c:overlay val="0"/>
    </c:title>
    <c:autoTitleDeleted val="0"/>
    <c:plotArea>
      <c:layout/>
      <c:lineChart>
        <c:grouping val="standard"/>
        <c:varyColors val="0"/>
        <c:ser>
          <c:idx val="0"/>
          <c:order val="0"/>
          <c:tx>
            <c:strRef>
              <c:f>Sheet1!$B$1</c:f>
              <c:strCache>
                <c:ptCount val="1"/>
                <c:pt idx="0">
                  <c:v>Entrenamiento</c:v>
                </c:pt>
              </c:strCache>
            </c:strRef>
          </c:tx>
          <c:spPr>
            <a:ln w="38100" cap="flat">
              <a:solidFill>
                <a:srgbClr val="C0532F"/>
              </a:solidFill>
              <a:prstDash val="solid"/>
              <a:round/>
            </a:ln>
            <a:effectLst/>
          </c:spPr>
          <c:marker>
            <c:symbol val="circle"/>
            <c:size val="8"/>
            <c:spPr>
              <a:solidFill>
                <a:srgbClr val="C0532F"/>
              </a:solidFill>
              <a:ln w="9525" cap="flat">
                <a:solidFill>
                  <a:srgbClr val="C0532F"/>
                </a:solidFill>
                <a:prstDash val="solid"/>
                <a:round/>
              </a:ln>
              <a:effectLst/>
            </c:spPr>
          </c:marker>
          <c:cat>
            <c:strRef>
              <c:f>Sheet1!$A$2:$A$8</c:f>
              <c:strCache>
                <c:ptCount val="7"/>
                <c:pt idx="0">
                  <c:v>4</c:v>
                </c:pt>
                <c:pt idx="1">
                  <c:v>6</c:v>
                </c:pt>
                <c:pt idx="2">
                  <c:v>8</c:v>
                </c:pt>
                <c:pt idx="3">
                  <c:v>10</c:v>
                </c:pt>
                <c:pt idx="4">
                  <c:v>12</c:v>
                </c:pt>
                <c:pt idx="5">
                  <c:v>15</c:v>
                </c:pt>
                <c:pt idx="6">
                  <c:v>Sin límite</c:v>
                </c:pt>
              </c:strCache>
            </c:strRef>
          </c:cat>
          <c:val>
            <c:numRef>
              <c:f>Sheet1!$B$2:$B$8</c:f>
              <c:numCache>
                <c:formatCode>General</c:formatCode>
                <c:ptCount val="7"/>
                <c:pt idx="0">
                  <c:v>0.879</c:v>
                </c:pt>
                <c:pt idx="1">
                  <c:v>0.92500000000000004</c:v>
                </c:pt>
                <c:pt idx="2">
                  <c:v>0.94799999999999995</c:v>
                </c:pt>
                <c:pt idx="3">
                  <c:v>0.95899999999999996</c:v>
                </c:pt>
                <c:pt idx="4">
                  <c:v>0.96499999999999997</c:v>
                </c:pt>
                <c:pt idx="5">
                  <c:v>0.96699999999999997</c:v>
                </c:pt>
                <c:pt idx="6">
                  <c:v>0.96799999999999997</c:v>
                </c:pt>
              </c:numCache>
            </c:numRef>
          </c:val>
          <c:smooth val="0"/>
          <c:extLst>
            <c:ext xmlns:c16="http://schemas.microsoft.com/office/drawing/2014/chart" uri="{C3380CC4-5D6E-409C-BE32-E72D297353CC}">
              <c16:uniqueId val="{00000000-B6F0-4142-AA5F-65E350CDCE50}"/>
            </c:ext>
          </c:extLst>
        </c:ser>
        <c:ser>
          <c:idx val="1"/>
          <c:order val="1"/>
          <c:tx>
            <c:strRef>
              <c:f>Sheet1!$C$1</c:f>
              <c:strCache>
                <c:ptCount val="1"/>
                <c:pt idx="0">
                  <c:v>Validación</c:v>
                </c:pt>
              </c:strCache>
            </c:strRef>
          </c:tx>
          <c:spPr>
            <a:ln w="38100" cap="flat">
              <a:solidFill>
                <a:srgbClr val="5B8C5A"/>
              </a:solidFill>
              <a:prstDash val="solid"/>
              <a:round/>
            </a:ln>
            <a:effectLst/>
          </c:spPr>
          <c:marker>
            <c:symbol val="circle"/>
            <c:size val="8"/>
            <c:spPr>
              <a:solidFill>
                <a:srgbClr val="5B8C5A"/>
              </a:solidFill>
              <a:ln w="9525" cap="flat">
                <a:solidFill>
                  <a:srgbClr val="5B8C5A"/>
                </a:solidFill>
                <a:prstDash val="solid"/>
                <a:round/>
              </a:ln>
              <a:effectLst/>
            </c:spPr>
          </c:marker>
          <c:cat>
            <c:strRef>
              <c:f>Sheet1!$A$2:$A$8</c:f>
              <c:strCache>
                <c:ptCount val="7"/>
                <c:pt idx="0">
                  <c:v>4</c:v>
                </c:pt>
                <c:pt idx="1">
                  <c:v>6</c:v>
                </c:pt>
                <c:pt idx="2">
                  <c:v>8</c:v>
                </c:pt>
                <c:pt idx="3">
                  <c:v>10</c:v>
                </c:pt>
                <c:pt idx="4">
                  <c:v>12</c:v>
                </c:pt>
                <c:pt idx="5">
                  <c:v>15</c:v>
                </c:pt>
                <c:pt idx="6">
                  <c:v>Sin límite</c:v>
                </c:pt>
              </c:strCache>
            </c:strRef>
          </c:cat>
          <c:val>
            <c:numRef>
              <c:f>Sheet1!$C$2:$C$8</c:f>
              <c:numCache>
                <c:formatCode>General</c:formatCode>
                <c:ptCount val="7"/>
                <c:pt idx="0">
                  <c:v>0.874</c:v>
                </c:pt>
                <c:pt idx="1">
                  <c:v>0.91100000000000003</c:v>
                </c:pt>
                <c:pt idx="2">
                  <c:v>0.92300000000000004</c:v>
                </c:pt>
                <c:pt idx="3">
                  <c:v>0.92400000000000004</c:v>
                </c:pt>
                <c:pt idx="4">
                  <c:v>0.92300000000000004</c:v>
                </c:pt>
                <c:pt idx="5">
                  <c:v>0.92200000000000004</c:v>
                </c:pt>
                <c:pt idx="6">
                  <c:v>0.92300000000000004</c:v>
                </c:pt>
              </c:numCache>
            </c:numRef>
          </c:val>
          <c:smooth val="0"/>
          <c:extLst>
            <c:ext xmlns:c16="http://schemas.microsoft.com/office/drawing/2014/chart" uri="{C3380CC4-5D6E-409C-BE32-E72D297353CC}">
              <c16:uniqueId val="{00000001-B6F0-4142-AA5F-65E350CDCE5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6E5D52"/>
                    </a:solidFill>
                    <a:latin typeface="+mn-lt"/>
                  </a:defRPr>
                </a:pPr>
                <a:r>
                  <a:rPr lang="es-GT" sz="1200" b="0" i="0" u="none" strike="noStrike">
                    <a:solidFill>
                      <a:srgbClr val="6E5D52"/>
                    </a:solidFill>
                    <a:latin typeface="+mn-lt"/>
                  </a:rPr>
                  <a:t>Profundidad máxima</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3428"/>
                </a:solidFill>
                <a:latin typeface="+mn-lt"/>
              </a:defRPr>
            </a:pPr>
            <a:endParaRPr lang="en-US"/>
          </a:p>
        </c:txPr>
        <c:crossAx val="2094734552"/>
        <c:crosses val="autoZero"/>
        <c:auto val="1"/>
        <c:lblAlgn val="ctr"/>
        <c:lblOffset val="100"/>
        <c:noMultiLvlLbl val="1"/>
      </c:catAx>
      <c:valAx>
        <c:axId val="2094734552"/>
        <c:scaling>
          <c:orientation val="minMax"/>
          <c:max val="0.98"/>
          <c:min val="0.86"/>
        </c:scaling>
        <c:delete val="0"/>
        <c:axPos val="l"/>
        <c:majorGridlines>
          <c:spPr>
            <a:ln w="9525" cap="flat">
              <a:solidFill>
                <a:srgbClr val="E6DED4"/>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5D5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A342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4A3428"/>
                </a:solidFill>
                <a:latin typeface="+mn-lt"/>
              </a:defRPr>
            </a:pPr>
            <a:r>
              <a:rPr sz="1400" b="0" i="0" u="none" strike="noStrike">
                <a:solidFill>
                  <a:srgbClr val="4A3428"/>
                </a:solidFill>
                <a:latin typeface="+mn-lt"/>
              </a:rPr>
              <a:t>F1 por variedad en test · 2,709 semillas (eje desde 0.80)</a:t>
            </a:r>
          </a:p>
        </c:rich>
      </c:tx>
      <c:overlay val="0"/>
    </c:title>
    <c:autoTitleDeleted val="0"/>
    <c:plotArea>
      <c:layout/>
      <c:barChart>
        <c:barDir val="bar"/>
        <c:grouping val="clustered"/>
        <c:varyColors val="0"/>
        <c:ser>
          <c:idx val="0"/>
          <c:order val="0"/>
          <c:tx>
            <c:strRef>
              <c:f>Sheet1!$B$1</c:f>
              <c:strCache>
                <c:ptCount val="1"/>
                <c:pt idx="0">
                  <c:v>F1</c:v>
                </c:pt>
              </c:strCache>
            </c:strRef>
          </c:tx>
          <c:spPr>
            <a:solidFill>
              <a:srgbClr val="5B8C5A"/>
            </a:solidFill>
            <a:effectLst/>
          </c:spPr>
          <c:invertIfNegative val="0"/>
          <c:dPt>
            <c:idx val="0"/>
            <c:invertIfNegative val="0"/>
            <c:bubble3D val="0"/>
            <c:extLst>
              <c:ext xmlns:c16="http://schemas.microsoft.com/office/drawing/2014/chart" uri="{C3380CC4-5D6E-409C-BE32-E72D297353CC}">
                <c16:uniqueId val="{00000001-ABDE-496B-8A84-8BA4AEE75FF7}"/>
              </c:ext>
            </c:extLst>
          </c:dPt>
          <c:dPt>
            <c:idx val="1"/>
            <c:invertIfNegative val="0"/>
            <c:bubble3D val="0"/>
            <c:extLst>
              <c:ext xmlns:c16="http://schemas.microsoft.com/office/drawing/2014/chart" uri="{C3380CC4-5D6E-409C-BE32-E72D297353CC}">
                <c16:uniqueId val="{00000003-ABDE-496B-8A84-8BA4AEE75FF7}"/>
              </c:ext>
            </c:extLst>
          </c:dPt>
          <c:dPt>
            <c:idx val="2"/>
            <c:invertIfNegative val="0"/>
            <c:bubble3D val="0"/>
            <c:extLst>
              <c:ext xmlns:c16="http://schemas.microsoft.com/office/drawing/2014/chart" uri="{C3380CC4-5D6E-409C-BE32-E72D297353CC}">
                <c16:uniqueId val="{00000005-ABDE-496B-8A84-8BA4AEE75FF7}"/>
              </c:ext>
            </c:extLst>
          </c:dPt>
          <c:dPt>
            <c:idx val="3"/>
            <c:invertIfNegative val="0"/>
            <c:bubble3D val="0"/>
            <c:extLst>
              <c:ext xmlns:c16="http://schemas.microsoft.com/office/drawing/2014/chart" uri="{C3380CC4-5D6E-409C-BE32-E72D297353CC}">
                <c16:uniqueId val="{00000007-ABDE-496B-8A84-8BA4AEE75FF7}"/>
              </c:ext>
            </c:extLst>
          </c:dPt>
          <c:dPt>
            <c:idx val="4"/>
            <c:invertIfNegative val="0"/>
            <c:bubble3D val="0"/>
            <c:extLst>
              <c:ext xmlns:c16="http://schemas.microsoft.com/office/drawing/2014/chart" uri="{C3380CC4-5D6E-409C-BE32-E72D297353CC}">
                <c16:uniqueId val="{00000009-ABDE-496B-8A84-8BA4AEE75FF7}"/>
              </c:ext>
            </c:extLst>
          </c:dPt>
          <c:dPt>
            <c:idx val="5"/>
            <c:invertIfNegative val="0"/>
            <c:bubble3D val="0"/>
            <c:extLst>
              <c:ext xmlns:c16="http://schemas.microsoft.com/office/drawing/2014/chart" uri="{C3380CC4-5D6E-409C-BE32-E72D297353CC}">
                <c16:uniqueId val="{0000000B-ABDE-496B-8A84-8BA4AEE75FF7}"/>
              </c:ext>
            </c:extLst>
          </c:dPt>
          <c:dPt>
            <c:idx val="6"/>
            <c:invertIfNegative val="0"/>
            <c:bubble3D val="0"/>
            <c:spPr>
              <a:solidFill>
                <a:srgbClr val="C0532F"/>
              </a:solidFill>
              <a:effectLst/>
            </c:spPr>
            <c:extLst>
              <c:ext xmlns:c16="http://schemas.microsoft.com/office/drawing/2014/chart" uri="{C3380CC4-5D6E-409C-BE32-E72D297353CC}">
                <c16:uniqueId val="{0000000D-ABDE-496B-8A84-8BA4AEE75FF7}"/>
              </c:ext>
            </c:extLst>
          </c:dPt>
          <c:dLbls>
            <c:numFmt formatCode="0.000" sourceLinked="0"/>
            <c:spPr>
              <a:noFill/>
              <a:ln>
                <a:noFill/>
              </a:ln>
              <a:effectLst/>
            </c:spPr>
            <c:txPr>
              <a:bodyPr/>
              <a:lstStyle/>
              <a:p>
                <a:pPr>
                  <a:defRPr sz="1200" b="0" i="0" u="none" strike="noStrike">
                    <a:solidFill>
                      <a:srgbClr val="2B1D14"/>
                    </a:solidFill>
                    <a:latin typeface="+mn-lt"/>
                  </a:defRPr>
                </a:pPr>
                <a:endParaRPr lang="es-G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BOMBAY</c:v>
                </c:pt>
                <c:pt idx="1">
                  <c:v>HOROZ</c:v>
                </c:pt>
                <c:pt idx="2">
                  <c:v>SEKER</c:v>
                </c:pt>
                <c:pt idx="3">
                  <c:v>CALI</c:v>
                </c:pt>
                <c:pt idx="4">
                  <c:v>DERMASON</c:v>
                </c:pt>
                <c:pt idx="5">
                  <c:v>BARBUNYA</c:v>
                </c:pt>
                <c:pt idx="6">
                  <c:v>SIRA</c:v>
                </c:pt>
              </c:strCache>
            </c:strRef>
          </c:cat>
          <c:val>
            <c:numRef>
              <c:f>Sheet1!$B$2:$B$8</c:f>
              <c:numCache>
                <c:formatCode>General</c:formatCode>
                <c:ptCount val="7"/>
                <c:pt idx="0">
                  <c:v>0.995</c:v>
                </c:pt>
                <c:pt idx="1">
                  <c:v>0.95499999999999996</c:v>
                </c:pt>
                <c:pt idx="2">
                  <c:v>0.94199999999999995</c:v>
                </c:pt>
                <c:pt idx="3">
                  <c:v>0.92300000000000004</c:v>
                </c:pt>
                <c:pt idx="4">
                  <c:v>0.91700000000000004</c:v>
                </c:pt>
                <c:pt idx="5">
                  <c:v>0.90900000000000003</c:v>
                </c:pt>
                <c:pt idx="6">
                  <c:v>0.874</c:v>
                </c:pt>
              </c:numCache>
            </c:numRef>
          </c:val>
          <c:extLst>
            <c:ext xmlns:c16="http://schemas.microsoft.com/office/drawing/2014/chart" uri="{C3380CC4-5D6E-409C-BE32-E72D297353CC}">
              <c16:uniqueId val="{0000000E-ABDE-496B-8A84-8BA4AEE75FF7}"/>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3428"/>
                </a:solidFill>
                <a:latin typeface="+mn-lt"/>
              </a:defRPr>
            </a:pPr>
            <a:endParaRPr lang="en-US"/>
          </a:p>
        </c:txPr>
        <c:crossAx val="2094734552"/>
        <c:crosses val="autoZero"/>
        <c:auto val="1"/>
        <c:lblAlgn val="ctr"/>
        <c:lblOffset val="100"/>
        <c:noMultiLvlLbl val="1"/>
      </c:catAx>
      <c:valAx>
        <c:axId val="2094734552"/>
        <c:scaling>
          <c:orientation val="minMax"/>
          <c:max val="1"/>
          <c:min val="0.8"/>
        </c:scaling>
        <c:delete val="0"/>
        <c:axPos val="t"/>
        <c:majorGridlines>
          <c:spPr>
            <a:ln w="9525" cap="flat">
              <a:solidFill>
                <a:srgbClr val="E6DED4"/>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E5D52"/>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4A3428"/>
                </a:solidFill>
                <a:latin typeface="+mn-lt"/>
              </a:defRPr>
            </a:pPr>
            <a:r>
              <a:rPr sz="1400" b="0" i="0" u="none" strike="noStrike">
                <a:solidFill>
                  <a:srgbClr val="4A3428"/>
                </a:solidFill>
                <a:latin typeface="+mn-lt"/>
              </a:rPr>
              <a:t>Errores en test por par de variedades (215 en total)</a:t>
            </a:r>
          </a:p>
        </c:rich>
      </c:tx>
      <c:overlay val="0"/>
    </c:title>
    <c:autoTitleDeleted val="0"/>
    <c:plotArea>
      <c:layout/>
      <c:barChart>
        <c:barDir val="bar"/>
        <c:grouping val="clustered"/>
        <c:varyColors val="0"/>
        <c:ser>
          <c:idx val="0"/>
          <c:order val="0"/>
          <c:tx>
            <c:strRef>
              <c:f>Sheet1!$B$1</c:f>
              <c:strCache>
                <c:ptCount val="1"/>
                <c:pt idx="0">
                  <c:v>Errores</c:v>
                </c:pt>
              </c:strCache>
            </c:strRef>
          </c:tx>
          <c:spPr>
            <a:solidFill>
              <a:srgbClr val="C0532F"/>
            </a:solidFill>
            <a:effectLst/>
          </c:spPr>
          <c:invertIfNegative val="0"/>
          <c:dPt>
            <c:idx val="0"/>
            <c:invertIfNegative val="0"/>
            <c:bubble3D val="0"/>
            <c:extLst>
              <c:ext xmlns:c16="http://schemas.microsoft.com/office/drawing/2014/chart" uri="{C3380CC4-5D6E-409C-BE32-E72D297353CC}">
                <c16:uniqueId val="{00000001-22FF-4B17-A0F4-1F73843CF832}"/>
              </c:ext>
            </c:extLst>
          </c:dPt>
          <c:dPt>
            <c:idx val="1"/>
            <c:invertIfNegative val="0"/>
            <c:bubble3D val="0"/>
            <c:spPr>
              <a:solidFill>
                <a:srgbClr val="D9B98A"/>
              </a:solidFill>
              <a:effectLst/>
            </c:spPr>
            <c:extLst>
              <c:ext xmlns:c16="http://schemas.microsoft.com/office/drawing/2014/chart" uri="{C3380CC4-5D6E-409C-BE32-E72D297353CC}">
                <c16:uniqueId val="{00000003-22FF-4B17-A0F4-1F73843CF832}"/>
              </c:ext>
            </c:extLst>
          </c:dPt>
          <c:dPt>
            <c:idx val="2"/>
            <c:invertIfNegative val="0"/>
            <c:bubble3D val="0"/>
            <c:spPr>
              <a:solidFill>
                <a:srgbClr val="D9B98A"/>
              </a:solidFill>
              <a:effectLst/>
            </c:spPr>
            <c:extLst>
              <c:ext xmlns:c16="http://schemas.microsoft.com/office/drawing/2014/chart" uri="{C3380CC4-5D6E-409C-BE32-E72D297353CC}">
                <c16:uniqueId val="{00000005-22FF-4B17-A0F4-1F73843CF832}"/>
              </c:ext>
            </c:extLst>
          </c:dPt>
          <c:dPt>
            <c:idx val="3"/>
            <c:invertIfNegative val="0"/>
            <c:bubble3D val="0"/>
            <c:spPr>
              <a:solidFill>
                <a:srgbClr val="D9B98A"/>
              </a:solidFill>
              <a:effectLst/>
            </c:spPr>
            <c:extLst>
              <c:ext xmlns:c16="http://schemas.microsoft.com/office/drawing/2014/chart" uri="{C3380CC4-5D6E-409C-BE32-E72D297353CC}">
                <c16:uniqueId val="{00000007-22FF-4B17-A0F4-1F73843CF832}"/>
              </c:ext>
            </c:extLst>
          </c:dPt>
          <c:dPt>
            <c:idx val="4"/>
            <c:invertIfNegative val="0"/>
            <c:bubble3D val="0"/>
            <c:spPr>
              <a:solidFill>
                <a:srgbClr val="D9B98A"/>
              </a:solidFill>
              <a:effectLst/>
            </c:spPr>
            <c:extLst>
              <c:ext xmlns:c16="http://schemas.microsoft.com/office/drawing/2014/chart" uri="{C3380CC4-5D6E-409C-BE32-E72D297353CC}">
                <c16:uniqueId val="{00000009-22FF-4B17-A0F4-1F73843CF832}"/>
              </c:ext>
            </c:extLst>
          </c:dPt>
          <c:dPt>
            <c:idx val="5"/>
            <c:invertIfNegative val="0"/>
            <c:bubble3D val="0"/>
            <c:spPr>
              <a:solidFill>
                <a:srgbClr val="BDBDBD"/>
              </a:solidFill>
              <a:effectLst/>
            </c:spPr>
            <c:extLst>
              <c:ext xmlns:c16="http://schemas.microsoft.com/office/drawing/2014/chart" uri="{C3380CC4-5D6E-409C-BE32-E72D297353CC}">
                <c16:uniqueId val="{0000000B-22FF-4B17-A0F4-1F73843CF832}"/>
              </c:ext>
            </c:extLst>
          </c:dPt>
          <c:dLbls>
            <c:numFmt formatCode="#,##0" sourceLinked="0"/>
            <c:spPr>
              <a:noFill/>
              <a:ln>
                <a:noFill/>
              </a:ln>
              <a:effectLst/>
            </c:spPr>
            <c:txPr>
              <a:bodyPr/>
              <a:lstStyle/>
              <a:p>
                <a:pPr>
                  <a:defRPr sz="1200" b="0" i="0" u="none" strike="noStrike">
                    <a:solidFill>
                      <a:srgbClr val="2B1D14"/>
                    </a:solidFill>
                    <a:latin typeface="+mn-lt"/>
                  </a:defRPr>
                </a:pPr>
                <a:endParaRPr lang="es-G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DERMASON ↔ SIRA</c:v>
                </c:pt>
                <c:pt idx="1">
                  <c:v>BARBUNYA ↔ CALI</c:v>
                </c:pt>
                <c:pt idx="2">
                  <c:v>SEKER ↔ SIRA</c:v>
                </c:pt>
                <c:pt idx="3">
                  <c:v>CALI ↔ HOROZ</c:v>
                </c:pt>
                <c:pt idx="4">
                  <c:v>DERMASON ↔ SEKER</c:v>
                </c:pt>
                <c:pt idx="5">
                  <c:v>Resto de pares</c:v>
                </c:pt>
              </c:strCache>
            </c:strRef>
          </c:cat>
          <c:val>
            <c:numRef>
              <c:f>Sheet1!$B$2:$B$7</c:f>
              <c:numCache>
                <c:formatCode>General</c:formatCode>
                <c:ptCount val="6"/>
                <c:pt idx="0">
                  <c:v>95</c:v>
                </c:pt>
                <c:pt idx="1">
                  <c:v>27</c:v>
                </c:pt>
                <c:pt idx="2">
                  <c:v>18</c:v>
                </c:pt>
                <c:pt idx="3">
                  <c:v>17</c:v>
                </c:pt>
                <c:pt idx="4">
                  <c:v>16</c:v>
                </c:pt>
                <c:pt idx="5">
                  <c:v>42</c:v>
                </c:pt>
              </c:numCache>
            </c:numRef>
          </c:val>
          <c:extLst>
            <c:ext xmlns:c16="http://schemas.microsoft.com/office/drawing/2014/chart" uri="{C3380CC4-5D6E-409C-BE32-E72D297353CC}">
              <c16:uniqueId val="{0000000C-22FF-4B17-A0F4-1F73843CF832}"/>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3428"/>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t"/>
        <c:majorGridlines>
          <c:spPr>
            <a:ln w="9525" cap="flat">
              <a:solidFill>
                <a:srgbClr val="E6DED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E5D52"/>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1275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Nuestro proyecto clasifica semillas de frijol en siete variedades usando solo medidas de tamaño y forma. Vamos a contar el problema, los datos, cómo funciona el código, qué modelos comparamos, el resultado final y dónde se equivoca el modelo.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semillas se fotografiaron y de cada foto se calcularon 16 medidas. Nosotros partimos de esas medidas, no de las fotos. El modelo recibe las 16 medidas y devuelve una de las siete variedades. La variable objetivo es Class y la métrica principal es F1 macro; más adelante explicamos por qué.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dataset tiene 13,611 semillas, 7 variedades y 16 medidas. Revisamos la calidad: no hay faltantes ni infinitos, ni valores imposibles. Había 68 filas repetidas exactamente; las quitamos antes de separar para evitar que la misma semilla apareciera en entrenamiento y en test, lo que inflaría el resultado. Separamos 80/20 estratificado con semilla 42. El test no se toca hasta el final.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variedad más común, DERMASON, tiene 6.8 veces más semillas que BOMBAY. Si usáramos solo accuracy, un modelo que ignore las clases pequeñas igual se vería bien. Por eso la métrica principal es F1 macro, que promedia el F1 de cada variedad con el mismo peso, y por eso todas las particiones son estratificadas.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diagramas de caja porque muestran a la vez la mediana, la dispersión y los atípicos de cada variedad. Se ve que BOMBAY es mucho más grande, que SEKER y HOROZ se distinguen por forma, y que DERMASON con SIRA, y BARBUNYA con CALI, se encimen. Desde aquí anticipamos dónde iba a fallar el modelo. Con la regla de 1.5 veces el rango intercuartílico, el 22 % de las filas tiene algún atípico, pero casi todos son BOMBAY reales, no errores; por eso no los eliminamos.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son scripts que se corren en orden. Primero se descargan los datos de UCI y se guarda la huella SHA-256 del archivo; luego se limpian y se separan. Después explorar_datos genera las gráficas solo con entrenamiento. Cada modelo tiene su script, pero todos llaman a la misma función buscar_hiperparametros de validacion.py, que usa GridSearchCV con las mismas 5 particiones estratificadas y F1 macro. Al final se comparan, se elige uno con una regla fija y solo ese se evalúa en test. Además evaluar_test bloquea una segunda evaluación para no usar el test dos veces.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decisión sale del análisis exploratorio. Duplicados: fuera antes de separar. Escalado: solo para regresión logística y KNN, porque usan magnitudes y distancias; va dentro de un Pipeline para que la media y la desviación se aprendan solo con el entrenamiento de cada partición, sin fuga. Atípicos: se quedan porque son reales. Desbalance: estratificación, F1 macro y probamos pesos por clase, que al final no mejoraron.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Implementamos los dos baselines que pide el proyecto. El trivial siempre predice la clase más frecuente, DERMASON: acierta el 26 % pero su F1 macro es 0.059 porque nunca reconoce las otras seis. Esto demuestra por qué accuracy sola engaña. El baseline simple es la regresión logística, que ya llega a 0.938.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cada modelo hicimos una búsqueda en rejilla con GridSearchCV, validación cruzada estratificada de 5 particiones, y elegimos por F1 macro. Probamos 157 combinaciones en total, o sea 785 entrenamientos. En el random forest solo probamos 16 para que corriera en un tiempo razonable. Todo esto se hace solo con entrenamiento; el test no participa.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el eje empieza en 0.90 para que se vean las diferencias, que son pequeñas. KNN tiene el mejor promedio, pero la regresión logística y el random forest están a menos de una desviación estándar, y KNN solo gana en 3 de 5 particiones a la logística. Por eso lo tratamos como empate. El árbol sí es claramente peor: pierde en las 5 particiones.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diagnosticar sobreajuste comparamos el F1 de entrenamiento contra el de validación. En la curva del árbol, a partir de profundidad 8 la línea de entrenamiento sigue subiendo pero la de validación se queda plana: eso es memorizar. La regresión logística casi no tiene brecha, 0.001. El F1 de 1.00 de KNN es engañoso: con pesos por distancia cada semilla de entrenamiento se encuentra a sí misma a distancia cero.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Definimos la regla antes de ver el test: primero el mejor F1 macro; luego consideramos empatados a los que estén a menos de una desviación; entre ellos, el de menor brecha y, si sigue el empate, el más simple. El resultado es la regresión logística con C igual a 10. No decimos que sea estadísticamente superior; es la mejor opción según una regla fijada de antemano.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el modelo elegido se evaluó en test, una sola vez. Obtuvo F1 macro de 0.931 y accuracy de 0.921, muy cerca de validación: bajó apenas 0.0065, así que no hay señales de sobreajuste. Por variedad, BOMBAY es casi perfecta por su tamaño y SIRA es la más difícil, con 0.874. Ojo: el eje empieza en 0.80.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filas son la variedad real y las columnas la que predijo el modelo. La diagonal verde son aciertos: 2,494 de 2,709. Los errores grandes, en rojo, son 53 DERMASON predichas como SIRA y 42 SIRA como DERMASON. También se ven los errores entre BARBUNYA y CALI. Coinciden exactamente con los traslapes que vimos en las cajas al inicio.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los 215 errores, 95 son entre DERMASON y SIRA, el 44 %. Si sumamos BARBUNYA con CALI, dos pares explican el 57 % de todos los errores. El modelo no falla al azar: falla donde las medidas de las variedades se parecen.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Revisamos casos concretos en errores.csv. La fila 7436 es SIRA, pero su área y su proporción de ejes están casi en la mediana de DERMASON, así que el modelo la confunde con 97 % de confianza. La 3872 es una CALI pequeña y redonda que el modelo ve como SEKER con 99.5 %: una probabilidad alta no significa que acierte. La 3374 es el único BOMBAY fallado; es más pequeño y menos sólido de lo normal, quizá por la forma o por cómo se segmentó la foto. Son hipótesis: sin las imágenes no podemos confirmarlas.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limitaciones principales: todas las semillas vienen de un solo estudio, con las mismas condiciones, lo que es un sesgo de recolección. El modelo trabaja en un mundo cerrado de siete variedades. Dependemos de la segmentación original de las fotos. Y para el par más difícil probablemente harían falta otras variables como color o textura. Además, tres modelos quedaron empatados: con otra semilla podría ganar otro.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con solo 16 medidas se logra F1 macro de 0.93 en datos nunca vistos, y un modelo simple basta. Los errores tienen explicación en los datos. Si hay tiempo, mostramos en vivo ver_resultados.py, que junta todas las gráficas y tablas que genera el código. Gracias, ¿preguntas?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lstStyle>
            <a:lvl1pPr marL="0" indent="0">
              <a:buNone/>
              <a:defRPr lang="en-US" sz="4600" b="1" dirty="0">
                <a:solidFill>
                  <a:schemeClr val="bg1"/>
                </a:solidFill>
                <a:latin typeface="Cambria" pitchFamily="34" charset="0"/>
                <a:ea typeface="Cambria" pitchFamily="34" charset="-122"/>
                <a:cs typeface="Cambria" pitchFamily="34" charset="-120"/>
              </a:defRPr>
            </a:lvl1pPr>
          </a:lstStyle>
          <a:p>
            <a:pPr marL="0" indent="0">
              <a:buNone/>
            </a:pPr>
            <a:endParaRPr lang="en-US" sz="4600" dirty="0"/>
          </a:p>
        </p:txBody>
      </p:sp>
      <p:sp>
        <p:nvSpPr>
          <p:cNvPr id="3" name="Text 0"/>
          <p:cNvSpPr>
            <a:spLocks noGrp="1"/>
          </p:cNvSpPr>
          <p:nvPr>
            <p:ph type="body" idx="101" hasCustomPrompt="1"/>
          </p:nvPr>
        </p:nvSpPr>
        <p:spPr>
          <a:xfrm>
            <a:off x="731520" y="3520440"/>
            <a:ext cx="10698480" cy="128016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buNone/>
              <a:defRPr lang="en-US" sz="3200" b="1" dirty="0">
                <a:solidFill>
                  <a:schemeClr val="tx2"/>
                </a:solidFill>
                <a:latin typeface="Cambria" pitchFamily="34" charset="0"/>
                <a:ea typeface="Cambria" pitchFamily="34" charset="-122"/>
                <a:cs typeface="Cambria" pitchFamily="34" charset="-120"/>
              </a:defRPr>
            </a:lvl1pPr>
          </a:lstStyle>
          <a:p>
            <a:pPr marL="0" indent="0">
              <a:buNone/>
            </a:pPr>
            <a:endParaRPr lang="en-US" sz="3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nchor="b"/>
          <a:lstStyle/>
          <a:p>
            <a:pPr marL="0" indent="0">
              <a:buNone/>
            </a:pPr>
            <a:r>
              <a:rPr lang="en-US" sz="4600" b="1" dirty="0">
                <a:solidFill>
                  <a:schemeClr val="bg1"/>
                </a:solidFill>
                <a:latin typeface="Cambria" pitchFamily="34" charset="0"/>
                <a:ea typeface="Cambria" pitchFamily="34" charset="-122"/>
                <a:cs typeface="Cambria" pitchFamily="34" charset="-120"/>
              </a:rPr>
              <a:t>Clasificación de variedades de frijol</a:t>
            </a:r>
            <a:endParaRPr lang="en-US" sz="4600" dirty="0"/>
          </a:p>
        </p:txBody>
      </p:sp>
      <p:sp>
        <p:nvSpPr>
          <p:cNvPr id="3" name="Text 0"/>
          <p:cNvSpPr>
            <a:spLocks noGrp="1"/>
          </p:cNvSpPr>
          <p:nvPr>
            <p:ph type="body" idx="101" hasCustomPrompt="1"/>
          </p:nvPr>
        </p:nvSpPr>
        <p:spPr>
          <a:xfrm>
            <a:off x="731520" y="3520440"/>
            <a:ext cx="10698480" cy="1280160"/>
          </a:xfrm>
          <a:prstGeom prst="rect">
            <a:avLst/>
          </a:prstGeom>
          <a:noFill/>
          <a:ln/>
        </p:spPr>
        <p:txBody>
          <a:bodyPr wrap="square" rtlCol="0" anchor="t"/>
          <a:lstStyle/>
          <a:p>
            <a:pPr marL="0" indent="0">
              <a:buNone/>
            </a:pPr>
            <a:r>
              <a:rPr lang="en-US" sz="2000" dirty="0">
                <a:solidFill>
                  <a:schemeClr val="bg2"/>
                </a:solidFill>
              </a:rPr>
              <a:t>Siete variedades a partir de 16 medidas de tamaño y forma · Dry Bean (UCI)</a:t>
            </a:r>
            <a:endParaRPr lang="en-US" sz="2000" dirty="0"/>
          </a:p>
          <a:p>
            <a:pPr marL="0" indent="0">
              <a:buNone/>
            </a:pPr>
            <a:r>
              <a:rPr lang="en-US" sz="2000" dirty="0">
                <a:solidFill>
                  <a:srgbClr val="D9B98A"/>
                </a:solidFill>
              </a:rPr>
              <a:t>Rodrigo Ramírez y Denis Rodríguez</a:t>
            </a:r>
            <a:endParaRPr lang="en-US" sz="2000" dirty="0"/>
          </a:p>
        </p:txBody>
      </p:sp>
      <p:sp>
        <p:nvSpPr>
          <p:cNvPr id="4" name="icono semilla círculo"/>
          <p:cNvSpPr/>
          <p:nvPr/>
        </p:nvSpPr>
        <p:spPr>
          <a:xfrm>
            <a:off x="731520" y="822960"/>
            <a:ext cx="1005840" cy="1005840"/>
          </a:xfrm>
          <a:prstGeom prst="ellipse">
            <a:avLst/>
          </a:prstGeom>
          <a:solidFill>
            <a:schemeClr val="accent1"/>
          </a:solidFill>
          <a:ln/>
        </p:spPr>
        <p:txBody>
          <a:bodyPr/>
          <a:lstStyle/>
          <a:p>
            <a:endParaRPr lang="es-GT"/>
          </a:p>
        </p:txBody>
      </p:sp>
      <p:pic>
        <p:nvPicPr>
          <p:cNvPr id="5" name="icono semilla" descr="preencoded.png"/>
          <p:cNvPicPr>
            <a:picLocks noChangeAspect="1"/>
          </p:cNvPicPr>
          <p:nvPr/>
        </p:nvPicPr>
        <p:blipFill>
          <a:blip r:embed="rId3"/>
          <a:stretch>
            <a:fillRect/>
          </a:stretch>
        </p:blipFill>
        <p:spPr>
          <a:xfrm>
            <a:off x="982980" y="1074420"/>
            <a:ext cx="502920"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El problema: reconocer la variedad de una semilla</a:t>
            </a:r>
            <a:endParaRPr lang="en-US" sz="3200" dirty="0"/>
          </a:p>
        </p:txBody>
      </p:sp>
      <p:sp>
        <p:nvSpPr>
          <p:cNvPr id="3" name="paso 1 círculo"/>
          <p:cNvSpPr/>
          <p:nvPr/>
        </p:nvSpPr>
        <p:spPr>
          <a:xfrm>
            <a:off x="1325880" y="1463040"/>
            <a:ext cx="1188720" cy="1188720"/>
          </a:xfrm>
          <a:prstGeom prst="ellipse">
            <a:avLst/>
          </a:prstGeom>
          <a:solidFill>
            <a:schemeClr val="accent1"/>
          </a:solidFill>
          <a:ln/>
        </p:spPr>
        <p:txBody>
          <a:bodyPr/>
          <a:lstStyle/>
          <a:p>
            <a:endParaRPr lang="es-GT"/>
          </a:p>
        </p:txBody>
      </p:sp>
      <p:pic>
        <p:nvPicPr>
          <p:cNvPr id="4" name="paso 1" descr="preencoded.png"/>
          <p:cNvPicPr>
            <a:picLocks noChangeAspect="1"/>
          </p:cNvPicPr>
          <p:nvPr/>
        </p:nvPicPr>
        <p:blipFill>
          <a:blip r:embed="rId3"/>
          <a:stretch>
            <a:fillRect/>
          </a:stretch>
        </p:blipFill>
        <p:spPr>
          <a:xfrm>
            <a:off x="1623060" y="1760220"/>
            <a:ext cx="594360" cy="594360"/>
          </a:xfrm>
          <a:prstGeom prst="rect">
            <a:avLst/>
          </a:prstGeom>
        </p:spPr>
      </p:pic>
      <p:sp>
        <p:nvSpPr>
          <p:cNvPr id="5" name="Text 2"/>
          <p:cNvSpPr txBox="1"/>
          <p:nvPr/>
        </p:nvSpPr>
        <p:spPr>
          <a:xfrm>
            <a:off x="822960" y="2788920"/>
            <a:ext cx="2194560" cy="411480"/>
          </a:xfrm>
          <a:prstGeom prst="rect">
            <a:avLst/>
          </a:prstGeom>
          <a:noFill/>
          <a:ln/>
        </p:spPr>
        <p:txBody>
          <a:bodyPr wrap="square" lIns="0" tIns="0" rIns="0" bIns="0" rtlCol="0" anchor="t"/>
          <a:lstStyle/>
          <a:p>
            <a:pPr marL="0" indent="0" algn="ctr">
              <a:buNone/>
            </a:pPr>
            <a:r>
              <a:rPr lang="en-US" sz="1800" b="1" dirty="0">
                <a:solidFill>
                  <a:schemeClr val="tx2"/>
                </a:solidFill>
              </a:rPr>
              <a:t>Foto de la semilla</a:t>
            </a:r>
            <a:endParaRPr lang="en-US" sz="1800" dirty="0"/>
          </a:p>
        </p:txBody>
      </p:sp>
      <p:sp>
        <p:nvSpPr>
          <p:cNvPr id="6" name="Text 3"/>
          <p:cNvSpPr txBox="1"/>
          <p:nvPr/>
        </p:nvSpPr>
        <p:spPr>
          <a:xfrm>
            <a:off x="822960" y="3200400"/>
            <a:ext cx="2194560" cy="548640"/>
          </a:xfrm>
          <a:prstGeom prst="rect">
            <a:avLst/>
          </a:prstGeom>
          <a:noFill/>
          <a:ln/>
        </p:spPr>
        <p:txBody>
          <a:bodyPr wrap="square" lIns="0" tIns="0" rIns="0" bIns="0" rtlCol="0" anchor="t"/>
          <a:lstStyle/>
          <a:p>
            <a:pPr marL="0" indent="0" algn="ctr">
              <a:buNone/>
            </a:pPr>
            <a:r>
              <a:rPr lang="en-US" sz="1400" dirty="0">
                <a:solidFill>
                  <a:srgbClr val="6E5D52"/>
                </a:solidFill>
              </a:rPr>
              <a:t>Imagen tomada en el estudio original</a:t>
            </a:r>
            <a:endParaRPr lang="en-US" sz="1400" dirty="0"/>
          </a:p>
        </p:txBody>
      </p:sp>
      <p:sp>
        <p:nvSpPr>
          <p:cNvPr id="7" name="flecha 1"/>
          <p:cNvSpPr/>
          <p:nvPr/>
        </p:nvSpPr>
        <p:spPr>
          <a:xfrm>
            <a:off x="2788920" y="1874520"/>
            <a:ext cx="640080" cy="365760"/>
          </a:xfrm>
          <a:prstGeom prst="rightArrow">
            <a:avLst/>
          </a:prstGeom>
          <a:solidFill>
            <a:srgbClr val="D9B98A"/>
          </a:solidFill>
          <a:ln/>
        </p:spPr>
        <p:txBody>
          <a:bodyPr/>
          <a:lstStyle/>
          <a:p>
            <a:endParaRPr lang="es-GT"/>
          </a:p>
        </p:txBody>
      </p:sp>
      <p:sp>
        <p:nvSpPr>
          <p:cNvPr id="8" name="paso 2 círculo"/>
          <p:cNvSpPr/>
          <p:nvPr/>
        </p:nvSpPr>
        <p:spPr>
          <a:xfrm>
            <a:off x="4160520" y="1463040"/>
            <a:ext cx="1188720" cy="1188720"/>
          </a:xfrm>
          <a:prstGeom prst="ellipse">
            <a:avLst/>
          </a:prstGeom>
          <a:solidFill>
            <a:schemeClr val="accent1"/>
          </a:solidFill>
          <a:ln/>
        </p:spPr>
        <p:txBody>
          <a:bodyPr/>
          <a:lstStyle/>
          <a:p>
            <a:endParaRPr lang="es-GT"/>
          </a:p>
        </p:txBody>
      </p:sp>
      <p:pic>
        <p:nvPicPr>
          <p:cNvPr id="9" name="paso 2" descr="preencoded.png"/>
          <p:cNvPicPr>
            <a:picLocks noChangeAspect="1"/>
          </p:cNvPicPr>
          <p:nvPr/>
        </p:nvPicPr>
        <p:blipFill>
          <a:blip r:embed="rId4"/>
          <a:stretch>
            <a:fillRect/>
          </a:stretch>
        </p:blipFill>
        <p:spPr>
          <a:xfrm>
            <a:off x="4457700" y="1760220"/>
            <a:ext cx="594360" cy="594360"/>
          </a:xfrm>
          <a:prstGeom prst="rect">
            <a:avLst/>
          </a:prstGeom>
        </p:spPr>
      </p:pic>
      <p:sp>
        <p:nvSpPr>
          <p:cNvPr id="10" name="Text 6"/>
          <p:cNvSpPr txBox="1"/>
          <p:nvPr/>
        </p:nvSpPr>
        <p:spPr>
          <a:xfrm>
            <a:off x="3657600" y="2788920"/>
            <a:ext cx="2194560" cy="411480"/>
          </a:xfrm>
          <a:prstGeom prst="rect">
            <a:avLst/>
          </a:prstGeom>
          <a:noFill/>
          <a:ln/>
        </p:spPr>
        <p:txBody>
          <a:bodyPr wrap="square" lIns="0" tIns="0" rIns="0" bIns="0" rtlCol="0" anchor="t"/>
          <a:lstStyle/>
          <a:p>
            <a:pPr marL="0" indent="0" algn="ctr">
              <a:buNone/>
            </a:pPr>
            <a:r>
              <a:rPr lang="en-US" sz="1800" b="1" dirty="0">
                <a:solidFill>
                  <a:schemeClr val="tx2"/>
                </a:solidFill>
              </a:rPr>
              <a:t>16 medidas</a:t>
            </a:r>
            <a:endParaRPr lang="en-US" sz="1800" dirty="0"/>
          </a:p>
        </p:txBody>
      </p:sp>
      <p:sp>
        <p:nvSpPr>
          <p:cNvPr id="11" name="Text 7"/>
          <p:cNvSpPr txBox="1"/>
          <p:nvPr/>
        </p:nvSpPr>
        <p:spPr>
          <a:xfrm>
            <a:off x="3657600" y="3200400"/>
            <a:ext cx="2194560" cy="548640"/>
          </a:xfrm>
          <a:prstGeom prst="rect">
            <a:avLst/>
          </a:prstGeom>
          <a:noFill/>
          <a:ln/>
        </p:spPr>
        <p:txBody>
          <a:bodyPr wrap="square" lIns="0" tIns="0" rIns="0" bIns="0" rtlCol="0" anchor="t"/>
          <a:lstStyle/>
          <a:p>
            <a:pPr marL="0" indent="0" algn="ctr">
              <a:buNone/>
            </a:pPr>
            <a:r>
              <a:rPr lang="en-US" sz="1400" dirty="0">
                <a:solidFill>
                  <a:srgbClr val="6E5D52"/>
                </a:solidFill>
              </a:rPr>
              <a:t>Área, perímetro, ejes, redondez…</a:t>
            </a:r>
            <a:endParaRPr lang="en-US" sz="1400" dirty="0"/>
          </a:p>
        </p:txBody>
      </p:sp>
      <p:sp>
        <p:nvSpPr>
          <p:cNvPr id="12" name="flecha 2"/>
          <p:cNvSpPr/>
          <p:nvPr/>
        </p:nvSpPr>
        <p:spPr>
          <a:xfrm>
            <a:off x="5623560" y="1874520"/>
            <a:ext cx="640080" cy="365760"/>
          </a:xfrm>
          <a:prstGeom prst="rightArrow">
            <a:avLst/>
          </a:prstGeom>
          <a:solidFill>
            <a:srgbClr val="D9B98A"/>
          </a:solidFill>
          <a:ln/>
        </p:spPr>
        <p:txBody>
          <a:bodyPr/>
          <a:lstStyle/>
          <a:p>
            <a:endParaRPr lang="es-GT"/>
          </a:p>
        </p:txBody>
      </p:sp>
      <p:sp>
        <p:nvSpPr>
          <p:cNvPr id="13" name="paso 3 círculo"/>
          <p:cNvSpPr/>
          <p:nvPr/>
        </p:nvSpPr>
        <p:spPr>
          <a:xfrm>
            <a:off x="6995160" y="1463040"/>
            <a:ext cx="1188720" cy="1188720"/>
          </a:xfrm>
          <a:prstGeom prst="ellipse">
            <a:avLst/>
          </a:prstGeom>
          <a:solidFill>
            <a:schemeClr val="accent1"/>
          </a:solidFill>
          <a:ln/>
        </p:spPr>
        <p:txBody>
          <a:bodyPr/>
          <a:lstStyle/>
          <a:p>
            <a:endParaRPr lang="es-GT"/>
          </a:p>
        </p:txBody>
      </p:sp>
      <p:pic>
        <p:nvPicPr>
          <p:cNvPr id="14" name="paso 3" descr="preencoded.png"/>
          <p:cNvPicPr>
            <a:picLocks noChangeAspect="1"/>
          </p:cNvPicPr>
          <p:nvPr/>
        </p:nvPicPr>
        <p:blipFill>
          <a:blip r:embed="rId5"/>
          <a:stretch>
            <a:fillRect/>
          </a:stretch>
        </p:blipFill>
        <p:spPr>
          <a:xfrm>
            <a:off x="7292340" y="1760220"/>
            <a:ext cx="594360" cy="594360"/>
          </a:xfrm>
          <a:prstGeom prst="rect">
            <a:avLst/>
          </a:prstGeom>
        </p:spPr>
      </p:pic>
      <p:sp>
        <p:nvSpPr>
          <p:cNvPr id="15" name="Text 10"/>
          <p:cNvSpPr txBox="1"/>
          <p:nvPr/>
        </p:nvSpPr>
        <p:spPr>
          <a:xfrm>
            <a:off x="6492240" y="2788920"/>
            <a:ext cx="2194560" cy="411480"/>
          </a:xfrm>
          <a:prstGeom prst="rect">
            <a:avLst/>
          </a:prstGeom>
          <a:noFill/>
          <a:ln/>
        </p:spPr>
        <p:txBody>
          <a:bodyPr wrap="square" lIns="0" tIns="0" rIns="0" bIns="0" rtlCol="0" anchor="t"/>
          <a:lstStyle/>
          <a:p>
            <a:pPr marL="0" indent="0" algn="ctr">
              <a:buNone/>
            </a:pPr>
            <a:r>
              <a:rPr lang="en-US" sz="1800" b="1" dirty="0">
                <a:solidFill>
                  <a:schemeClr val="tx2"/>
                </a:solidFill>
              </a:rPr>
              <a:t>Modelo</a:t>
            </a:r>
            <a:endParaRPr lang="en-US" sz="1800" dirty="0"/>
          </a:p>
        </p:txBody>
      </p:sp>
      <p:sp>
        <p:nvSpPr>
          <p:cNvPr id="16" name="Text 11"/>
          <p:cNvSpPr txBox="1"/>
          <p:nvPr/>
        </p:nvSpPr>
        <p:spPr>
          <a:xfrm>
            <a:off x="6492240" y="3200400"/>
            <a:ext cx="2194560" cy="548640"/>
          </a:xfrm>
          <a:prstGeom prst="rect">
            <a:avLst/>
          </a:prstGeom>
          <a:noFill/>
          <a:ln/>
        </p:spPr>
        <p:txBody>
          <a:bodyPr wrap="square" lIns="0" tIns="0" rIns="0" bIns="0" rtlCol="0" anchor="t"/>
          <a:lstStyle/>
          <a:p>
            <a:pPr marL="0" indent="0" algn="ctr">
              <a:buNone/>
            </a:pPr>
            <a:r>
              <a:rPr lang="en-US" sz="1400" dirty="0">
                <a:solidFill>
                  <a:srgbClr val="6E5D52"/>
                </a:solidFill>
              </a:rPr>
              <a:t>Aprendizaje supervisado</a:t>
            </a:r>
            <a:endParaRPr lang="en-US" sz="1400" dirty="0"/>
          </a:p>
        </p:txBody>
      </p:sp>
      <p:sp>
        <p:nvSpPr>
          <p:cNvPr id="17" name="flecha 3"/>
          <p:cNvSpPr/>
          <p:nvPr/>
        </p:nvSpPr>
        <p:spPr>
          <a:xfrm>
            <a:off x="8458200" y="1874520"/>
            <a:ext cx="640080" cy="365760"/>
          </a:xfrm>
          <a:prstGeom prst="rightArrow">
            <a:avLst/>
          </a:prstGeom>
          <a:solidFill>
            <a:srgbClr val="D9B98A"/>
          </a:solidFill>
          <a:ln/>
        </p:spPr>
        <p:txBody>
          <a:bodyPr/>
          <a:lstStyle/>
          <a:p>
            <a:endParaRPr lang="es-GT"/>
          </a:p>
        </p:txBody>
      </p:sp>
      <p:sp>
        <p:nvSpPr>
          <p:cNvPr id="18" name="paso 4 círculo"/>
          <p:cNvSpPr/>
          <p:nvPr/>
        </p:nvSpPr>
        <p:spPr>
          <a:xfrm>
            <a:off x="9829800" y="1463040"/>
            <a:ext cx="1188720" cy="1188720"/>
          </a:xfrm>
          <a:prstGeom prst="ellipse">
            <a:avLst/>
          </a:prstGeom>
          <a:solidFill>
            <a:schemeClr val="accent2"/>
          </a:solidFill>
          <a:ln/>
        </p:spPr>
        <p:txBody>
          <a:bodyPr/>
          <a:lstStyle/>
          <a:p>
            <a:endParaRPr lang="es-GT"/>
          </a:p>
        </p:txBody>
      </p:sp>
      <p:pic>
        <p:nvPicPr>
          <p:cNvPr id="19" name="paso 4" descr="preencoded.png"/>
          <p:cNvPicPr>
            <a:picLocks noChangeAspect="1"/>
          </p:cNvPicPr>
          <p:nvPr/>
        </p:nvPicPr>
        <p:blipFill>
          <a:blip r:embed="rId6"/>
          <a:stretch>
            <a:fillRect/>
          </a:stretch>
        </p:blipFill>
        <p:spPr>
          <a:xfrm>
            <a:off x="10126980" y="1760220"/>
            <a:ext cx="594360" cy="594360"/>
          </a:xfrm>
          <a:prstGeom prst="rect">
            <a:avLst/>
          </a:prstGeom>
        </p:spPr>
      </p:pic>
      <p:sp>
        <p:nvSpPr>
          <p:cNvPr id="20" name="Text 14"/>
          <p:cNvSpPr txBox="1"/>
          <p:nvPr/>
        </p:nvSpPr>
        <p:spPr>
          <a:xfrm>
            <a:off x="9326880" y="2788920"/>
            <a:ext cx="2194560" cy="411480"/>
          </a:xfrm>
          <a:prstGeom prst="rect">
            <a:avLst/>
          </a:prstGeom>
          <a:noFill/>
          <a:ln/>
        </p:spPr>
        <p:txBody>
          <a:bodyPr wrap="square" lIns="0" tIns="0" rIns="0" bIns="0" rtlCol="0" anchor="t"/>
          <a:lstStyle/>
          <a:p>
            <a:pPr marL="0" indent="0" algn="ctr">
              <a:buNone/>
            </a:pPr>
            <a:r>
              <a:rPr lang="en-US" sz="1800" b="1" dirty="0">
                <a:solidFill>
                  <a:schemeClr val="tx2"/>
                </a:solidFill>
              </a:rPr>
              <a:t>Variedad</a:t>
            </a:r>
            <a:endParaRPr lang="en-US" sz="1800" dirty="0"/>
          </a:p>
        </p:txBody>
      </p:sp>
      <p:sp>
        <p:nvSpPr>
          <p:cNvPr id="21" name="Text 15"/>
          <p:cNvSpPr txBox="1"/>
          <p:nvPr/>
        </p:nvSpPr>
        <p:spPr>
          <a:xfrm>
            <a:off x="9326880" y="3200400"/>
            <a:ext cx="2194560" cy="548640"/>
          </a:xfrm>
          <a:prstGeom prst="rect">
            <a:avLst/>
          </a:prstGeom>
          <a:noFill/>
          <a:ln/>
        </p:spPr>
        <p:txBody>
          <a:bodyPr wrap="square" lIns="0" tIns="0" rIns="0" bIns="0" rtlCol="0" anchor="t"/>
          <a:lstStyle/>
          <a:p>
            <a:pPr marL="0" indent="0" algn="ctr">
              <a:buNone/>
            </a:pPr>
            <a:r>
              <a:rPr lang="en-US" sz="1400" dirty="0">
                <a:solidFill>
                  <a:srgbClr val="6E5D52"/>
                </a:solidFill>
              </a:rPr>
              <a:t>Una de las 7 clases</a:t>
            </a:r>
            <a:endParaRPr lang="en-US" sz="1400" dirty="0"/>
          </a:p>
        </p:txBody>
      </p:sp>
      <p:sp>
        <p:nvSpPr>
          <p:cNvPr id="22" name="tarjeta por qué"/>
          <p:cNvSpPr/>
          <p:nvPr/>
        </p:nvSpPr>
        <p:spPr>
          <a:xfrm>
            <a:off x="548640" y="4206240"/>
            <a:ext cx="11064240" cy="1828800"/>
          </a:xfrm>
          <a:prstGeom prst="roundRect">
            <a:avLst>
              <a:gd name="adj" fmla="val 6000"/>
            </a:avLst>
          </a:prstGeom>
          <a:solidFill>
            <a:schemeClr val="bg2"/>
          </a:solidFill>
          <a:ln/>
        </p:spPr>
        <p:txBody>
          <a:bodyPr/>
          <a:lstStyle/>
          <a:p>
            <a:endParaRPr lang="es-GT"/>
          </a:p>
        </p:txBody>
      </p:sp>
      <p:sp>
        <p:nvSpPr>
          <p:cNvPr id="23" name="Text 17"/>
          <p:cNvSpPr txBox="1"/>
          <p:nvPr/>
        </p:nvSpPr>
        <p:spPr>
          <a:xfrm>
            <a:off x="822960" y="4389120"/>
            <a:ext cx="5029200" cy="365760"/>
          </a:xfrm>
          <a:prstGeom prst="rect">
            <a:avLst/>
          </a:prstGeom>
          <a:noFill/>
          <a:ln/>
        </p:spPr>
        <p:txBody>
          <a:bodyPr wrap="square" lIns="0" tIns="0" rIns="0" bIns="0" rtlCol="0" anchor="t"/>
          <a:lstStyle/>
          <a:p>
            <a:pPr marL="0" indent="0">
              <a:buNone/>
            </a:pPr>
            <a:r>
              <a:rPr lang="en-US" sz="1800" b="1" dirty="0">
                <a:solidFill>
                  <a:schemeClr val="tx2"/>
                </a:solidFill>
              </a:rPr>
              <a:t>¿Por qué importa?</a:t>
            </a:r>
            <a:endParaRPr lang="en-US" sz="1800" dirty="0"/>
          </a:p>
        </p:txBody>
      </p:sp>
      <p:sp>
        <p:nvSpPr>
          <p:cNvPr id="24" name="Text 18"/>
          <p:cNvSpPr txBox="1"/>
          <p:nvPr/>
        </p:nvSpPr>
        <p:spPr>
          <a:xfrm>
            <a:off x="822960" y="4800600"/>
            <a:ext cx="5120640" cy="1097280"/>
          </a:xfrm>
          <a:prstGeom prst="rect">
            <a:avLst/>
          </a:prstGeom>
          <a:noFill/>
          <a:ln/>
        </p:spPr>
        <p:txBody>
          <a:bodyPr wrap="square" lIns="0" tIns="0" rIns="0" bIns="0" rtlCol="0" anchor="t"/>
          <a:lstStyle/>
          <a:p>
            <a:pPr marL="0" indent="0">
              <a:buNone/>
            </a:pPr>
            <a:r>
              <a:rPr lang="en-US" sz="1400" dirty="0">
                <a:solidFill>
                  <a:schemeClr val="tx1"/>
                </a:solidFill>
              </a:rPr>
              <a:t>Separar semillas por variedad a mano es lento y depende de quién lo haga. Un clasificador automático a partir de medidas permite ordenar lotes de forma rápida y consistente.</a:t>
            </a:r>
            <a:endParaRPr lang="en-US" sz="1400" dirty="0"/>
          </a:p>
        </p:txBody>
      </p:sp>
      <p:sp>
        <p:nvSpPr>
          <p:cNvPr id="25" name="Text 19"/>
          <p:cNvSpPr txBox="1"/>
          <p:nvPr/>
        </p:nvSpPr>
        <p:spPr>
          <a:xfrm>
            <a:off x="6400800" y="4434840"/>
            <a:ext cx="4937760" cy="1463040"/>
          </a:xfrm>
          <a:prstGeom prst="rect">
            <a:avLst/>
          </a:prstGeom>
          <a:noFill/>
          <a:ln/>
        </p:spPr>
        <p:txBody>
          <a:bodyPr wrap="square" lIns="0" tIns="0" rIns="0" bIns="0" rtlCol="0" anchor="ctr"/>
          <a:lstStyle/>
          <a:p>
            <a:pPr marL="0" indent="0">
              <a:spcAft>
                <a:spcPts val="600"/>
              </a:spcAft>
              <a:buNone/>
            </a:pPr>
            <a:r>
              <a:rPr lang="en-US" sz="1600" b="1" dirty="0">
                <a:solidFill>
                  <a:schemeClr val="tx1"/>
                </a:solidFill>
              </a:rPr>
              <a:t>Tarea: </a:t>
            </a:r>
            <a:r>
              <a:rPr lang="en-US" sz="1600" dirty="0">
                <a:solidFill>
                  <a:schemeClr val="tx1"/>
                </a:solidFill>
              </a:rPr>
              <a:t>clasificación supervisada, 7 clases</a:t>
            </a:r>
            <a:endParaRPr lang="en-US" sz="1600" dirty="0"/>
          </a:p>
          <a:p>
            <a:pPr marL="0" indent="0">
              <a:spcAft>
                <a:spcPts val="600"/>
              </a:spcAft>
              <a:buNone/>
            </a:pPr>
            <a:r>
              <a:rPr lang="en-US" sz="1600" b="1" dirty="0">
                <a:solidFill>
                  <a:schemeClr val="tx1"/>
                </a:solidFill>
              </a:rPr>
              <a:t>Variable objetivo: </a:t>
            </a:r>
            <a:r>
              <a:rPr lang="en-US" sz="1600" dirty="0">
                <a:solidFill>
                  <a:schemeClr val="tx1"/>
                </a:solidFill>
              </a:rPr>
              <a:t>Class</a:t>
            </a:r>
            <a:endParaRPr lang="en-US" sz="1600" dirty="0"/>
          </a:p>
          <a:p>
            <a:pPr marL="0" indent="0">
              <a:spcAft>
                <a:spcPts val="600"/>
              </a:spcAft>
              <a:buNone/>
            </a:pPr>
            <a:r>
              <a:rPr lang="en-US" sz="1600" b="1" dirty="0">
                <a:solidFill>
                  <a:schemeClr val="tx1"/>
                </a:solidFill>
              </a:rPr>
              <a:t>Métrica principal: </a:t>
            </a:r>
            <a:r>
              <a:rPr lang="en-US" sz="1600" dirty="0">
                <a:solidFill>
                  <a:schemeClr val="tx1"/>
                </a:solidFill>
              </a:rPr>
              <a:t>F1 macro</a:t>
            </a:r>
            <a:endParaRPr lang="en-US" sz="1600" dirty="0"/>
          </a:p>
        </p:txBody>
      </p:sp>
      <p:sp>
        <p:nvSpPr>
          <p:cNvPr id="26"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Los datos: Dry Bean de UCI</a:t>
            </a:r>
            <a:endParaRPr lang="en-US" sz="3200" dirty="0"/>
          </a:p>
        </p:txBody>
      </p:sp>
      <p:sp>
        <p:nvSpPr>
          <p:cNvPr id="3" name="dato semillas"/>
          <p:cNvSpPr/>
          <p:nvPr/>
        </p:nvSpPr>
        <p:spPr>
          <a:xfrm>
            <a:off x="548640" y="1371600"/>
            <a:ext cx="3474720" cy="1828800"/>
          </a:xfrm>
          <a:prstGeom prst="roundRect">
            <a:avLst>
              <a:gd name="adj" fmla="val 6000"/>
            </a:avLst>
          </a:prstGeom>
          <a:solidFill>
            <a:schemeClr val="bg2"/>
          </a:solidFill>
          <a:ln/>
        </p:spPr>
        <p:txBody>
          <a:bodyPr/>
          <a:lstStyle/>
          <a:p>
            <a:endParaRPr lang="es-GT"/>
          </a:p>
        </p:txBody>
      </p:sp>
      <p:sp>
        <p:nvSpPr>
          <p:cNvPr id="4" name="Text 2"/>
          <p:cNvSpPr txBox="1"/>
          <p:nvPr/>
        </p:nvSpPr>
        <p:spPr>
          <a:xfrm>
            <a:off x="822960" y="1554480"/>
            <a:ext cx="2926080" cy="914400"/>
          </a:xfrm>
          <a:prstGeom prst="rect">
            <a:avLst/>
          </a:prstGeom>
          <a:noFill/>
          <a:ln/>
        </p:spPr>
        <p:txBody>
          <a:bodyPr wrap="square" lIns="0" tIns="0" rIns="0" bIns="0" rtlCol="0" anchor="t"/>
          <a:lstStyle/>
          <a:p>
            <a:pPr marL="0" indent="0">
              <a:buNone/>
            </a:pPr>
            <a:r>
              <a:rPr lang="en-US" sz="5400" b="1" dirty="0">
                <a:solidFill>
                  <a:schemeClr val="accent2"/>
                </a:solidFill>
                <a:latin typeface="Cambria" pitchFamily="34" charset="0"/>
                <a:ea typeface="Cambria" pitchFamily="34" charset="-122"/>
                <a:cs typeface="Cambria" pitchFamily="34" charset="-120"/>
              </a:rPr>
              <a:t>13,611</a:t>
            </a:r>
            <a:endParaRPr lang="en-US" sz="5400" dirty="0"/>
          </a:p>
        </p:txBody>
      </p:sp>
      <p:sp>
        <p:nvSpPr>
          <p:cNvPr id="5" name="Text 3"/>
          <p:cNvSpPr txBox="1"/>
          <p:nvPr/>
        </p:nvSpPr>
        <p:spPr>
          <a:xfrm>
            <a:off x="822960" y="2514600"/>
            <a:ext cx="2926080" cy="457200"/>
          </a:xfrm>
          <a:prstGeom prst="rect">
            <a:avLst/>
          </a:prstGeom>
          <a:noFill/>
          <a:ln/>
        </p:spPr>
        <p:txBody>
          <a:bodyPr wrap="square" lIns="0" tIns="0" rIns="0" bIns="0" rtlCol="0" anchor="t"/>
          <a:lstStyle/>
          <a:p>
            <a:pPr marL="0" indent="0">
              <a:buNone/>
            </a:pPr>
            <a:r>
              <a:rPr lang="en-US" sz="1800" dirty="0">
                <a:solidFill>
                  <a:schemeClr val="tx2"/>
                </a:solidFill>
              </a:rPr>
              <a:t>semillas</a:t>
            </a:r>
            <a:endParaRPr lang="en-US" sz="1800" dirty="0"/>
          </a:p>
        </p:txBody>
      </p:sp>
      <p:sp>
        <p:nvSpPr>
          <p:cNvPr id="6" name="dato variedades"/>
          <p:cNvSpPr/>
          <p:nvPr/>
        </p:nvSpPr>
        <p:spPr>
          <a:xfrm>
            <a:off x="4297680" y="1371600"/>
            <a:ext cx="3474720" cy="1828800"/>
          </a:xfrm>
          <a:prstGeom prst="roundRect">
            <a:avLst>
              <a:gd name="adj" fmla="val 6000"/>
            </a:avLst>
          </a:prstGeom>
          <a:solidFill>
            <a:schemeClr val="bg2"/>
          </a:solidFill>
          <a:ln/>
        </p:spPr>
        <p:txBody>
          <a:bodyPr/>
          <a:lstStyle/>
          <a:p>
            <a:endParaRPr lang="es-GT"/>
          </a:p>
        </p:txBody>
      </p:sp>
      <p:sp>
        <p:nvSpPr>
          <p:cNvPr id="7" name="Text 5"/>
          <p:cNvSpPr txBox="1"/>
          <p:nvPr/>
        </p:nvSpPr>
        <p:spPr>
          <a:xfrm>
            <a:off x="4572000" y="1554480"/>
            <a:ext cx="2926080" cy="914400"/>
          </a:xfrm>
          <a:prstGeom prst="rect">
            <a:avLst/>
          </a:prstGeom>
          <a:noFill/>
          <a:ln/>
        </p:spPr>
        <p:txBody>
          <a:bodyPr wrap="square" lIns="0" tIns="0" rIns="0" bIns="0" rtlCol="0" anchor="t"/>
          <a:lstStyle/>
          <a:p>
            <a:pPr marL="0" indent="0">
              <a:buNone/>
            </a:pPr>
            <a:r>
              <a:rPr lang="en-US" sz="5400" b="1" dirty="0">
                <a:solidFill>
                  <a:schemeClr val="accent2"/>
                </a:solidFill>
                <a:latin typeface="Cambria" pitchFamily="34" charset="0"/>
                <a:ea typeface="Cambria" pitchFamily="34" charset="-122"/>
                <a:cs typeface="Cambria" pitchFamily="34" charset="-120"/>
              </a:rPr>
              <a:t>7</a:t>
            </a:r>
            <a:endParaRPr lang="en-US" sz="5400" dirty="0"/>
          </a:p>
        </p:txBody>
      </p:sp>
      <p:sp>
        <p:nvSpPr>
          <p:cNvPr id="8" name="Text 6"/>
          <p:cNvSpPr txBox="1"/>
          <p:nvPr/>
        </p:nvSpPr>
        <p:spPr>
          <a:xfrm>
            <a:off x="4572000" y="2514600"/>
            <a:ext cx="2926080" cy="457200"/>
          </a:xfrm>
          <a:prstGeom prst="rect">
            <a:avLst/>
          </a:prstGeom>
          <a:noFill/>
          <a:ln/>
        </p:spPr>
        <p:txBody>
          <a:bodyPr wrap="square" lIns="0" tIns="0" rIns="0" bIns="0" rtlCol="0" anchor="t"/>
          <a:lstStyle/>
          <a:p>
            <a:pPr marL="0" indent="0">
              <a:buNone/>
            </a:pPr>
            <a:r>
              <a:rPr lang="en-US" sz="1800" dirty="0">
                <a:solidFill>
                  <a:schemeClr val="tx2"/>
                </a:solidFill>
              </a:rPr>
              <a:t>variedades</a:t>
            </a:r>
            <a:endParaRPr lang="en-US" sz="1800" dirty="0"/>
          </a:p>
        </p:txBody>
      </p:sp>
      <p:sp>
        <p:nvSpPr>
          <p:cNvPr id="9" name="dato medidas numéricas"/>
          <p:cNvSpPr/>
          <p:nvPr/>
        </p:nvSpPr>
        <p:spPr>
          <a:xfrm>
            <a:off x="8046720" y="1371600"/>
            <a:ext cx="3474720" cy="1828800"/>
          </a:xfrm>
          <a:prstGeom prst="roundRect">
            <a:avLst>
              <a:gd name="adj" fmla="val 6000"/>
            </a:avLst>
          </a:prstGeom>
          <a:solidFill>
            <a:schemeClr val="bg2"/>
          </a:solidFill>
          <a:ln/>
        </p:spPr>
        <p:txBody>
          <a:bodyPr/>
          <a:lstStyle/>
          <a:p>
            <a:endParaRPr lang="es-GT"/>
          </a:p>
        </p:txBody>
      </p:sp>
      <p:sp>
        <p:nvSpPr>
          <p:cNvPr id="10" name="Text 8"/>
          <p:cNvSpPr txBox="1"/>
          <p:nvPr/>
        </p:nvSpPr>
        <p:spPr>
          <a:xfrm>
            <a:off x="8321040" y="1554480"/>
            <a:ext cx="2926080" cy="914400"/>
          </a:xfrm>
          <a:prstGeom prst="rect">
            <a:avLst/>
          </a:prstGeom>
          <a:noFill/>
          <a:ln/>
        </p:spPr>
        <p:txBody>
          <a:bodyPr wrap="square" lIns="0" tIns="0" rIns="0" bIns="0" rtlCol="0" anchor="t"/>
          <a:lstStyle/>
          <a:p>
            <a:pPr marL="0" indent="0">
              <a:buNone/>
            </a:pPr>
            <a:r>
              <a:rPr lang="en-US" sz="5400" b="1" dirty="0">
                <a:solidFill>
                  <a:schemeClr val="accent2"/>
                </a:solidFill>
                <a:latin typeface="Cambria" pitchFamily="34" charset="0"/>
                <a:ea typeface="Cambria" pitchFamily="34" charset="-122"/>
                <a:cs typeface="Cambria" pitchFamily="34" charset="-120"/>
              </a:rPr>
              <a:t>16</a:t>
            </a:r>
            <a:endParaRPr lang="en-US" sz="5400" dirty="0"/>
          </a:p>
        </p:txBody>
      </p:sp>
      <p:sp>
        <p:nvSpPr>
          <p:cNvPr id="11" name="Text 9"/>
          <p:cNvSpPr txBox="1"/>
          <p:nvPr/>
        </p:nvSpPr>
        <p:spPr>
          <a:xfrm>
            <a:off x="8321040" y="2514600"/>
            <a:ext cx="2926080" cy="457200"/>
          </a:xfrm>
          <a:prstGeom prst="rect">
            <a:avLst/>
          </a:prstGeom>
          <a:noFill/>
          <a:ln/>
        </p:spPr>
        <p:txBody>
          <a:bodyPr wrap="square" lIns="0" tIns="0" rIns="0" bIns="0" rtlCol="0" anchor="t"/>
          <a:lstStyle/>
          <a:p>
            <a:pPr marL="0" indent="0">
              <a:buNone/>
            </a:pPr>
            <a:r>
              <a:rPr lang="en-US" sz="1800" dirty="0">
                <a:solidFill>
                  <a:schemeClr val="tx2"/>
                </a:solidFill>
              </a:rPr>
              <a:t>medidas numéricas</a:t>
            </a:r>
            <a:endParaRPr lang="en-US" sz="1800" dirty="0"/>
          </a:p>
        </p:txBody>
      </p:sp>
      <p:sp>
        <p:nvSpPr>
          <p:cNvPr id="12" name="icono Sin faltantes ni infinitos círculo"/>
          <p:cNvSpPr/>
          <p:nvPr/>
        </p:nvSpPr>
        <p:spPr>
          <a:xfrm>
            <a:off x="548640" y="3657600"/>
            <a:ext cx="731520" cy="731520"/>
          </a:xfrm>
          <a:prstGeom prst="ellipse">
            <a:avLst/>
          </a:prstGeom>
          <a:solidFill>
            <a:schemeClr val="accent1"/>
          </a:solidFill>
          <a:ln/>
        </p:spPr>
        <p:txBody>
          <a:bodyPr/>
          <a:lstStyle/>
          <a:p>
            <a:endParaRPr lang="es-GT"/>
          </a:p>
        </p:txBody>
      </p:sp>
      <p:pic>
        <p:nvPicPr>
          <p:cNvPr id="13" name="icono Sin faltantes ni infinitos" descr="preencoded.png"/>
          <p:cNvPicPr>
            <a:picLocks noChangeAspect="1"/>
          </p:cNvPicPr>
          <p:nvPr/>
        </p:nvPicPr>
        <p:blipFill>
          <a:blip r:embed="rId3"/>
          <a:stretch>
            <a:fillRect/>
          </a:stretch>
        </p:blipFill>
        <p:spPr>
          <a:xfrm>
            <a:off x="731520" y="3840480"/>
            <a:ext cx="365760" cy="365760"/>
          </a:xfrm>
          <a:prstGeom prst="rect">
            <a:avLst/>
          </a:prstGeom>
        </p:spPr>
      </p:pic>
      <p:sp>
        <p:nvSpPr>
          <p:cNvPr id="14" name="Text 11"/>
          <p:cNvSpPr txBox="1"/>
          <p:nvPr/>
        </p:nvSpPr>
        <p:spPr>
          <a:xfrm>
            <a:off x="1508760" y="3657600"/>
            <a:ext cx="4480560" cy="365760"/>
          </a:xfrm>
          <a:prstGeom prst="rect">
            <a:avLst/>
          </a:prstGeom>
          <a:noFill/>
          <a:ln/>
        </p:spPr>
        <p:txBody>
          <a:bodyPr wrap="square" lIns="0" tIns="0" rIns="0" bIns="0" rtlCol="0" anchor="t"/>
          <a:lstStyle/>
          <a:p>
            <a:pPr marL="0" indent="0">
              <a:buNone/>
            </a:pPr>
            <a:r>
              <a:rPr lang="en-US" sz="1700" b="1" dirty="0">
                <a:solidFill>
                  <a:schemeClr val="tx2"/>
                </a:solidFill>
              </a:rPr>
              <a:t>Sin faltantes ni infinitos</a:t>
            </a:r>
            <a:endParaRPr lang="en-US" sz="1700" dirty="0"/>
          </a:p>
        </p:txBody>
      </p:sp>
      <p:sp>
        <p:nvSpPr>
          <p:cNvPr id="15" name="Text 12"/>
          <p:cNvSpPr txBox="1"/>
          <p:nvPr/>
        </p:nvSpPr>
        <p:spPr>
          <a:xfrm>
            <a:off x="1508760" y="4041648"/>
            <a:ext cx="4480560" cy="685800"/>
          </a:xfrm>
          <a:prstGeom prst="rect">
            <a:avLst/>
          </a:prstGeom>
          <a:noFill/>
          <a:ln/>
        </p:spPr>
        <p:txBody>
          <a:bodyPr wrap="square" lIns="0" tIns="0" rIns="0" bIns="0" rtlCol="0" anchor="t"/>
          <a:lstStyle/>
          <a:p>
            <a:pPr marL="0" indent="0">
              <a:buNone/>
            </a:pPr>
            <a:r>
              <a:rPr lang="en-US" sz="1400" dirty="0">
                <a:solidFill>
                  <a:srgbClr val="6E5D52"/>
                </a:solidFill>
              </a:rPr>
              <a:t>No hizo falta imputar nada</a:t>
            </a:r>
            <a:endParaRPr lang="en-US" sz="1400" dirty="0"/>
          </a:p>
        </p:txBody>
      </p:sp>
      <p:sp>
        <p:nvSpPr>
          <p:cNvPr id="16" name="icono 68 duplicados eliminados círculo"/>
          <p:cNvSpPr/>
          <p:nvPr/>
        </p:nvSpPr>
        <p:spPr>
          <a:xfrm>
            <a:off x="6172200" y="3657600"/>
            <a:ext cx="731520" cy="731520"/>
          </a:xfrm>
          <a:prstGeom prst="ellipse">
            <a:avLst/>
          </a:prstGeom>
          <a:solidFill>
            <a:schemeClr val="accent1"/>
          </a:solidFill>
          <a:ln/>
        </p:spPr>
        <p:txBody>
          <a:bodyPr/>
          <a:lstStyle/>
          <a:p>
            <a:endParaRPr lang="es-GT"/>
          </a:p>
        </p:txBody>
      </p:sp>
      <p:pic>
        <p:nvPicPr>
          <p:cNvPr id="17" name="icono 68 duplicados eliminados" descr="preencoded.png"/>
          <p:cNvPicPr>
            <a:picLocks noChangeAspect="1"/>
          </p:cNvPicPr>
          <p:nvPr/>
        </p:nvPicPr>
        <p:blipFill>
          <a:blip r:embed="rId4"/>
          <a:stretch>
            <a:fillRect/>
          </a:stretch>
        </p:blipFill>
        <p:spPr>
          <a:xfrm>
            <a:off x="6355080" y="3840480"/>
            <a:ext cx="365760" cy="365760"/>
          </a:xfrm>
          <a:prstGeom prst="rect">
            <a:avLst/>
          </a:prstGeom>
        </p:spPr>
      </p:pic>
      <p:sp>
        <p:nvSpPr>
          <p:cNvPr id="18" name="Text 14"/>
          <p:cNvSpPr txBox="1"/>
          <p:nvPr/>
        </p:nvSpPr>
        <p:spPr>
          <a:xfrm>
            <a:off x="7132320" y="3657600"/>
            <a:ext cx="4480560" cy="365760"/>
          </a:xfrm>
          <a:prstGeom prst="rect">
            <a:avLst/>
          </a:prstGeom>
          <a:noFill/>
          <a:ln/>
        </p:spPr>
        <p:txBody>
          <a:bodyPr wrap="square" lIns="0" tIns="0" rIns="0" bIns="0" rtlCol="0" anchor="t"/>
          <a:lstStyle/>
          <a:p>
            <a:pPr marL="0" indent="0">
              <a:buNone/>
            </a:pPr>
            <a:r>
              <a:rPr lang="en-US" sz="1700" b="1" dirty="0">
                <a:solidFill>
                  <a:schemeClr val="tx2"/>
                </a:solidFill>
              </a:rPr>
              <a:t>68 duplicados eliminados</a:t>
            </a:r>
            <a:endParaRPr lang="en-US" sz="1700" dirty="0"/>
          </a:p>
        </p:txBody>
      </p:sp>
      <p:sp>
        <p:nvSpPr>
          <p:cNvPr id="19" name="Text 15"/>
          <p:cNvSpPr txBox="1"/>
          <p:nvPr/>
        </p:nvSpPr>
        <p:spPr>
          <a:xfrm>
            <a:off x="7132320" y="4041648"/>
            <a:ext cx="4480560" cy="685800"/>
          </a:xfrm>
          <a:prstGeom prst="rect">
            <a:avLst/>
          </a:prstGeom>
          <a:noFill/>
          <a:ln/>
        </p:spPr>
        <p:txBody>
          <a:bodyPr wrap="square" lIns="0" tIns="0" rIns="0" bIns="0" rtlCol="0" anchor="t"/>
          <a:lstStyle/>
          <a:p>
            <a:pPr marL="0" indent="0">
              <a:buNone/>
            </a:pPr>
            <a:r>
              <a:rPr lang="en-US" sz="1400" dirty="0">
                <a:solidFill>
                  <a:srgbClr val="6E5D52"/>
                </a:solidFill>
              </a:rPr>
              <a:t>Antes de separar, para que ninguna semilla quede en train y test</a:t>
            </a:r>
            <a:endParaRPr lang="en-US" sz="1400" dirty="0"/>
          </a:p>
        </p:txBody>
      </p:sp>
      <p:sp>
        <p:nvSpPr>
          <p:cNvPr id="20" name="icono Separación 80 / 20 círculo"/>
          <p:cNvSpPr/>
          <p:nvPr/>
        </p:nvSpPr>
        <p:spPr>
          <a:xfrm>
            <a:off x="548640" y="4983480"/>
            <a:ext cx="731520" cy="731520"/>
          </a:xfrm>
          <a:prstGeom prst="ellipse">
            <a:avLst/>
          </a:prstGeom>
          <a:solidFill>
            <a:schemeClr val="accent1"/>
          </a:solidFill>
          <a:ln/>
        </p:spPr>
        <p:txBody>
          <a:bodyPr/>
          <a:lstStyle/>
          <a:p>
            <a:endParaRPr lang="es-GT"/>
          </a:p>
        </p:txBody>
      </p:sp>
      <p:pic>
        <p:nvPicPr>
          <p:cNvPr id="21" name="icono Separación 80 / 20" descr="preencoded.png"/>
          <p:cNvPicPr>
            <a:picLocks noChangeAspect="1"/>
          </p:cNvPicPr>
          <p:nvPr/>
        </p:nvPicPr>
        <p:blipFill>
          <a:blip r:embed="rId5"/>
          <a:stretch>
            <a:fillRect/>
          </a:stretch>
        </p:blipFill>
        <p:spPr>
          <a:xfrm>
            <a:off x="731520" y="5166360"/>
            <a:ext cx="365760" cy="365760"/>
          </a:xfrm>
          <a:prstGeom prst="rect">
            <a:avLst/>
          </a:prstGeom>
        </p:spPr>
      </p:pic>
      <p:sp>
        <p:nvSpPr>
          <p:cNvPr id="22" name="Text 17"/>
          <p:cNvSpPr txBox="1"/>
          <p:nvPr/>
        </p:nvSpPr>
        <p:spPr>
          <a:xfrm>
            <a:off x="1508760" y="4983480"/>
            <a:ext cx="4480560" cy="365760"/>
          </a:xfrm>
          <a:prstGeom prst="rect">
            <a:avLst/>
          </a:prstGeom>
          <a:noFill/>
          <a:ln/>
        </p:spPr>
        <p:txBody>
          <a:bodyPr wrap="square" lIns="0" tIns="0" rIns="0" bIns="0" rtlCol="0" anchor="t"/>
          <a:lstStyle/>
          <a:p>
            <a:pPr marL="0" indent="0">
              <a:buNone/>
            </a:pPr>
            <a:r>
              <a:rPr lang="en-US" sz="1700" b="1" dirty="0">
                <a:solidFill>
                  <a:schemeClr val="tx2"/>
                </a:solidFill>
              </a:rPr>
              <a:t>Separación 80 / 20</a:t>
            </a:r>
            <a:endParaRPr lang="en-US" sz="1700" dirty="0"/>
          </a:p>
        </p:txBody>
      </p:sp>
      <p:sp>
        <p:nvSpPr>
          <p:cNvPr id="23" name="Text 18"/>
          <p:cNvSpPr txBox="1"/>
          <p:nvPr/>
        </p:nvSpPr>
        <p:spPr>
          <a:xfrm>
            <a:off x="1508760" y="5367528"/>
            <a:ext cx="4480560" cy="685800"/>
          </a:xfrm>
          <a:prstGeom prst="rect">
            <a:avLst/>
          </a:prstGeom>
          <a:noFill/>
          <a:ln/>
        </p:spPr>
        <p:txBody>
          <a:bodyPr wrap="square" lIns="0" tIns="0" rIns="0" bIns="0" rtlCol="0" anchor="t"/>
          <a:lstStyle/>
          <a:p>
            <a:pPr marL="0" indent="0">
              <a:buNone/>
            </a:pPr>
            <a:r>
              <a:rPr lang="en-US" sz="1400" dirty="0">
                <a:solidFill>
                  <a:srgbClr val="6E5D52"/>
                </a:solidFill>
              </a:rPr>
              <a:t>Estratificada, semilla 42: 10,834 train y 2,709 test</a:t>
            </a:r>
            <a:endParaRPr lang="en-US" sz="1400" dirty="0"/>
          </a:p>
        </p:txBody>
      </p:sp>
      <p:sp>
        <p:nvSpPr>
          <p:cNvPr id="24" name="icono Origen documentado círculo"/>
          <p:cNvSpPr/>
          <p:nvPr/>
        </p:nvSpPr>
        <p:spPr>
          <a:xfrm>
            <a:off x="6172200" y="4983480"/>
            <a:ext cx="731520" cy="731520"/>
          </a:xfrm>
          <a:prstGeom prst="ellipse">
            <a:avLst/>
          </a:prstGeom>
          <a:solidFill>
            <a:schemeClr val="accent1"/>
          </a:solidFill>
          <a:ln/>
        </p:spPr>
        <p:txBody>
          <a:bodyPr/>
          <a:lstStyle/>
          <a:p>
            <a:endParaRPr lang="es-GT"/>
          </a:p>
        </p:txBody>
      </p:sp>
      <p:pic>
        <p:nvPicPr>
          <p:cNvPr id="25" name="icono Origen documentado" descr="preencoded.png"/>
          <p:cNvPicPr>
            <a:picLocks noChangeAspect="1"/>
          </p:cNvPicPr>
          <p:nvPr/>
        </p:nvPicPr>
        <p:blipFill>
          <a:blip r:embed="rId6"/>
          <a:stretch>
            <a:fillRect/>
          </a:stretch>
        </p:blipFill>
        <p:spPr>
          <a:xfrm>
            <a:off x="6355080" y="5166360"/>
            <a:ext cx="365760" cy="365760"/>
          </a:xfrm>
          <a:prstGeom prst="rect">
            <a:avLst/>
          </a:prstGeom>
        </p:spPr>
      </p:pic>
      <p:sp>
        <p:nvSpPr>
          <p:cNvPr id="26" name="Text 20"/>
          <p:cNvSpPr txBox="1"/>
          <p:nvPr/>
        </p:nvSpPr>
        <p:spPr>
          <a:xfrm>
            <a:off x="7132320" y="4983480"/>
            <a:ext cx="4480560" cy="365760"/>
          </a:xfrm>
          <a:prstGeom prst="rect">
            <a:avLst/>
          </a:prstGeom>
          <a:noFill/>
          <a:ln/>
        </p:spPr>
        <p:txBody>
          <a:bodyPr wrap="square" lIns="0" tIns="0" rIns="0" bIns="0" rtlCol="0" anchor="t"/>
          <a:lstStyle/>
          <a:p>
            <a:pPr marL="0" indent="0">
              <a:buNone/>
            </a:pPr>
            <a:r>
              <a:rPr lang="en-US" sz="1700" b="1" dirty="0">
                <a:solidFill>
                  <a:schemeClr val="tx2"/>
                </a:solidFill>
              </a:rPr>
              <a:t>Origen documentado</a:t>
            </a:r>
            <a:endParaRPr lang="en-US" sz="1700" dirty="0"/>
          </a:p>
        </p:txBody>
      </p:sp>
      <p:sp>
        <p:nvSpPr>
          <p:cNvPr id="27" name="Text 21"/>
          <p:cNvSpPr txBox="1"/>
          <p:nvPr/>
        </p:nvSpPr>
        <p:spPr>
          <a:xfrm>
            <a:off x="7132320" y="5367528"/>
            <a:ext cx="4480560" cy="685800"/>
          </a:xfrm>
          <a:prstGeom prst="rect">
            <a:avLst/>
          </a:prstGeom>
          <a:noFill/>
          <a:ln/>
        </p:spPr>
        <p:txBody>
          <a:bodyPr wrap="square" lIns="0" tIns="0" rIns="0" bIns="0" rtlCol="0" anchor="t"/>
          <a:lstStyle/>
          <a:p>
            <a:pPr marL="0" indent="0">
              <a:buNone/>
            </a:pPr>
            <a:r>
              <a:rPr lang="en-US" sz="1400" dirty="0">
                <a:solidFill>
                  <a:srgbClr val="6E5D52"/>
                </a:solidFill>
              </a:rPr>
              <a:t>UCI 2020 · licencia CC BY 4.0 · DOI 10.24432/C50S4B</a:t>
            </a:r>
            <a:endParaRPr lang="en-US" sz="1400" dirty="0"/>
          </a:p>
        </p:txBody>
      </p:sp>
      <p:sp>
        <p:nvSpPr>
          <p:cNvPr id="2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Las variedades no están balanceadas</a:t>
            </a:r>
            <a:endParaRPr lang="en-US" sz="3200" dirty="0"/>
          </a:p>
        </p:txBody>
      </p:sp>
      <p:graphicFrame>
        <p:nvGraphicFramePr>
          <p:cNvPr id="3" name="gráfica desbalance"/>
          <p:cNvGraphicFramePr/>
          <p:nvPr/>
        </p:nvGraphicFramePr>
        <p:xfrm>
          <a:off x="548640" y="1280160"/>
          <a:ext cx="722376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tarjeta desbalance"/>
          <p:cNvSpPr/>
          <p:nvPr/>
        </p:nvSpPr>
        <p:spPr>
          <a:xfrm>
            <a:off x="8138160" y="1371600"/>
            <a:ext cx="3474720" cy="4754880"/>
          </a:xfrm>
          <a:prstGeom prst="roundRect">
            <a:avLst>
              <a:gd name="adj" fmla="val 3158"/>
            </a:avLst>
          </a:prstGeom>
          <a:solidFill>
            <a:schemeClr val="bg2"/>
          </a:solidFill>
          <a:ln/>
        </p:spPr>
        <p:txBody>
          <a:bodyPr/>
          <a:lstStyle/>
          <a:p>
            <a:endParaRPr lang="es-GT"/>
          </a:p>
        </p:txBody>
      </p:sp>
      <p:sp>
        <p:nvSpPr>
          <p:cNvPr id="5" name="Text 2"/>
          <p:cNvSpPr txBox="1"/>
          <p:nvPr/>
        </p:nvSpPr>
        <p:spPr>
          <a:xfrm>
            <a:off x="8412480" y="1645920"/>
            <a:ext cx="2926080" cy="1005840"/>
          </a:xfrm>
          <a:prstGeom prst="rect">
            <a:avLst/>
          </a:prstGeom>
          <a:noFill/>
          <a:ln/>
        </p:spPr>
        <p:txBody>
          <a:bodyPr wrap="square" lIns="0" tIns="0" rIns="0" bIns="0" rtlCol="0" anchor="t"/>
          <a:lstStyle/>
          <a:p>
            <a:pPr marL="0" indent="0">
              <a:buNone/>
            </a:pPr>
            <a:r>
              <a:rPr lang="en-US" sz="6000" b="1" dirty="0">
                <a:solidFill>
                  <a:schemeClr val="accent2"/>
                </a:solidFill>
                <a:latin typeface="Cambria" pitchFamily="34" charset="0"/>
                <a:ea typeface="Cambria" pitchFamily="34" charset="-122"/>
                <a:cs typeface="Cambria" pitchFamily="34" charset="-120"/>
              </a:rPr>
              <a:t>6.8×</a:t>
            </a:r>
            <a:endParaRPr lang="en-US" sz="6000" dirty="0"/>
          </a:p>
        </p:txBody>
      </p:sp>
      <p:sp>
        <p:nvSpPr>
          <p:cNvPr id="6" name="Text 3"/>
          <p:cNvSpPr txBox="1"/>
          <p:nvPr/>
        </p:nvSpPr>
        <p:spPr>
          <a:xfrm>
            <a:off x="8412480" y="2697480"/>
            <a:ext cx="2926080" cy="731520"/>
          </a:xfrm>
          <a:prstGeom prst="rect">
            <a:avLst/>
          </a:prstGeom>
          <a:noFill/>
          <a:ln/>
        </p:spPr>
        <p:txBody>
          <a:bodyPr wrap="square" lIns="0" tIns="0" rIns="0" bIns="0" rtlCol="0" anchor="t"/>
          <a:lstStyle/>
          <a:p>
            <a:pPr marL="0" indent="0">
              <a:buNone/>
            </a:pPr>
            <a:r>
              <a:rPr lang="en-US" sz="1600" dirty="0">
                <a:solidFill>
                  <a:schemeClr val="tx2"/>
                </a:solidFill>
              </a:rPr>
              <a:t>más semillas de DERMASON que de BOMBAY</a:t>
            </a:r>
            <a:endParaRPr lang="en-US" sz="1600" dirty="0"/>
          </a:p>
        </p:txBody>
      </p:sp>
      <p:sp>
        <p:nvSpPr>
          <p:cNvPr id="7" name="Text 4"/>
          <p:cNvSpPr txBox="1"/>
          <p:nvPr/>
        </p:nvSpPr>
        <p:spPr>
          <a:xfrm>
            <a:off x="8412480" y="3749040"/>
            <a:ext cx="2926080" cy="2103120"/>
          </a:xfrm>
          <a:prstGeom prst="rect">
            <a:avLst/>
          </a:prstGeom>
          <a:noFill/>
          <a:ln/>
        </p:spPr>
        <p:txBody>
          <a:bodyPr wrap="square" lIns="0" tIns="0" rIns="0" bIns="0" rtlCol="0" anchor="t"/>
          <a:lstStyle/>
          <a:p>
            <a:pPr marL="0" indent="0">
              <a:buNone/>
            </a:pPr>
            <a:r>
              <a:rPr lang="en-US" sz="1400" b="1" dirty="0">
                <a:solidFill>
                  <a:schemeClr val="tx2"/>
                </a:solidFill>
              </a:rPr>
              <a:t>Decisión</a:t>
            </a:r>
            <a:endParaRPr lang="en-US" sz="1400" dirty="0"/>
          </a:p>
          <a:p>
            <a:pPr marL="0" indent="0">
              <a:buNone/>
            </a:pPr>
            <a:r>
              <a:rPr lang="en-US" sz="1400" dirty="0">
                <a:solidFill>
                  <a:schemeClr val="tx1"/>
                </a:solidFill>
              </a:rPr>
              <a:t>Usar F1 macro: cada variedad pesa lo mismo, aunque tenga pocas semillas. También estratificamos todas las particiones.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Qué distingue a cada variedad</a:t>
            </a:r>
            <a:endParaRPr lang="en-US" sz="3200" dirty="0"/>
          </a:p>
        </p:txBody>
      </p:sp>
      <p:pic>
        <p:nvPicPr>
          <p:cNvPr id="3" name="cajas de tamaño por variedad" descr="tamanos_por_variedad.png"/>
          <p:cNvPicPr>
            <a:picLocks noChangeAspect="1"/>
          </p:cNvPicPr>
          <p:nvPr/>
        </p:nvPicPr>
        <p:blipFill>
          <a:blip r:embed="rId3"/>
          <a:stretch>
            <a:fillRect/>
          </a:stretch>
        </p:blipFill>
        <p:spPr>
          <a:xfrm>
            <a:off x="548640" y="1280160"/>
            <a:ext cx="6949440" cy="4005072"/>
          </a:xfrm>
          <a:prstGeom prst="rect">
            <a:avLst/>
          </a:prstGeom>
        </p:spPr>
      </p:pic>
      <p:sp>
        <p:nvSpPr>
          <p:cNvPr id="4" name="Text 1"/>
          <p:cNvSpPr txBox="1"/>
          <p:nvPr/>
        </p:nvSpPr>
        <p:spPr>
          <a:xfrm>
            <a:off x="548640" y="5394960"/>
            <a:ext cx="6949440" cy="365760"/>
          </a:xfrm>
          <a:prstGeom prst="rect">
            <a:avLst/>
          </a:prstGeom>
          <a:noFill/>
          <a:ln/>
        </p:spPr>
        <p:txBody>
          <a:bodyPr wrap="square" lIns="0" tIns="0" rIns="0" bIns="0" rtlCol="0" anchor="t"/>
          <a:lstStyle/>
          <a:p>
            <a:pPr marL="0" indent="0">
              <a:buNone/>
            </a:pPr>
            <a:r>
              <a:rPr lang="en-US" sz="1100" i="1" dirty="0">
                <a:solidFill>
                  <a:srgbClr val="6E5D52"/>
                </a:solidFill>
              </a:rPr>
              <a:t>Cajas de las 6 medidas de tamaño, ordenadas de menor a mayor área (solo entrenamiento)</a:t>
            </a:r>
            <a:endParaRPr lang="en-US" sz="1100" dirty="0"/>
          </a:p>
        </p:txBody>
      </p:sp>
      <p:sp>
        <p:nvSpPr>
          <p:cNvPr id="5" name="punto BOMBAY"/>
          <p:cNvSpPr/>
          <p:nvPr/>
        </p:nvSpPr>
        <p:spPr>
          <a:xfrm>
            <a:off x="7863840" y="1444752"/>
            <a:ext cx="256032" cy="256032"/>
          </a:xfrm>
          <a:prstGeom prst="ellipse">
            <a:avLst/>
          </a:prstGeom>
          <a:solidFill>
            <a:srgbClr val="5B8C5A"/>
          </a:solidFill>
          <a:ln/>
        </p:spPr>
        <p:txBody>
          <a:bodyPr/>
          <a:lstStyle/>
          <a:p>
            <a:endParaRPr lang="es-GT"/>
          </a:p>
        </p:txBody>
      </p:sp>
      <p:sp>
        <p:nvSpPr>
          <p:cNvPr id="6" name="Text 3"/>
          <p:cNvSpPr txBox="1"/>
          <p:nvPr/>
        </p:nvSpPr>
        <p:spPr>
          <a:xfrm>
            <a:off x="8275320" y="1371600"/>
            <a:ext cx="3383280" cy="365760"/>
          </a:xfrm>
          <a:prstGeom prst="rect">
            <a:avLst/>
          </a:prstGeom>
          <a:noFill/>
          <a:ln/>
        </p:spPr>
        <p:txBody>
          <a:bodyPr wrap="square" lIns="0" tIns="0" rIns="0" bIns="0" rtlCol="0" anchor="t"/>
          <a:lstStyle/>
          <a:p>
            <a:pPr marL="0" indent="0">
              <a:buNone/>
            </a:pPr>
            <a:r>
              <a:rPr lang="en-US" sz="1700" b="1" dirty="0">
                <a:solidFill>
                  <a:schemeClr val="tx2"/>
                </a:solidFill>
              </a:rPr>
              <a:t>BOMBAY</a:t>
            </a:r>
            <a:endParaRPr lang="en-US" sz="1700" dirty="0"/>
          </a:p>
        </p:txBody>
      </p:sp>
      <p:sp>
        <p:nvSpPr>
          <p:cNvPr id="7" name="Text 4"/>
          <p:cNvSpPr txBox="1"/>
          <p:nvPr/>
        </p:nvSpPr>
        <p:spPr>
          <a:xfrm>
            <a:off x="8275320" y="1737360"/>
            <a:ext cx="3383280" cy="594360"/>
          </a:xfrm>
          <a:prstGeom prst="rect">
            <a:avLst/>
          </a:prstGeom>
          <a:noFill/>
          <a:ln/>
        </p:spPr>
        <p:txBody>
          <a:bodyPr wrap="square" lIns="0" tIns="0" rIns="0" bIns="0" rtlCol="0" anchor="t"/>
          <a:lstStyle/>
          <a:p>
            <a:pPr marL="0" indent="0">
              <a:buNone/>
            </a:pPr>
            <a:r>
              <a:rPr lang="en-US" sz="1400" dirty="0">
                <a:solidFill>
                  <a:srgbClr val="6E5D52"/>
                </a:solidFill>
              </a:rPr>
              <a:t>Se separa sola: más del doble de área que las demás</a:t>
            </a:r>
            <a:endParaRPr lang="en-US" sz="1400" dirty="0"/>
          </a:p>
        </p:txBody>
      </p:sp>
      <p:sp>
        <p:nvSpPr>
          <p:cNvPr id="8" name="punto SEKER y HOROZ"/>
          <p:cNvSpPr/>
          <p:nvPr/>
        </p:nvSpPr>
        <p:spPr>
          <a:xfrm>
            <a:off x="7863840" y="2468880"/>
            <a:ext cx="256032" cy="256032"/>
          </a:xfrm>
          <a:prstGeom prst="ellipse">
            <a:avLst/>
          </a:prstGeom>
          <a:solidFill>
            <a:srgbClr val="5B8C5A"/>
          </a:solidFill>
          <a:ln/>
        </p:spPr>
        <p:txBody>
          <a:bodyPr/>
          <a:lstStyle/>
          <a:p>
            <a:endParaRPr lang="es-GT"/>
          </a:p>
        </p:txBody>
      </p:sp>
      <p:sp>
        <p:nvSpPr>
          <p:cNvPr id="9" name="Text 6"/>
          <p:cNvSpPr txBox="1"/>
          <p:nvPr/>
        </p:nvSpPr>
        <p:spPr>
          <a:xfrm>
            <a:off x="8275320" y="2395728"/>
            <a:ext cx="3383280" cy="365760"/>
          </a:xfrm>
          <a:prstGeom prst="rect">
            <a:avLst/>
          </a:prstGeom>
          <a:noFill/>
          <a:ln/>
        </p:spPr>
        <p:txBody>
          <a:bodyPr wrap="square" lIns="0" tIns="0" rIns="0" bIns="0" rtlCol="0" anchor="t"/>
          <a:lstStyle/>
          <a:p>
            <a:pPr marL="0" indent="0">
              <a:buNone/>
            </a:pPr>
            <a:r>
              <a:rPr lang="en-US" sz="1700" b="1" dirty="0">
                <a:solidFill>
                  <a:schemeClr val="tx2"/>
                </a:solidFill>
              </a:rPr>
              <a:t>SEKER y HOROZ</a:t>
            </a:r>
            <a:endParaRPr lang="en-US" sz="1700" dirty="0"/>
          </a:p>
        </p:txBody>
      </p:sp>
      <p:sp>
        <p:nvSpPr>
          <p:cNvPr id="10" name="Text 7"/>
          <p:cNvSpPr txBox="1"/>
          <p:nvPr/>
        </p:nvSpPr>
        <p:spPr>
          <a:xfrm>
            <a:off x="8275320" y="2761488"/>
            <a:ext cx="3383280" cy="594360"/>
          </a:xfrm>
          <a:prstGeom prst="rect">
            <a:avLst/>
          </a:prstGeom>
          <a:noFill/>
          <a:ln/>
        </p:spPr>
        <p:txBody>
          <a:bodyPr wrap="square" lIns="0" tIns="0" rIns="0" bIns="0" rtlCol="0" anchor="t"/>
          <a:lstStyle/>
          <a:p>
            <a:pPr marL="0" indent="0">
              <a:buNone/>
            </a:pPr>
            <a:r>
              <a:rPr lang="en-US" sz="1400" dirty="0">
                <a:solidFill>
                  <a:srgbClr val="6E5D52"/>
                </a:solidFill>
              </a:rPr>
              <a:t>Se reconocen por forma: la más redonda y la más alargada</a:t>
            </a:r>
            <a:endParaRPr lang="en-US" sz="1400" dirty="0"/>
          </a:p>
        </p:txBody>
      </p:sp>
      <p:sp>
        <p:nvSpPr>
          <p:cNvPr id="11" name="punto DERMASON y SIRA"/>
          <p:cNvSpPr/>
          <p:nvPr/>
        </p:nvSpPr>
        <p:spPr>
          <a:xfrm>
            <a:off x="7863840" y="3493008"/>
            <a:ext cx="256032" cy="256032"/>
          </a:xfrm>
          <a:prstGeom prst="ellipse">
            <a:avLst/>
          </a:prstGeom>
          <a:solidFill>
            <a:srgbClr val="C0532F"/>
          </a:solidFill>
          <a:ln/>
        </p:spPr>
        <p:txBody>
          <a:bodyPr/>
          <a:lstStyle/>
          <a:p>
            <a:endParaRPr lang="es-GT"/>
          </a:p>
        </p:txBody>
      </p:sp>
      <p:sp>
        <p:nvSpPr>
          <p:cNvPr id="12" name="Text 9"/>
          <p:cNvSpPr txBox="1"/>
          <p:nvPr/>
        </p:nvSpPr>
        <p:spPr>
          <a:xfrm>
            <a:off x="8275320" y="3419856"/>
            <a:ext cx="3383280" cy="365760"/>
          </a:xfrm>
          <a:prstGeom prst="rect">
            <a:avLst/>
          </a:prstGeom>
          <a:noFill/>
          <a:ln/>
        </p:spPr>
        <p:txBody>
          <a:bodyPr wrap="square" lIns="0" tIns="0" rIns="0" bIns="0" rtlCol="0" anchor="t"/>
          <a:lstStyle/>
          <a:p>
            <a:pPr marL="0" indent="0">
              <a:buNone/>
            </a:pPr>
            <a:r>
              <a:rPr lang="en-US" sz="1700" b="1" dirty="0">
                <a:solidFill>
                  <a:schemeClr val="tx2"/>
                </a:solidFill>
              </a:rPr>
              <a:t>DERMASON y SIRA</a:t>
            </a:r>
            <a:endParaRPr lang="en-US" sz="1700" dirty="0"/>
          </a:p>
        </p:txBody>
      </p:sp>
      <p:sp>
        <p:nvSpPr>
          <p:cNvPr id="13" name="Text 10"/>
          <p:cNvSpPr txBox="1"/>
          <p:nvPr/>
        </p:nvSpPr>
        <p:spPr>
          <a:xfrm>
            <a:off x="8275320" y="3785616"/>
            <a:ext cx="3383280" cy="594360"/>
          </a:xfrm>
          <a:prstGeom prst="rect">
            <a:avLst/>
          </a:prstGeom>
          <a:noFill/>
          <a:ln/>
        </p:spPr>
        <p:txBody>
          <a:bodyPr wrap="square" lIns="0" tIns="0" rIns="0" bIns="0" rtlCol="0" anchor="t"/>
          <a:lstStyle/>
          <a:p>
            <a:pPr marL="0" indent="0">
              <a:buNone/>
            </a:pPr>
            <a:r>
              <a:rPr lang="en-US" sz="1400" dirty="0">
                <a:solidFill>
                  <a:srgbClr val="6E5D52"/>
                </a:solidFill>
              </a:rPr>
              <a:t>Pequeñas y muy traslapadas → posible confusión</a:t>
            </a:r>
            <a:endParaRPr lang="en-US" sz="1400" dirty="0"/>
          </a:p>
        </p:txBody>
      </p:sp>
      <p:sp>
        <p:nvSpPr>
          <p:cNvPr id="14" name="punto BARBUNYA y CALI"/>
          <p:cNvSpPr/>
          <p:nvPr/>
        </p:nvSpPr>
        <p:spPr>
          <a:xfrm>
            <a:off x="7863840" y="4517136"/>
            <a:ext cx="256032" cy="256032"/>
          </a:xfrm>
          <a:prstGeom prst="ellipse">
            <a:avLst/>
          </a:prstGeom>
          <a:solidFill>
            <a:srgbClr val="C0532F"/>
          </a:solidFill>
          <a:ln/>
        </p:spPr>
        <p:txBody>
          <a:bodyPr/>
          <a:lstStyle/>
          <a:p>
            <a:endParaRPr lang="es-GT"/>
          </a:p>
        </p:txBody>
      </p:sp>
      <p:sp>
        <p:nvSpPr>
          <p:cNvPr id="15" name="Text 12"/>
          <p:cNvSpPr txBox="1"/>
          <p:nvPr/>
        </p:nvSpPr>
        <p:spPr>
          <a:xfrm>
            <a:off x="8275320" y="4443984"/>
            <a:ext cx="3383280" cy="365760"/>
          </a:xfrm>
          <a:prstGeom prst="rect">
            <a:avLst/>
          </a:prstGeom>
          <a:noFill/>
          <a:ln/>
        </p:spPr>
        <p:txBody>
          <a:bodyPr wrap="square" lIns="0" tIns="0" rIns="0" bIns="0" rtlCol="0" anchor="t"/>
          <a:lstStyle/>
          <a:p>
            <a:pPr marL="0" indent="0">
              <a:buNone/>
            </a:pPr>
            <a:r>
              <a:rPr lang="en-US" sz="1700" b="1" dirty="0">
                <a:solidFill>
                  <a:schemeClr val="tx2"/>
                </a:solidFill>
              </a:rPr>
              <a:t>BARBUNYA y CALI</a:t>
            </a:r>
            <a:endParaRPr lang="en-US" sz="1700" dirty="0"/>
          </a:p>
        </p:txBody>
      </p:sp>
      <p:sp>
        <p:nvSpPr>
          <p:cNvPr id="16" name="Text 13"/>
          <p:cNvSpPr txBox="1"/>
          <p:nvPr/>
        </p:nvSpPr>
        <p:spPr>
          <a:xfrm>
            <a:off x="8275320" y="4809744"/>
            <a:ext cx="3383280" cy="594360"/>
          </a:xfrm>
          <a:prstGeom prst="rect">
            <a:avLst/>
          </a:prstGeom>
          <a:noFill/>
          <a:ln/>
        </p:spPr>
        <p:txBody>
          <a:bodyPr wrap="square" lIns="0" tIns="0" rIns="0" bIns="0" rtlCol="0" anchor="t"/>
          <a:lstStyle/>
          <a:p>
            <a:pPr marL="0" indent="0">
              <a:buNone/>
            </a:pPr>
            <a:r>
              <a:rPr lang="en-US" sz="1400" dirty="0">
                <a:solidFill>
                  <a:srgbClr val="6E5D52"/>
                </a:solidFill>
              </a:rPr>
              <a:t>Tamaños parecidos → posible confusión</a:t>
            </a:r>
            <a:endParaRPr lang="en-US" sz="1400" dirty="0"/>
          </a:p>
        </p:txBody>
      </p:sp>
      <p:sp>
        <p:nvSpPr>
          <p:cNvPr id="17" name="nota atípicos"/>
          <p:cNvSpPr/>
          <p:nvPr/>
        </p:nvSpPr>
        <p:spPr>
          <a:xfrm>
            <a:off x="7863840" y="5486400"/>
            <a:ext cx="3749040" cy="777240"/>
          </a:xfrm>
          <a:prstGeom prst="roundRect">
            <a:avLst>
              <a:gd name="adj" fmla="val 14118"/>
            </a:avLst>
          </a:prstGeom>
          <a:solidFill>
            <a:schemeClr val="bg2"/>
          </a:solidFill>
          <a:ln/>
        </p:spPr>
        <p:txBody>
          <a:bodyPr/>
          <a:lstStyle/>
          <a:p>
            <a:endParaRPr lang="es-GT"/>
          </a:p>
        </p:txBody>
      </p:sp>
      <p:sp>
        <p:nvSpPr>
          <p:cNvPr id="18" name="Text 15"/>
          <p:cNvSpPr txBox="1"/>
          <p:nvPr/>
        </p:nvSpPr>
        <p:spPr>
          <a:xfrm>
            <a:off x="8046720" y="5559552"/>
            <a:ext cx="3474720" cy="640080"/>
          </a:xfrm>
          <a:prstGeom prst="rect">
            <a:avLst/>
          </a:prstGeom>
          <a:noFill/>
          <a:ln/>
        </p:spPr>
        <p:txBody>
          <a:bodyPr wrap="square" lIns="0" tIns="0" rIns="0" bIns="0" rtlCol="0" anchor="ctr"/>
          <a:lstStyle/>
          <a:p>
            <a:pPr marL="0" indent="0">
              <a:buNone/>
            </a:pPr>
            <a:r>
              <a:rPr lang="en-US" sz="1200" dirty="0">
                <a:solidFill>
                  <a:schemeClr val="tx2"/>
                </a:solidFill>
              </a:rPr>
              <a:t>22 % de las filas tiene atípicos (regla IQR), casi todos BOMBAY reales → se conservan</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Cómo funciona el código</a:t>
            </a:r>
            <a:endParaRPr lang="en-US" sz="3200" dirty="0"/>
          </a:p>
        </p:txBody>
      </p:sp>
      <p:sp>
        <p:nvSpPr>
          <p:cNvPr id="3" name="etapa Datos"/>
          <p:cNvSpPr/>
          <p:nvPr/>
        </p:nvSpPr>
        <p:spPr>
          <a:xfrm>
            <a:off x="548640" y="1371600"/>
            <a:ext cx="2514600" cy="3566160"/>
          </a:xfrm>
          <a:prstGeom prst="roundRect">
            <a:avLst>
              <a:gd name="adj" fmla="val 4364"/>
            </a:avLst>
          </a:prstGeom>
          <a:solidFill>
            <a:schemeClr val="bg2"/>
          </a:solidFill>
          <a:ln/>
        </p:spPr>
        <p:txBody>
          <a:bodyPr/>
          <a:lstStyle/>
          <a:p>
            <a:endParaRPr lang="es-GT"/>
          </a:p>
        </p:txBody>
      </p:sp>
      <p:sp>
        <p:nvSpPr>
          <p:cNvPr id="4" name="número etapa 1"/>
          <p:cNvSpPr/>
          <p:nvPr/>
        </p:nvSpPr>
        <p:spPr>
          <a:xfrm>
            <a:off x="777240" y="1600200"/>
            <a:ext cx="548640" cy="548640"/>
          </a:xfrm>
          <a:prstGeom prst="ellipse">
            <a:avLst/>
          </a:prstGeom>
          <a:solidFill>
            <a:schemeClr val="accent1"/>
          </a:solidFill>
          <a:ln/>
        </p:spPr>
        <p:txBody>
          <a:bodyPr/>
          <a:lstStyle/>
          <a:p>
            <a:endParaRPr lang="es-GT"/>
          </a:p>
        </p:txBody>
      </p:sp>
      <p:sp>
        <p:nvSpPr>
          <p:cNvPr id="5" name="Text 3"/>
          <p:cNvSpPr txBox="1"/>
          <p:nvPr/>
        </p:nvSpPr>
        <p:spPr>
          <a:xfrm>
            <a:off x="777240" y="16002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6" name="Text 4"/>
          <p:cNvSpPr txBox="1"/>
          <p:nvPr/>
        </p:nvSpPr>
        <p:spPr>
          <a:xfrm>
            <a:off x="1463040" y="1645920"/>
            <a:ext cx="1463040" cy="457200"/>
          </a:xfrm>
          <a:prstGeom prst="rect">
            <a:avLst/>
          </a:prstGeom>
          <a:noFill/>
          <a:ln/>
        </p:spPr>
        <p:txBody>
          <a:bodyPr wrap="square" lIns="0" tIns="0" rIns="0" bIns="0" rtlCol="0" anchor="ctr"/>
          <a:lstStyle/>
          <a:p>
            <a:pPr marL="0" indent="0">
              <a:buNone/>
            </a:pPr>
            <a:r>
              <a:rPr lang="en-US" sz="1900" b="1" dirty="0">
                <a:solidFill>
                  <a:schemeClr val="tx2"/>
                </a:solidFill>
              </a:rPr>
              <a:t>Datos</a:t>
            </a:r>
            <a:endParaRPr lang="en-US" sz="1900" dirty="0"/>
          </a:p>
        </p:txBody>
      </p:sp>
      <p:sp>
        <p:nvSpPr>
          <p:cNvPr id="7" name="Text 5"/>
          <p:cNvSpPr txBox="1"/>
          <p:nvPr/>
        </p:nvSpPr>
        <p:spPr>
          <a:xfrm>
            <a:off x="731520" y="2377440"/>
            <a:ext cx="2286000" cy="1188720"/>
          </a:xfrm>
          <a:prstGeom prst="rect">
            <a:avLst/>
          </a:prstGeom>
          <a:noFill/>
          <a:ln/>
        </p:spPr>
        <p:txBody>
          <a:bodyPr wrap="square" lIns="0" tIns="0" rIns="0" bIns="0" rtlCol="0" anchor="t"/>
          <a:lstStyle/>
          <a:p>
            <a:pPr marL="0" indent="0">
              <a:spcAft>
                <a:spcPts val="400"/>
              </a:spcAft>
              <a:buNone/>
            </a:pPr>
            <a:r>
              <a:rPr lang="en-US" sz="1150" dirty="0">
                <a:solidFill>
                  <a:schemeClr val="accent5"/>
                </a:solidFill>
                <a:latin typeface="Courier New" pitchFamily="34" charset="0"/>
                <a:ea typeface="Courier New" pitchFamily="34" charset="-122"/>
                <a:cs typeface="Courier New" pitchFamily="34" charset="-120"/>
              </a:rPr>
              <a:t>descargar_datos.py</a:t>
            </a:r>
            <a:endParaRPr lang="en-US" sz="1150" dirty="0"/>
          </a:p>
          <a:p>
            <a:pPr marL="0" indent="0">
              <a:spcAft>
                <a:spcPts val="400"/>
              </a:spcAft>
              <a:buNone/>
            </a:pPr>
            <a:r>
              <a:rPr lang="en-US" sz="1150" dirty="0">
                <a:solidFill>
                  <a:schemeClr val="accent5"/>
                </a:solidFill>
                <a:latin typeface="Courier New" pitchFamily="34" charset="0"/>
                <a:ea typeface="Courier New" pitchFamily="34" charset="-122"/>
                <a:cs typeface="Courier New" pitchFamily="34" charset="-120"/>
              </a:rPr>
              <a:t>preparar_datos.py</a:t>
            </a:r>
            <a:endParaRPr lang="en-US" sz="1150" dirty="0"/>
          </a:p>
        </p:txBody>
      </p:sp>
      <p:sp>
        <p:nvSpPr>
          <p:cNvPr id="8" name="Text 6"/>
          <p:cNvSpPr txBox="1"/>
          <p:nvPr/>
        </p:nvSpPr>
        <p:spPr>
          <a:xfrm>
            <a:off x="777240" y="3703320"/>
            <a:ext cx="2103120" cy="1097280"/>
          </a:xfrm>
          <a:prstGeom prst="rect">
            <a:avLst/>
          </a:prstGeom>
          <a:noFill/>
          <a:ln/>
        </p:spPr>
        <p:txBody>
          <a:bodyPr wrap="square" lIns="0" tIns="0" rIns="0" bIns="0" rtlCol="0" anchor="t"/>
          <a:lstStyle/>
          <a:p>
            <a:pPr marL="0" indent="0">
              <a:buNone/>
            </a:pPr>
            <a:r>
              <a:rPr lang="en-US" sz="1400" dirty="0">
                <a:solidFill>
                  <a:srgbClr val="6E5D52"/>
                </a:solidFill>
              </a:rPr>
              <a:t>Descarga de UCI, quita duplicados, separa train/test</a:t>
            </a:r>
            <a:endParaRPr lang="en-US" sz="1400" dirty="0"/>
          </a:p>
        </p:txBody>
      </p:sp>
      <p:sp>
        <p:nvSpPr>
          <p:cNvPr id="9" name="flecha etapa 1"/>
          <p:cNvSpPr/>
          <p:nvPr/>
        </p:nvSpPr>
        <p:spPr>
          <a:xfrm>
            <a:off x="3090672" y="2971800"/>
            <a:ext cx="274320" cy="320040"/>
          </a:xfrm>
          <a:prstGeom prst="rightArrow">
            <a:avLst/>
          </a:prstGeom>
          <a:solidFill>
            <a:srgbClr val="D9B98A"/>
          </a:solidFill>
          <a:ln/>
        </p:spPr>
        <p:txBody>
          <a:bodyPr/>
          <a:lstStyle/>
          <a:p>
            <a:endParaRPr lang="es-GT"/>
          </a:p>
        </p:txBody>
      </p:sp>
      <p:sp>
        <p:nvSpPr>
          <p:cNvPr id="10" name="etapa Exploración"/>
          <p:cNvSpPr/>
          <p:nvPr/>
        </p:nvSpPr>
        <p:spPr>
          <a:xfrm>
            <a:off x="3383280" y="1371600"/>
            <a:ext cx="2514600" cy="3566160"/>
          </a:xfrm>
          <a:prstGeom prst="roundRect">
            <a:avLst>
              <a:gd name="adj" fmla="val 4364"/>
            </a:avLst>
          </a:prstGeom>
          <a:solidFill>
            <a:schemeClr val="bg2"/>
          </a:solidFill>
          <a:ln/>
        </p:spPr>
        <p:txBody>
          <a:bodyPr/>
          <a:lstStyle/>
          <a:p>
            <a:endParaRPr lang="es-GT"/>
          </a:p>
        </p:txBody>
      </p:sp>
      <p:sp>
        <p:nvSpPr>
          <p:cNvPr id="11" name="número etapa 2"/>
          <p:cNvSpPr/>
          <p:nvPr/>
        </p:nvSpPr>
        <p:spPr>
          <a:xfrm>
            <a:off x="3611880" y="1600200"/>
            <a:ext cx="548640" cy="548640"/>
          </a:xfrm>
          <a:prstGeom prst="ellipse">
            <a:avLst/>
          </a:prstGeom>
          <a:solidFill>
            <a:schemeClr val="accent1"/>
          </a:solidFill>
          <a:ln/>
        </p:spPr>
        <p:txBody>
          <a:bodyPr/>
          <a:lstStyle/>
          <a:p>
            <a:endParaRPr lang="es-GT"/>
          </a:p>
        </p:txBody>
      </p:sp>
      <p:sp>
        <p:nvSpPr>
          <p:cNvPr id="12" name="Text 10"/>
          <p:cNvSpPr txBox="1"/>
          <p:nvPr/>
        </p:nvSpPr>
        <p:spPr>
          <a:xfrm>
            <a:off x="3611880" y="16002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3" name="Text 11"/>
          <p:cNvSpPr txBox="1"/>
          <p:nvPr/>
        </p:nvSpPr>
        <p:spPr>
          <a:xfrm>
            <a:off x="4297680" y="1645920"/>
            <a:ext cx="1463040" cy="457200"/>
          </a:xfrm>
          <a:prstGeom prst="rect">
            <a:avLst/>
          </a:prstGeom>
          <a:noFill/>
          <a:ln/>
        </p:spPr>
        <p:txBody>
          <a:bodyPr wrap="square" lIns="0" tIns="0" rIns="0" bIns="0" rtlCol="0" anchor="ctr"/>
          <a:lstStyle/>
          <a:p>
            <a:pPr marL="0" indent="0">
              <a:buNone/>
            </a:pPr>
            <a:r>
              <a:rPr lang="en-US" sz="1900" b="1" dirty="0">
                <a:solidFill>
                  <a:schemeClr val="tx2"/>
                </a:solidFill>
              </a:rPr>
              <a:t>Exploración</a:t>
            </a:r>
            <a:endParaRPr lang="en-US" sz="1900" dirty="0"/>
          </a:p>
        </p:txBody>
      </p:sp>
      <p:sp>
        <p:nvSpPr>
          <p:cNvPr id="14" name="Text 12"/>
          <p:cNvSpPr txBox="1"/>
          <p:nvPr/>
        </p:nvSpPr>
        <p:spPr>
          <a:xfrm>
            <a:off x="3566160" y="2377440"/>
            <a:ext cx="2286000" cy="1188720"/>
          </a:xfrm>
          <a:prstGeom prst="rect">
            <a:avLst/>
          </a:prstGeom>
          <a:noFill/>
          <a:ln/>
        </p:spPr>
        <p:txBody>
          <a:bodyPr wrap="square" lIns="0" tIns="0" rIns="0" bIns="0" rtlCol="0" anchor="t"/>
          <a:lstStyle/>
          <a:p>
            <a:pPr marL="0" indent="0">
              <a:spcAft>
                <a:spcPts val="400"/>
              </a:spcAft>
              <a:buNone/>
            </a:pPr>
            <a:r>
              <a:rPr lang="en-US" sz="1150" dirty="0">
                <a:solidFill>
                  <a:schemeClr val="accent5"/>
                </a:solidFill>
                <a:latin typeface="Courier New" pitchFamily="34" charset="0"/>
                <a:ea typeface="Courier New" pitchFamily="34" charset="-122"/>
                <a:cs typeface="Courier New" pitchFamily="34" charset="-120"/>
              </a:rPr>
              <a:t>explorar_datos.py</a:t>
            </a:r>
            <a:endParaRPr lang="en-US" sz="1150" dirty="0"/>
          </a:p>
        </p:txBody>
      </p:sp>
      <p:sp>
        <p:nvSpPr>
          <p:cNvPr id="15" name="Text 13"/>
          <p:cNvSpPr txBox="1"/>
          <p:nvPr/>
        </p:nvSpPr>
        <p:spPr>
          <a:xfrm>
            <a:off x="3611880" y="3703320"/>
            <a:ext cx="2103120" cy="1097280"/>
          </a:xfrm>
          <a:prstGeom prst="rect">
            <a:avLst/>
          </a:prstGeom>
          <a:noFill/>
          <a:ln/>
        </p:spPr>
        <p:txBody>
          <a:bodyPr wrap="square" lIns="0" tIns="0" rIns="0" bIns="0" rtlCol="0" anchor="t"/>
          <a:lstStyle/>
          <a:p>
            <a:pPr marL="0" indent="0">
              <a:buNone/>
            </a:pPr>
            <a:r>
              <a:rPr lang="en-US" sz="1400" dirty="0">
                <a:solidFill>
                  <a:srgbClr val="6E5D52"/>
                </a:solidFill>
              </a:rPr>
              <a:t>Gráficas y tablas, solo con entrenamiento</a:t>
            </a:r>
            <a:endParaRPr lang="en-US" sz="1400" dirty="0"/>
          </a:p>
        </p:txBody>
      </p:sp>
      <p:sp>
        <p:nvSpPr>
          <p:cNvPr id="16" name="flecha etapa 2"/>
          <p:cNvSpPr/>
          <p:nvPr/>
        </p:nvSpPr>
        <p:spPr>
          <a:xfrm>
            <a:off x="5925312" y="2971800"/>
            <a:ext cx="274320" cy="320040"/>
          </a:xfrm>
          <a:prstGeom prst="rightArrow">
            <a:avLst/>
          </a:prstGeom>
          <a:solidFill>
            <a:srgbClr val="D9B98A"/>
          </a:solidFill>
          <a:ln/>
        </p:spPr>
        <p:txBody>
          <a:bodyPr/>
          <a:lstStyle/>
          <a:p>
            <a:endParaRPr lang="es-GT"/>
          </a:p>
        </p:txBody>
      </p:sp>
      <p:sp>
        <p:nvSpPr>
          <p:cNvPr id="17" name="etapa Modelos"/>
          <p:cNvSpPr/>
          <p:nvPr/>
        </p:nvSpPr>
        <p:spPr>
          <a:xfrm>
            <a:off x="6217920" y="1371600"/>
            <a:ext cx="2514600" cy="3566160"/>
          </a:xfrm>
          <a:prstGeom prst="roundRect">
            <a:avLst>
              <a:gd name="adj" fmla="val 4364"/>
            </a:avLst>
          </a:prstGeom>
          <a:solidFill>
            <a:schemeClr val="bg2"/>
          </a:solidFill>
          <a:ln/>
        </p:spPr>
        <p:txBody>
          <a:bodyPr/>
          <a:lstStyle/>
          <a:p>
            <a:endParaRPr lang="es-GT"/>
          </a:p>
        </p:txBody>
      </p:sp>
      <p:sp>
        <p:nvSpPr>
          <p:cNvPr id="18" name="número etapa 3"/>
          <p:cNvSpPr/>
          <p:nvPr/>
        </p:nvSpPr>
        <p:spPr>
          <a:xfrm>
            <a:off x="6446520" y="1600200"/>
            <a:ext cx="548640" cy="548640"/>
          </a:xfrm>
          <a:prstGeom prst="ellipse">
            <a:avLst/>
          </a:prstGeom>
          <a:solidFill>
            <a:schemeClr val="accent1"/>
          </a:solidFill>
          <a:ln/>
        </p:spPr>
        <p:txBody>
          <a:bodyPr/>
          <a:lstStyle/>
          <a:p>
            <a:endParaRPr lang="es-GT"/>
          </a:p>
        </p:txBody>
      </p:sp>
      <p:sp>
        <p:nvSpPr>
          <p:cNvPr id="19" name="Text 17"/>
          <p:cNvSpPr txBox="1"/>
          <p:nvPr/>
        </p:nvSpPr>
        <p:spPr>
          <a:xfrm>
            <a:off x="6446520" y="16002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20" name="Text 18"/>
          <p:cNvSpPr txBox="1"/>
          <p:nvPr/>
        </p:nvSpPr>
        <p:spPr>
          <a:xfrm>
            <a:off x="7132320" y="1645920"/>
            <a:ext cx="1463040" cy="457200"/>
          </a:xfrm>
          <a:prstGeom prst="rect">
            <a:avLst/>
          </a:prstGeom>
          <a:noFill/>
          <a:ln/>
        </p:spPr>
        <p:txBody>
          <a:bodyPr wrap="square" lIns="0" tIns="0" rIns="0" bIns="0" rtlCol="0" anchor="ctr"/>
          <a:lstStyle/>
          <a:p>
            <a:pPr marL="0" indent="0">
              <a:buNone/>
            </a:pPr>
            <a:r>
              <a:rPr lang="en-US" sz="1900" b="1" dirty="0">
                <a:solidFill>
                  <a:schemeClr val="tx2"/>
                </a:solidFill>
              </a:rPr>
              <a:t>Modelos</a:t>
            </a:r>
            <a:endParaRPr lang="en-US" sz="1900" dirty="0"/>
          </a:p>
        </p:txBody>
      </p:sp>
      <p:sp>
        <p:nvSpPr>
          <p:cNvPr id="21" name="Text 19"/>
          <p:cNvSpPr txBox="1"/>
          <p:nvPr/>
        </p:nvSpPr>
        <p:spPr>
          <a:xfrm>
            <a:off x="6400800" y="2377440"/>
            <a:ext cx="2286000" cy="1188720"/>
          </a:xfrm>
          <a:prstGeom prst="rect">
            <a:avLst/>
          </a:prstGeom>
          <a:noFill/>
          <a:ln/>
        </p:spPr>
        <p:txBody>
          <a:bodyPr wrap="square" lIns="0" tIns="0" rIns="0" bIns="0" rtlCol="0" anchor="t"/>
          <a:lstStyle/>
          <a:p>
            <a:pPr marL="0" indent="0">
              <a:spcAft>
                <a:spcPts val="400"/>
              </a:spcAft>
              <a:buNone/>
            </a:pPr>
            <a:r>
              <a:rPr lang="en-US" sz="1150" dirty="0">
                <a:solidFill>
                  <a:schemeClr val="accent5"/>
                </a:solidFill>
                <a:latin typeface="Courier New" pitchFamily="34" charset="0"/>
                <a:ea typeface="Courier New" pitchFamily="34" charset="-122"/>
                <a:cs typeface="Courier New" pitchFamily="34" charset="-120"/>
              </a:rPr>
              <a:t>entrenar_*.py  (×5)</a:t>
            </a:r>
            <a:endParaRPr lang="en-US" sz="1150" dirty="0"/>
          </a:p>
          <a:p>
            <a:pPr marL="0" indent="0">
              <a:spcAft>
                <a:spcPts val="400"/>
              </a:spcAft>
              <a:buNone/>
            </a:pPr>
            <a:r>
              <a:rPr lang="en-US" sz="1150" dirty="0">
                <a:solidFill>
                  <a:schemeClr val="accent5"/>
                </a:solidFill>
                <a:latin typeface="Courier New" pitchFamily="34" charset="0"/>
                <a:ea typeface="Courier New" pitchFamily="34" charset="-122"/>
                <a:cs typeface="Courier New" pitchFamily="34" charset="-120"/>
              </a:rPr>
              <a:t>validacion.py</a:t>
            </a:r>
            <a:endParaRPr lang="en-US" sz="1150" dirty="0"/>
          </a:p>
        </p:txBody>
      </p:sp>
      <p:sp>
        <p:nvSpPr>
          <p:cNvPr id="22" name="Text 20"/>
          <p:cNvSpPr txBox="1"/>
          <p:nvPr/>
        </p:nvSpPr>
        <p:spPr>
          <a:xfrm>
            <a:off x="6446520" y="3703320"/>
            <a:ext cx="2103120" cy="1097280"/>
          </a:xfrm>
          <a:prstGeom prst="rect">
            <a:avLst/>
          </a:prstGeom>
          <a:noFill/>
          <a:ln/>
        </p:spPr>
        <p:txBody>
          <a:bodyPr wrap="square" lIns="0" tIns="0" rIns="0" bIns="0" rtlCol="0" anchor="t"/>
          <a:lstStyle/>
          <a:p>
            <a:pPr marL="0" indent="0">
              <a:buNone/>
            </a:pPr>
            <a:r>
              <a:rPr lang="en-US" sz="1400" dirty="0">
                <a:solidFill>
                  <a:srgbClr val="6E5D52"/>
                </a:solidFill>
              </a:rPr>
              <a:t>Búsqueda de hiperparámetros con las mismas 5 particiones</a:t>
            </a:r>
            <a:endParaRPr lang="en-US" sz="1400" dirty="0"/>
          </a:p>
        </p:txBody>
      </p:sp>
      <p:sp>
        <p:nvSpPr>
          <p:cNvPr id="23" name="flecha etapa 3"/>
          <p:cNvSpPr/>
          <p:nvPr/>
        </p:nvSpPr>
        <p:spPr>
          <a:xfrm>
            <a:off x="8759952" y="2971800"/>
            <a:ext cx="274320" cy="320040"/>
          </a:xfrm>
          <a:prstGeom prst="rightArrow">
            <a:avLst/>
          </a:prstGeom>
          <a:solidFill>
            <a:srgbClr val="D9B98A"/>
          </a:solidFill>
          <a:ln/>
        </p:spPr>
        <p:txBody>
          <a:bodyPr/>
          <a:lstStyle/>
          <a:p>
            <a:endParaRPr lang="es-GT"/>
          </a:p>
        </p:txBody>
      </p:sp>
      <p:sp>
        <p:nvSpPr>
          <p:cNvPr id="24" name="etapa Evaluación"/>
          <p:cNvSpPr/>
          <p:nvPr/>
        </p:nvSpPr>
        <p:spPr>
          <a:xfrm>
            <a:off x="9052560" y="1371600"/>
            <a:ext cx="2514600" cy="3566160"/>
          </a:xfrm>
          <a:prstGeom prst="roundRect">
            <a:avLst>
              <a:gd name="adj" fmla="val 4364"/>
            </a:avLst>
          </a:prstGeom>
          <a:solidFill>
            <a:schemeClr val="bg2"/>
          </a:solidFill>
          <a:ln/>
        </p:spPr>
        <p:txBody>
          <a:bodyPr/>
          <a:lstStyle/>
          <a:p>
            <a:endParaRPr lang="es-GT"/>
          </a:p>
        </p:txBody>
      </p:sp>
      <p:sp>
        <p:nvSpPr>
          <p:cNvPr id="25" name="número etapa 4"/>
          <p:cNvSpPr/>
          <p:nvPr/>
        </p:nvSpPr>
        <p:spPr>
          <a:xfrm>
            <a:off x="9281160" y="1600200"/>
            <a:ext cx="548640" cy="548640"/>
          </a:xfrm>
          <a:prstGeom prst="ellipse">
            <a:avLst/>
          </a:prstGeom>
          <a:solidFill>
            <a:schemeClr val="accent2"/>
          </a:solidFill>
          <a:ln/>
        </p:spPr>
        <p:txBody>
          <a:bodyPr/>
          <a:lstStyle/>
          <a:p>
            <a:endParaRPr lang="es-GT"/>
          </a:p>
        </p:txBody>
      </p:sp>
      <p:sp>
        <p:nvSpPr>
          <p:cNvPr id="26" name="Text 24"/>
          <p:cNvSpPr txBox="1"/>
          <p:nvPr/>
        </p:nvSpPr>
        <p:spPr>
          <a:xfrm>
            <a:off x="9281160" y="16002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7" name="Text 25"/>
          <p:cNvSpPr txBox="1"/>
          <p:nvPr/>
        </p:nvSpPr>
        <p:spPr>
          <a:xfrm>
            <a:off x="9966960" y="1645920"/>
            <a:ext cx="1463040" cy="457200"/>
          </a:xfrm>
          <a:prstGeom prst="rect">
            <a:avLst/>
          </a:prstGeom>
          <a:noFill/>
          <a:ln/>
        </p:spPr>
        <p:txBody>
          <a:bodyPr wrap="square" lIns="0" tIns="0" rIns="0" bIns="0" rtlCol="0" anchor="ctr"/>
          <a:lstStyle/>
          <a:p>
            <a:pPr marL="0" indent="0">
              <a:buNone/>
            </a:pPr>
            <a:r>
              <a:rPr lang="en-US" sz="1900" b="1" dirty="0">
                <a:solidFill>
                  <a:schemeClr val="tx2"/>
                </a:solidFill>
              </a:rPr>
              <a:t>Evaluación</a:t>
            </a:r>
            <a:endParaRPr lang="en-US" sz="1900" dirty="0"/>
          </a:p>
        </p:txBody>
      </p:sp>
      <p:sp>
        <p:nvSpPr>
          <p:cNvPr id="28" name="Text 26"/>
          <p:cNvSpPr txBox="1"/>
          <p:nvPr/>
        </p:nvSpPr>
        <p:spPr>
          <a:xfrm>
            <a:off x="9235440" y="2377440"/>
            <a:ext cx="2286000" cy="1188720"/>
          </a:xfrm>
          <a:prstGeom prst="rect">
            <a:avLst/>
          </a:prstGeom>
          <a:noFill/>
          <a:ln/>
        </p:spPr>
        <p:txBody>
          <a:bodyPr wrap="square" lIns="0" tIns="0" rIns="0" bIns="0" rtlCol="0" anchor="t"/>
          <a:lstStyle/>
          <a:p>
            <a:pPr marL="0" indent="0">
              <a:spcAft>
                <a:spcPts val="400"/>
              </a:spcAft>
              <a:buNone/>
            </a:pPr>
            <a:r>
              <a:rPr lang="en-US" sz="1150" dirty="0">
                <a:solidFill>
                  <a:schemeClr val="accent5"/>
                </a:solidFill>
                <a:latin typeface="Courier New" pitchFamily="34" charset="0"/>
                <a:ea typeface="Courier New" pitchFamily="34" charset="-122"/>
                <a:cs typeface="Courier New" pitchFamily="34" charset="-120"/>
              </a:rPr>
              <a:t>comparar_modelos.py</a:t>
            </a:r>
            <a:endParaRPr lang="en-US" sz="1150" dirty="0"/>
          </a:p>
          <a:p>
            <a:pPr marL="0" indent="0">
              <a:spcAft>
                <a:spcPts val="400"/>
              </a:spcAft>
              <a:buNone/>
            </a:pPr>
            <a:r>
              <a:rPr lang="en-US" sz="1150" dirty="0">
                <a:solidFill>
                  <a:schemeClr val="accent5"/>
                </a:solidFill>
                <a:latin typeface="Courier New" pitchFamily="34" charset="0"/>
                <a:ea typeface="Courier New" pitchFamily="34" charset="-122"/>
                <a:cs typeface="Courier New" pitchFamily="34" charset="-120"/>
              </a:rPr>
              <a:t>analizar_sobreajuste.py</a:t>
            </a:r>
            <a:endParaRPr lang="en-US" sz="1150" dirty="0"/>
          </a:p>
          <a:p>
            <a:pPr marL="0" indent="0">
              <a:spcAft>
                <a:spcPts val="400"/>
              </a:spcAft>
              <a:buNone/>
            </a:pPr>
            <a:r>
              <a:rPr lang="en-US" sz="1150" dirty="0">
                <a:solidFill>
                  <a:schemeClr val="accent5"/>
                </a:solidFill>
                <a:latin typeface="Courier New" pitchFamily="34" charset="0"/>
                <a:ea typeface="Courier New" pitchFamily="34" charset="-122"/>
                <a:cs typeface="Courier New" pitchFamily="34" charset="-120"/>
              </a:rPr>
              <a:t>evaluar_test.py</a:t>
            </a:r>
            <a:endParaRPr lang="en-US" sz="1150" dirty="0"/>
          </a:p>
        </p:txBody>
      </p:sp>
      <p:sp>
        <p:nvSpPr>
          <p:cNvPr id="29" name="Text 27"/>
          <p:cNvSpPr txBox="1"/>
          <p:nvPr/>
        </p:nvSpPr>
        <p:spPr>
          <a:xfrm>
            <a:off x="9281160" y="3703320"/>
            <a:ext cx="2103120" cy="1097280"/>
          </a:xfrm>
          <a:prstGeom prst="rect">
            <a:avLst/>
          </a:prstGeom>
          <a:noFill/>
          <a:ln/>
        </p:spPr>
        <p:txBody>
          <a:bodyPr wrap="square" lIns="0" tIns="0" rIns="0" bIns="0" rtlCol="0" anchor="t"/>
          <a:lstStyle/>
          <a:p>
            <a:pPr marL="0" indent="0">
              <a:buNone/>
            </a:pPr>
            <a:r>
              <a:rPr lang="en-US" sz="1400" dirty="0">
                <a:solidFill>
                  <a:srgbClr val="6E5D52"/>
                </a:solidFill>
              </a:rPr>
              <a:t>Compara, elige y prueba en test una sola vez</a:t>
            </a:r>
            <a:endParaRPr lang="en-US" sz="1400" dirty="0"/>
          </a:p>
        </p:txBody>
      </p:sp>
      <p:sp>
        <p:nvSpPr>
          <p:cNvPr id="30" name="idea clave código"/>
          <p:cNvSpPr/>
          <p:nvPr/>
        </p:nvSpPr>
        <p:spPr>
          <a:xfrm>
            <a:off x="548640" y="5257800"/>
            <a:ext cx="11064240" cy="960120"/>
          </a:xfrm>
          <a:prstGeom prst="roundRect">
            <a:avLst>
              <a:gd name="adj" fmla="val 11429"/>
            </a:avLst>
          </a:prstGeom>
          <a:solidFill>
            <a:schemeClr val="tx2"/>
          </a:solidFill>
          <a:ln/>
        </p:spPr>
        <p:txBody>
          <a:bodyPr/>
          <a:lstStyle/>
          <a:p>
            <a:endParaRPr lang="es-GT"/>
          </a:p>
        </p:txBody>
      </p:sp>
      <p:sp>
        <p:nvSpPr>
          <p:cNvPr id="31" name="icono clave círculo"/>
          <p:cNvSpPr/>
          <p:nvPr/>
        </p:nvSpPr>
        <p:spPr>
          <a:xfrm>
            <a:off x="777240" y="5413248"/>
            <a:ext cx="640080" cy="640080"/>
          </a:xfrm>
          <a:prstGeom prst="ellipse">
            <a:avLst/>
          </a:prstGeom>
          <a:solidFill>
            <a:schemeClr val="accent2"/>
          </a:solidFill>
          <a:ln/>
        </p:spPr>
        <p:txBody>
          <a:bodyPr/>
          <a:lstStyle/>
          <a:p>
            <a:endParaRPr lang="es-GT"/>
          </a:p>
        </p:txBody>
      </p:sp>
      <p:sp>
        <p:nvSpPr>
          <p:cNvPr id="33" name="Text 30"/>
          <p:cNvSpPr txBox="1"/>
          <p:nvPr/>
        </p:nvSpPr>
        <p:spPr>
          <a:xfrm>
            <a:off x="1645920" y="5349240"/>
            <a:ext cx="9784080" cy="777240"/>
          </a:xfrm>
          <a:prstGeom prst="rect">
            <a:avLst/>
          </a:prstGeom>
          <a:noFill/>
          <a:ln/>
        </p:spPr>
        <p:txBody>
          <a:bodyPr wrap="square" lIns="0" tIns="0" rIns="0" bIns="0" rtlCol="0" anchor="ctr"/>
          <a:lstStyle/>
          <a:p>
            <a:pPr marL="0" indent="0">
              <a:buNone/>
            </a:pPr>
            <a:r>
              <a:rPr lang="en-US" sz="1500" b="1" dirty="0">
                <a:solidFill>
                  <a:srgbClr val="D9B98A"/>
                </a:solidFill>
              </a:rPr>
              <a:t> </a:t>
            </a:r>
            <a:r>
              <a:rPr lang="en-US" sz="1500" dirty="0">
                <a:solidFill>
                  <a:schemeClr val="bg1"/>
                </a:solidFill>
              </a:rPr>
              <a:t>los 5 modelos pasan por la misma función buscar_hiperparametros() con las mismas particiones y la misma métrica. Por eso la comparación es justa.</a:t>
            </a:r>
            <a:endParaRPr lang="en-US" sz="1500" dirty="0"/>
          </a:p>
        </p:txBody>
      </p:sp>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Decisiones de preprocesamiento</a:t>
            </a:r>
            <a:endParaRPr lang="en-US" sz="3200" dirty="0"/>
          </a:p>
        </p:txBody>
      </p:sp>
      <p:sp>
        <p:nvSpPr>
          <p:cNvPr id="3" name="decisión Duplicados"/>
          <p:cNvSpPr/>
          <p:nvPr/>
        </p:nvSpPr>
        <p:spPr>
          <a:xfrm>
            <a:off x="548640" y="1371600"/>
            <a:ext cx="5440680" cy="2240280"/>
          </a:xfrm>
          <a:prstGeom prst="roundRect">
            <a:avLst>
              <a:gd name="adj" fmla="val 4898"/>
            </a:avLst>
          </a:prstGeom>
          <a:solidFill>
            <a:schemeClr val="bg2"/>
          </a:solidFill>
          <a:ln/>
        </p:spPr>
        <p:txBody>
          <a:bodyPr/>
          <a:lstStyle/>
          <a:p>
            <a:endParaRPr lang="es-GT"/>
          </a:p>
        </p:txBody>
      </p:sp>
      <p:sp>
        <p:nvSpPr>
          <p:cNvPr id="4" name="icono Duplicados círculo"/>
          <p:cNvSpPr/>
          <p:nvPr/>
        </p:nvSpPr>
        <p:spPr>
          <a:xfrm>
            <a:off x="822960" y="1645920"/>
            <a:ext cx="777240" cy="777240"/>
          </a:xfrm>
          <a:prstGeom prst="ellipse">
            <a:avLst/>
          </a:prstGeom>
          <a:solidFill>
            <a:schemeClr val="accent1"/>
          </a:solidFill>
          <a:ln/>
        </p:spPr>
        <p:txBody>
          <a:bodyPr/>
          <a:lstStyle/>
          <a:p>
            <a:endParaRPr lang="es-GT"/>
          </a:p>
        </p:txBody>
      </p:sp>
      <p:pic>
        <p:nvPicPr>
          <p:cNvPr id="5" name="icono Duplicados" descr="preencoded.png"/>
          <p:cNvPicPr>
            <a:picLocks noChangeAspect="1"/>
          </p:cNvPicPr>
          <p:nvPr/>
        </p:nvPicPr>
        <p:blipFill>
          <a:blip r:embed="rId3"/>
          <a:stretch>
            <a:fillRect/>
          </a:stretch>
        </p:blipFill>
        <p:spPr>
          <a:xfrm>
            <a:off x="1017270" y="1840230"/>
            <a:ext cx="388620" cy="388620"/>
          </a:xfrm>
          <a:prstGeom prst="rect">
            <a:avLst/>
          </a:prstGeom>
        </p:spPr>
      </p:pic>
      <p:sp>
        <p:nvSpPr>
          <p:cNvPr id="6" name="Text 3"/>
          <p:cNvSpPr txBox="1"/>
          <p:nvPr/>
        </p:nvSpPr>
        <p:spPr>
          <a:xfrm>
            <a:off x="1828800" y="1645920"/>
            <a:ext cx="3931920" cy="411480"/>
          </a:xfrm>
          <a:prstGeom prst="rect">
            <a:avLst/>
          </a:prstGeom>
          <a:noFill/>
          <a:ln/>
        </p:spPr>
        <p:txBody>
          <a:bodyPr wrap="square" lIns="0" tIns="0" rIns="0" bIns="0" rtlCol="0" anchor="t"/>
          <a:lstStyle/>
          <a:p>
            <a:pPr marL="0" indent="0">
              <a:buNone/>
            </a:pPr>
            <a:r>
              <a:rPr lang="en-US" sz="2000" b="1" dirty="0">
                <a:solidFill>
                  <a:schemeClr val="tx2"/>
                </a:solidFill>
              </a:rPr>
              <a:t>Duplicados</a:t>
            </a:r>
            <a:endParaRPr lang="en-US" sz="2000" dirty="0"/>
          </a:p>
        </p:txBody>
      </p:sp>
      <p:sp>
        <p:nvSpPr>
          <p:cNvPr id="7" name="Text 4"/>
          <p:cNvSpPr txBox="1"/>
          <p:nvPr/>
        </p:nvSpPr>
        <p:spPr>
          <a:xfrm>
            <a:off x="1828800" y="2103120"/>
            <a:ext cx="3931920" cy="640080"/>
          </a:xfrm>
          <a:prstGeom prst="rect">
            <a:avLst/>
          </a:prstGeom>
          <a:noFill/>
          <a:ln/>
        </p:spPr>
        <p:txBody>
          <a:bodyPr wrap="square" lIns="0" tIns="0" rIns="0" bIns="0" rtlCol="0" anchor="t"/>
          <a:lstStyle/>
          <a:p>
            <a:pPr marL="0" indent="0">
              <a:buNone/>
            </a:pPr>
            <a:r>
              <a:rPr lang="en-US" sz="1500" dirty="0">
                <a:solidFill>
                  <a:schemeClr val="tx1"/>
                </a:solidFill>
              </a:rPr>
              <a:t>Se quitan 68 antes de separar</a:t>
            </a:r>
            <a:endParaRPr lang="en-US" sz="1500" dirty="0"/>
          </a:p>
        </p:txBody>
      </p:sp>
      <p:sp>
        <p:nvSpPr>
          <p:cNvPr id="8" name="Text 5"/>
          <p:cNvSpPr txBox="1"/>
          <p:nvPr/>
        </p:nvSpPr>
        <p:spPr>
          <a:xfrm>
            <a:off x="1828800" y="2788920"/>
            <a:ext cx="3931920" cy="685800"/>
          </a:xfrm>
          <a:prstGeom prst="rect">
            <a:avLst/>
          </a:prstGeom>
          <a:noFill/>
          <a:ln/>
        </p:spPr>
        <p:txBody>
          <a:bodyPr wrap="square" lIns="0" tIns="0" rIns="0" bIns="0" rtlCol="0" anchor="t"/>
          <a:lstStyle/>
          <a:p>
            <a:pPr marL="0" indent="0">
              <a:buNone/>
            </a:pPr>
            <a:r>
              <a:rPr lang="en-US" sz="1400" b="1" dirty="0">
                <a:solidFill>
                  <a:schemeClr val="accent2"/>
                </a:solidFill>
              </a:rPr>
              <a:t>Por qué: </a:t>
            </a:r>
            <a:r>
              <a:rPr lang="en-US" sz="1400" dirty="0">
                <a:solidFill>
                  <a:srgbClr val="6E5D52"/>
                </a:solidFill>
              </a:rPr>
              <a:t>Evita fuga de información entre train y test</a:t>
            </a:r>
            <a:endParaRPr lang="en-US" sz="1400" dirty="0"/>
          </a:p>
        </p:txBody>
      </p:sp>
      <p:sp>
        <p:nvSpPr>
          <p:cNvPr id="9" name="decisión Escalado"/>
          <p:cNvSpPr/>
          <p:nvPr/>
        </p:nvSpPr>
        <p:spPr>
          <a:xfrm>
            <a:off x="6172200" y="1371600"/>
            <a:ext cx="5440680" cy="2240280"/>
          </a:xfrm>
          <a:prstGeom prst="roundRect">
            <a:avLst>
              <a:gd name="adj" fmla="val 4898"/>
            </a:avLst>
          </a:prstGeom>
          <a:solidFill>
            <a:schemeClr val="bg2"/>
          </a:solidFill>
          <a:ln/>
        </p:spPr>
        <p:txBody>
          <a:bodyPr/>
          <a:lstStyle/>
          <a:p>
            <a:endParaRPr lang="es-GT"/>
          </a:p>
        </p:txBody>
      </p:sp>
      <p:sp>
        <p:nvSpPr>
          <p:cNvPr id="10" name="icono Escalado círculo"/>
          <p:cNvSpPr/>
          <p:nvPr/>
        </p:nvSpPr>
        <p:spPr>
          <a:xfrm>
            <a:off x="6446520" y="1645920"/>
            <a:ext cx="777240" cy="777240"/>
          </a:xfrm>
          <a:prstGeom prst="ellipse">
            <a:avLst/>
          </a:prstGeom>
          <a:solidFill>
            <a:schemeClr val="accent1"/>
          </a:solidFill>
          <a:ln/>
        </p:spPr>
        <p:txBody>
          <a:bodyPr/>
          <a:lstStyle/>
          <a:p>
            <a:endParaRPr lang="es-GT"/>
          </a:p>
        </p:txBody>
      </p:sp>
      <p:pic>
        <p:nvPicPr>
          <p:cNvPr id="11" name="icono Escalado" descr="preencoded.png"/>
          <p:cNvPicPr>
            <a:picLocks noChangeAspect="1"/>
          </p:cNvPicPr>
          <p:nvPr/>
        </p:nvPicPr>
        <p:blipFill>
          <a:blip r:embed="rId4"/>
          <a:stretch>
            <a:fillRect/>
          </a:stretch>
        </p:blipFill>
        <p:spPr>
          <a:xfrm>
            <a:off x="6640830" y="1840230"/>
            <a:ext cx="388620" cy="388620"/>
          </a:xfrm>
          <a:prstGeom prst="rect">
            <a:avLst/>
          </a:prstGeom>
        </p:spPr>
      </p:pic>
      <p:sp>
        <p:nvSpPr>
          <p:cNvPr id="12" name="Text 8"/>
          <p:cNvSpPr txBox="1"/>
          <p:nvPr/>
        </p:nvSpPr>
        <p:spPr>
          <a:xfrm>
            <a:off x="7452360" y="1645920"/>
            <a:ext cx="3931920" cy="411480"/>
          </a:xfrm>
          <a:prstGeom prst="rect">
            <a:avLst/>
          </a:prstGeom>
          <a:noFill/>
          <a:ln/>
        </p:spPr>
        <p:txBody>
          <a:bodyPr wrap="square" lIns="0" tIns="0" rIns="0" bIns="0" rtlCol="0" anchor="t"/>
          <a:lstStyle/>
          <a:p>
            <a:pPr marL="0" indent="0">
              <a:buNone/>
            </a:pPr>
            <a:r>
              <a:rPr lang="en-US" sz="2000" b="1" dirty="0">
                <a:solidFill>
                  <a:schemeClr val="tx2"/>
                </a:solidFill>
              </a:rPr>
              <a:t>Escalado</a:t>
            </a:r>
            <a:endParaRPr lang="en-US" sz="2000" dirty="0"/>
          </a:p>
        </p:txBody>
      </p:sp>
      <p:sp>
        <p:nvSpPr>
          <p:cNvPr id="13" name="Text 9"/>
          <p:cNvSpPr txBox="1"/>
          <p:nvPr/>
        </p:nvSpPr>
        <p:spPr>
          <a:xfrm>
            <a:off x="7452360" y="2103120"/>
            <a:ext cx="3931920" cy="640080"/>
          </a:xfrm>
          <a:prstGeom prst="rect">
            <a:avLst/>
          </a:prstGeom>
          <a:noFill/>
          <a:ln/>
        </p:spPr>
        <p:txBody>
          <a:bodyPr wrap="square" lIns="0" tIns="0" rIns="0" bIns="0" rtlCol="0" anchor="t"/>
          <a:lstStyle/>
          <a:p>
            <a:pPr marL="0" indent="0">
              <a:buNone/>
            </a:pPr>
            <a:r>
              <a:rPr lang="en-US" sz="1500" dirty="0">
                <a:solidFill>
                  <a:schemeClr val="tx1"/>
                </a:solidFill>
              </a:rPr>
              <a:t>StandardScaler dentro del Pipeline, solo logística y KNN</a:t>
            </a:r>
            <a:endParaRPr lang="en-US" sz="1500" dirty="0"/>
          </a:p>
        </p:txBody>
      </p:sp>
      <p:sp>
        <p:nvSpPr>
          <p:cNvPr id="14" name="Text 10"/>
          <p:cNvSpPr txBox="1"/>
          <p:nvPr/>
        </p:nvSpPr>
        <p:spPr>
          <a:xfrm>
            <a:off x="7452360" y="2788920"/>
            <a:ext cx="3931920" cy="685800"/>
          </a:xfrm>
          <a:prstGeom prst="rect">
            <a:avLst/>
          </a:prstGeom>
          <a:noFill/>
          <a:ln/>
        </p:spPr>
        <p:txBody>
          <a:bodyPr wrap="square" lIns="0" tIns="0" rIns="0" bIns="0" rtlCol="0" anchor="t"/>
          <a:lstStyle/>
          <a:p>
            <a:pPr marL="0" indent="0">
              <a:buNone/>
            </a:pPr>
            <a:r>
              <a:rPr lang="en-US" sz="1400" b="1" dirty="0">
                <a:solidFill>
                  <a:schemeClr val="accent2"/>
                </a:solidFill>
              </a:rPr>
              <a:t>Por qué: </a:t>
            </a:r>
            <a:r>
              <a:rPr lang="en-US" sz="1400" dirty="0">
                <a:solidFill>
                  <a:srgbClr val="6E5D52"/>
                </a:solidFill>
              </a:rPr>
              <a:t>Se ajusta en cada partición; los árboles no dependen de la escala</a:t>
            </a:r>
            <a:endParaRPr lang="en-US" sz="1400" dirty="0"/>
          </a:p>
        </p:txBody>
      </p:sp>
      <p:sp>
        <p:nvSpPr>
          <p:cNvPr id="15" name="decisión Atípicos"/>
          <p:cNvSpPr/>
          <p:nvPr/>
        </p:nvSpPr>
        <p:spPr>
          <a:xfrm>
            <a:off x="548640" y="3840480"/>
            <a:ext cx="5440680" cy="2240280"/>
          </a:xfrm>
          <a:prstGeom prst="roundRect">
            <a:avLst>
              <a:gd name="adj" fmla="val 4898"/>
            </a:avLst>
          </a:prstGeom>
          <a:solidFill>
            <a:schemeClr val="bg2"/>
          </a:solidFill>
          <a:ln/>
        </p:spPr>
        <p:txBody>
          <a:bodyPr/>
          <a:lstStyle/>
          <a:p>
            <a:endParaRPr lang="es-GT"/>
          </a:p>
        </p:txBody>
      </p:sp>
      <p:sp>
        <p:nvSpPr>
          <p:cNvPr id="16" name="icono Atípicos círculo"/>
          <p:cNvSpPr/>
          <p:nvPr/>
        </p:nvSpPr>
        <p:spPr>
          <a:xfrm>
            <a:off x="822960" y="4114800"/>
            <a:ext cx="777240" cy="777240"/>
          </a:xfrm>
          <a:prstGeom prst="ellipse">
            <a:avLst/>
          </a:prstGeom>
          <a:solidFill>
            <a:schemeClr val="accent1"/>
          </a:solidFill>
          <a:ln/>
        </p:spPr>
        <p:txBody>
          <a:bodyPr/>
          <a:lstStyle/>
          <a:p>
            <a:endParaRPr lang="es-GT"/>
          </a:p>
        </p:txBody>
      </p:sp>
      <p:pic>
        <p:nvPicPr>
          <p:cNvPr id="17" name="icono Atípicos" descr="preencoded.png"/>
          <p:cNvPicPr>
            <a:picLocks noChangeAspect="1"/>
          </p:cNvPicPr>
          <p:nvPr/>
        </p:nvPicPr>
        <p:blipFill>
          <a:blip r:embed="rId5"/>
          <a:stretch>
            <a:fillRect/>
          </a:stretch>
        </p:blipFill>
        <p:spPr>
          <a:xfrm>
            <a:off x="1017270" y="4309110"/>
            <a:ext cx="388620" cy="388620"/>
          </a:xfrm>
          <a:prstGeom prst="rect">
            <a:avLst/>
          </a:prstGeom>
        </p:spPr>
      </p:pic>
      <p:sp>
        <p:nvSpPr>
          <p:cNvPr id="18" name="Text 13"/>
          <p:cNvSpPr txBox="1"/>
          <p:nvPr/>
        </p:nvSpPr>
        <p:spPr>
          <a:xfrm>
            <a:off x="1828800" y="4114800"/>
            <a:ext cx="3931920" cy="411480"/>
          </a:xfrm>
          <a:prstGeom prst="rect">
            <a:avLst/>
          </a:prstGeom>
          <a:noFill/>
          <a:ln/>
        </p:spPr>
        <p:txBody>
          <a:bodyPr wrap="square" lIns="0" tIns="0" rIns="0" bIns="0" rtlCol="0" anchor="t"/>
          <a:lstStyle/>
          <a:p>
            <a:pPr marL="0" indent="0">
              <a:buNone/>
            </a:pPr>
            <a:r>
              <a:rPr lang="en-US" sz="2000" b="1" dirty="0">
                <a:solidFill>
                  <a:schemeClr val="tx2"/>
                </a:solidFill>
              </a:rPr>
              <a:t>Atípicos</a:t>
            </a:r>
            <a:endParaRPr lang="en-US" sz="2000" dirty="0"/>
          </a:p>
        </p:txBody>
      </p:sp>
      <p:sp>
        <p:nvSpPr>
          <p:cNvPr id="19" name="Text 14"/>
          <p:cNvSpPr txBox="1"/>
          <p:nvPr/>
        </p:nvSpPr>
        <p:spPr>
          <a:xfrm>
            <a:off x="1828800" y="4572000"/>
            <a:ext cx="3931920" cy="640080"/>
          </a:xfrm>
          <a:prstGeom prst="rect">
            <a:avLst/>
          </a:prstGeom>
          <a:noFill/>
          <a:ln/>
        </p:spPr>
        <p:txBody>
          <a:bodyPr wrap="square" lIns="0" tIns="0" rIns="0" bIns="0" rtlCol="0" anchor="t"/>
          <a:lstStyle/>
          <a:p>
            <a:pPr marL="0" indent="0">
              <a:buNone/>
            </a:pPr>
            <a:r>
              <a:rPr lang="en-US" sz="1500" dirty="0">
                <a:solidFill>
                  <a:schemeClr val="tx1"/>
                </a:solidFill>
              </a:rPr>
              <a:t>Se conservan</a:t>
            </a:r>
            <a:endParaRPr lang="en-US" sz="1500" dirty="0"/>
          </a:p>
        </p:txBody>
      </p:sp>
      <p:sp>
        <p:nvSpPr>
          <p:cNvPr id="20" name="Text 15"/>
          <p:cNvSpPr txBox="1"/>
          <p:nvPr/>
        </p:nvSpPr>
        <p:spPr>
          <a:xfrm>
            <a:off x="1828800" y="5257800"/>
            <a:ext cx="3931920" cy="685800"/>
          </a:xfrm>
          <a:prstGeom prst="rect">
            <a:avLst/>
          </a:prstGeom>
          <a:noFill/>
          <a:ln/>
        </p:spPr>
        <p:txBody>
          <a:bodyPr wrap="square" lIns="0" tIns="0" rIns="0" bIns="0" rtlCol="0" anchor="t"/>
          <a:lstStyle/>
          <a:p>
            <a:pPr marL="0" indent="0">
              <a:buNone/>
            </a:pPr>
            <a:r>
              <a:rPr lang="en-US" sz="1400" b="1" dirty="0">
                <a:solidFill>
                  <a:schemeClr val="accent2"/>
                </a:solidFill>
              </a:rPr>
              <a:t>Por qué: </a:t>
            </a:r>
            <a:r>
              <a:rPr lang="en-US" sz="1400" dirty="0">
                <a:solidFill>
                  <a:srgbClr val="6E5D52"/>
                </a:solidFill>
              </a:rPr>
              <a:t>Son semillas reales (casi todas BOMBAY), no errores de medición</a:t>
            </a:r>
            <a:endParaRPr lang="en-US" sz="1400" dirty="0"/>
          </a:p>
        </p:txBody>
      </p:sp>
      <p:sp>
        <p:nvSpPr>
          <p:cNvPr id="21" name="decisión Desbalance"/>
          <p:cNvSpPr/>
          <p:nvPr/>
        </p:nvSpPr>
        <p:spPr>
          <a:xfrm>
            <a:off x="6172200" y="3840480"/>
            <a:ext cx="5440680" cy="2240280"/>
          </a:xfrm>
          <a:prstGeom prst="roundRect">
            <a:avLst>
              <a:gd name="adj" fmla="val 4898"/>
            </a:avLst>
          </a:prstGeom>
          <a:solidFill>
            <a:schemeClr val="bg2"/>
          </a:solidFill>
          <a:ln/>
        </p:spPr>
        <p:txBody>
          <a:bodyPr/>
          <a:lstStyle/>
          <a:p>
            <a:endParaRPr lang="es-GT"/>
          </a:p>
        </p:txBody>
      </p:sp>
      <p:sp>
        <p:nvSpPr>
          <p:cNvPr id="22" name="icono Desbalance círculo"/>
          <p:cNvSpPr/>
          <p:nvPr/>
        </p:nvSpPr>
        <p:spPr>
          <a:xfrm>
            <a:off x="6446520" y="4114800"/>
            <a:ext cx="777240" cy="777240"/>
          </a:xfrm>
          <a:prstGeom prst="ellipse">
            <a:avLst/>
          </a:prstGeom>
          <a:solidFill>
            <a:schemeClr val="accent1"/>
          </a:solidFill>
          <a:ln/>
        </p:spPr>
        <p:txBody>
          <a:bodyPr/>
          <a:lstStyle/>
          <a:p>
            <a:endParaRPr lang="es-GT"/>
          </a:p>
        </p:txBody>
      </p:sp>
      <p:pic>
        <p:nvPicPr>
          <p:cNvPr id="23" name="icono Desbalance" descr="preencoded.png"/>
          <p:cNvPicPr>
            <a:picLocks noChangeAspect="1"/>
          </p:cNvPicPr>
          <p:nvPr/>
        </p:nvPicPr>
        <p:blipFill>
          <a:blip r:embed="rId6"/>
          <a:stretch>
            <a:fillRect/>
          </a:stretch>
        </p:blipFill>
        <p:spPr>
          <a:xfrm>
            <a:off x="6640830" y="4309110"/>
            <a:ext cx="388620" cy="388620"/>
          </a:xfrm>
          <a:prstGeom prst="rect">
            <a:avLst/>
          </a:prstGeom>
        </p:spPr>
      </p:pic>
      <p:sp>
        <p:nvSpPr>
          <p:cNvPr id="24" name="Text 18"/>
          <p:cNvSpPr txBox="1"/>
          <p:nvPr/>
        </p:nvSpPr>
        <p:spPr>
          <a:xfrm>
            <a:off x="7452360" y="4114800"/>
            <a:ext cx="3931920" cy="411480"/>
          </a:xfrm>
          <a:prstGeom prst="rect">
            <a:avLst/>
          </a:prstGeom>
          <a:noFill/>
          <a:ln/>
        </p:spPr>
        <p:txBody>
          <a:bodyPr wrap="square" lIns="0" tIns="0" rIns="0" bIns="0" rtlCol="0" anchor="t"/>
          <a:lstStyle/>
          <a:p>
            <a:pPr marL="0" indent="0">
              <a:buNone/>
            </a:pPr>
            <a:r>
              <a:rPr lang="en-US" sz="2000" b="1" dirty="0">
                <a:solidFill>
                  <a:schemeClr val="tx2"/>
                </a:solidFill>
              </a:rPr>
              <a:t>Desbalance</a:t>
            </a:r>
            <a:endParaRPr lang="en-US" sz="2000" dirty="0"/>
          </a:p>
        </p:txBody>
      </p:sp>
      <p:sp>
        <p:nvSpPr>
          <p:cNvPr id="25" name="Text 19"/>
          <p:cNvSpPr txBox="1"/>
          <p:nvPr/>
        </p:nvSpPr>
        <p:spPr>
          <a:xfrm>
            <a:off x="7452360" y="4572000"/>
            <a:ext cx="3931920" cy="640080"/>
          </a:xfrm>
          <a:prstGeom prst="rect">
            <a:avLst/>
          </a:prstGeom>
          <a:noFill/>
          <a:ln/>
        </p:spPr>
        <p:txBody>
          <a:bodyPr wrap="square" lIns="0" tIns="0" rIns="0" bIns="0" rtlCol="0" anchor="t"/>
          <a:lstStyle/>
          <a:p>
            <a:pPr marL="0" indent="0">
              <a:buNone/>
            </a:pPr>
            <a:r>
              <a:rPr lang="en-US" sz="1500" dirty="0">
                <a:solidFill>
                  <a:schemeClr val="tx1"/>
                </a:solidFill>
              </a:rPr>
              <a:t>Estratificación + F1 macro; se probó class_weight</a:t>
            </a:r>
            <a:endParaRPr lang="en-US" sz="1500" dirty="0"/>
          </a:p>
        </p:txBody>
      </p:sp>
      <p:sp>
        <p:nvSpPr>
          <p:cNvPr id="26" name="Text 20"/>
          <p:cNvSpPr txBox="1"/>
          <p:nvPr/>
        </p:nvSpPr>
        <p:spPr>
          <a:xfrm>
            <a:off x="7452360" y="5257800"/>
            <a:ext cx="3931920" cy="685800"/>
          </a:xfrm>
          <a:prstGeom prst="rect">
            <a:avLst/>
          </a:prstGeom>
          <a:noFill/>
          <a:ln/>
        </p:spPr>
        <p:txBody>
          <a:bodyPr wrap="square" lIns="0" tIns="0" rIns="0" bIns="0" rtlCol="0" anchor="t"/>
          <a:lstStyle/>
          <a:p>
            <a:pPr marL="0" indent="0">
              <a:buNone/>
            </a:pPr>
            <a:r>
              <a:rPr lang="en-US" sz="1400" b="1" dirty="0">
                <a:solidFill>
                  <a:schemeClr val="accent2"/>
                </a:solidFill>
              </a:rPr>
              <a:t>Por qué: </a:t>
            </a:r>
            <a:r>
              <a:rPr lang="en-US" sz="1400" dirty="0">
                <a:solidFill>
                  <a:srgbClr val="6E5D52"/>
                </a:solidFill>
              </a:rPr>
              <a:t>Las clases pequeñas cuentan igual que las grandes</a:t>
            </a:r>
            <a:endParaRPr lang="en-US" sz="1400" dirty="0"/>
          </a:p>
        </p:txBody>
      </p:sp>
      <p:sp>
        <p:nvSpPr>
          <p:cNvPr id="27"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El punto de partida: el baseline</a:t>
            </a:r>
            <a:endParaRPr lang="en-US" sz="3200" dirty="0"/>
          </a:p>
        </p:txBody>
      </p:sp>
      <p:sp>
        <p:nvSpPr>
          <p:cNvPr id="3" name="tarjeta baseline"/>
          <p:cNvSpPr/>
          <p:nvPr/>
        </p:nvSpPr>
        <p:spPr>
          <a:xfrm>
            <a:off x="548640" y="1371600"/>
            <a:ext cx="5120640" cy="4754880"/>
          </a:xfrm>
          <a:prstGeom prst="roundRect">
            <a:avLst>
              <a:gd name="adj" fmla="val 2308"/>
            </a:avLst>
          </a:prstGeom>
          <a:solidFill>
            <a:schemeClr val="bg2"/>
          </a:solidFill>
          <a:ln/>
        </p:spPr>
        <p:txBody>
          <a:bodyPr/>
          <a:lstStyle/>
          <a:p>
            <a:endParaRPr lang="es-GT"/>
          </a:p>
        </p:txBody>
      </p:sp>
      <p:sp>
        <p:nvSpPr>
          <p:cNvPr id="4" name="icono baseline círculo"/>
          <p:cNvSpPr/>
          <p:nvPr/>
        </p:nvSpPr>
        <p:spPr>
          <a:xfrm>
            <a:off x="868680" y="1691640"/>
            <a:ext cx="914400" cy="914400"/>
          </a:xfrm>
          <a:prstGeom prst="ellipse">
            <a:avLst/>
          </a:prstGeom>
          <a:solidFill>
            <a:schemeClr val="accent6"/>
          </a:solidFill>
          <a:ln/>
        </p:spPr>
        <p:txBody>
          <a:bodyPr/>
          <a:lstStyle/>
          <a:p>
            <a:endParaRPr lang="es-GT"/>
          </a:p>
        </p:txBody>
      </p:sp>
      <p:pic>
        <p:nvPicPr>
          <p:cNvPr id="5" name="icono baseline" descr="preencoded.png"/>
          <p:cNvPicPr>
            <a:picLocks noChangeAspect="1"/>
          </p:cNvPicPr>
          <p:nvPr/>
        </p:nvPicPr>
        <p:blipFill>
          <a:blip r:embed="rId3"/>
          <a:stretch>
            <a:fillRect/>
          </a:stretch>
        </p:blipFill>
        <p:spPr>
          <a:xfrm>
            <a:off x="1097280" y="1920240"/>
            <a:ext cx="457200" cy="457200"/>
          </a:xfrm>
          <a:prstGeom prst="rect">
            <a:avLst/>
          </a:prstGeom>
        </p:spPr>
      </p:pic>
      <p:sp>
        <p:nvSpPr>
          <p:cNvPr id="6" name="Text 3"/>
          <p:cNvSpPr txBox="1"/>
          <p:nvPr/>
        </p:nvSpPr>
        <p:spPr>
          <a:xfrm>
            <a:off x="1965960" y="1783080"/>
            <a:ext cx="3474720" cy="731520"/>
          </a:xfrm>
          <a:prstGeom prst="rect">
            <a:avLst/>
          </a:prstGeom>
          <a:noFill/>
          <a:ln/>
        </p:spPr>
        <p:txBody>
          <a:bodyPr wrap="square" lIns="0" tIns="0" rIns="0" bIns="0" rtlCol="0" anchor="ctr"/>
          <a:lstStyle/>
          <a:p>
            <a:pPr marL="0" indent="0">
              <a:buNone/>
            </a:pPr>
            <a:r>
              <a:rPr lang="en-US" sz="2000" b="1" dirty="0">
                <a:solidFill>
                  <a:schemeClr val="tx2"/>
                </a:solidFill>
              </a:rPr>
              <a:t>Siempre responde DERMASON</a:t>
            </a:r>
            <a:endParaRPr lang="en-US" sz="2000" dirty="0"/>
          </a:p>
        </p:txBody>
      </p:sp>
      <p:sp>
        <p:nvSpPr>
          <p:cNvPr id="7" name="Text 4"/>
          <p:cNvSpPr txBox="1"/>
          <p:nvPr/>
        </p:nvSpPr>
        <p:spPr>
          <a:xfrm>
            <a:off x="868680" y="2971800"/>
            <a:ext cx="2194560" cy="822960"/>
          </a:xfrm>
          <a:prstGeom prst="rect">
            <a:avLst/>
          </a:prstGeom>
          <a:noFill/>
          <a:ln/>
        </p:spPr>
        <p:txBody>
          <a:bodyPr wrap="square" lIns="0" tIns="0" rIns="0" bIns="0" rtlCol="0" anchor="t"/>
          <a:lstStyle/>
          <a:p>
            <a:pPr marL="0" indent="0">
              <a:buNone/>
            </a:pPr>
            <a:r>
              <a:rPr lang="en-US" sz="4200" b="1" dirty="0">
                <a:solidFill>
                  <a:schemeClr val="accent6"/>
                </a:solidFill>
                <a:latin typeface="Cambria" pitchFamily="34" charset="0"/>
                <a:ea typeface="Cambria" pitchFamily="34" charset="-122"/>
                <a:cs typeface="Cambria" pitchFamily="34" charset="-120"/>
              </a:rPr>
              <a:t>26.2 %</a:t>
            </a:r>
            <a:endParaRPr lang="en-US" sz="4200" dirty="0"/>
          </a:p>
        </p:txBody>
      </p:sp>
      <p:sp>
        <p:nvSpPr>
          <p:cNvPr id="8" name="Text 5"/>
          <p:cNvSpPr txBox="1"/>
          <p:nvPr/>
        </p:nvSpPr>
        <p:spPr>
          <a:xfrm>
            <a:off x="868680" y="3794760"/>
            <a:ext cx="2194560" cy="365760"/>
          </a:xfrm>
          <a:prstGeom prst="rect">
            <a:avLst/>
          </a:prstGeom>
          <a:noFill/>
          <a:ln/>
        </p:spPr>
        <p:txBody>
          <a:bodyPr wrap="square" lIns="0" tIns="0" rIns="0" bIns="0" rtlCol="0" anchor="t"/>
          <a:lstStyle/>
          <a:p>
            <a:pPr marL="0" indent="0">
              <a:buNone/>
            </a:pPr>
            <a:r>
              <a:rPr lang="en-US" sz="1500" dirty="0">
                <a:solidFill>
                  <a:srgbClr val="6E5D52"/>
                </a:solidFill>
              </a:rPr>
              <a:t>accuracy</a:t>
            </a:r>
            <a:endParaRPr lang="en-US" sz="1500" dirty="0"/>
          </a:p>
        </p:txBody>
      </p:sp>
      <p:sp>
        <p:nvSpPr>
          <p:cNvPr id="9" name="Text 6"/>
          <p:cNvSpPr txBox="1"/>
          <p:nvPr/>
        </p:nvSpPr>
        <p:spPr>
          <a:xfrm>
            <a:off x="3154680" y="2971800"/>
            <a:ext cx="2286000" cy="822960"/>
          </a:xfrm>
          <a:prstGeom prst="rect">
            <a:avLst/>
          </a:prstGeom>
          <a:noFill/>
          <a:ln/>
        </p:spPr>
        <p:txBody>
          <a:bodyPr wrap="square" lIns="0" tIns="0" rIns="0" bIns="0" rtlCol="0" anchor="t"/>
          <a:lstStyle/>
          <a:p>
            <a:pPr marL="0" indent="0">
              <a:buNone/>
            </a:pPr>
            <a:r>
              <a:rPr lang="en-US" sz="4200" b="1" dirty="0">
                <a:solidFill>
                  <a:schemeClr val="accent2"/>
                </a:solidFill>
                <a:latin typeface="Cambria" pitchFamily="34" charset="0"/>
                <a:ea typeface="Cambria" pitchFamily="34" charset="-122"/>
                <a:cs typeface="Cambria" pitchFamily="34" charset="-120"/>
              </a:rPr>
              <a:t>0.059</a:t>
            </a:r>
            <a:endParaRPr lang="en-US" sz="4200" dirty="0"/>
          </a:p>
        </p:txBody>
      </p:sp>
      <p:sp>
        <p:nvSpPr>
          <p:cNvPr id="10" name="Text 7"/>
          <p:cNvSpPr txBox="1"/>
          <p:nvPr/>
        </p:nvSpPr>
        <p:spPr>
          <a:xfrm>
            <a:off x="3154680" y="3794760"/>
            <a:ext cx="2286000" cy="365760"/>
          </a:xfrm>
          <a:prstGeom prst="rect">
            <a:avLst/>
          </a:prstGeom>
          <a:noFill/>
          <a:ln/>
        </p:spPr>
        <p:txBody>
          <a:bodyPr wrap="square" lIns="0" tIns="0" rIns="0" bIns="0" rtlCol="0" anchor="t"/>
          <a:lstStyle/>
          <a:p>
            <a:pPr marL="0" indent="0">
              <a:buNone/>
            </a:pPr>
            <a:r>
              <a:rPr lang="en-US" sz="1500" dirty="0">
                <a:solidFill>
                  <a:srgbClr val="6E5D52"/>
                </a:solidFill>
              </a:rPr>
              <a:t>F1 macro</a:t>
            </a:r>
            <a:endParaRPr lang="en-US" sz="1500" dirty="0"/>
          </a:p>
        </p:txBody>
      </p:sp>
      <p:sp>
        <p:nvSpPr>
          <p:cNvPr id="11" name="Text 8"/>
          <p:cNvSpPr txBox="1"/>
          <p:nvPr/>
        </p:nvSpPr>
        <p:spPr>
          <a:xfrm>
            <a:off x="868680" y="4480560"/>
            <a:ext cx="4572000" cy="1371600"/>
          </a:xfrm>
          <a:prstGeom prst="rect">
            <a:avLst/>
          </a:prstGeom>
          <a:noFill/>
          <a:ln/>
        </p:spPr>
        <p:txBody>
          <a:bodyPr wrap="square" lIns="0" tIns="0" rIns="0" bIns="0" rtlCol="0" anchor="t"/>
          <a:lstStyle/>
          <a:p>
            <a:pPr marL="0" indent="0">
              <a:buNone/>
            </a:pPr>
            <a:r>
              <a:rPr lang="en-US" sz="1400" dirty="0">
                <a:solidFill>
                  <a:schemeClr val="tx1"/>
                </a:solidFill>
              </a:rPr>
              <a:t>Acierta 1 de cada 4 sin aprender nada, pero no reconoce las otras 6 variedades. Es el piso que cualquier modelo debe superar.</a:t>
            </a:r>
            <a:endParaRPr lang="en-US" sz="1400" dirty="0"/>
          </a:p>
        </p:txBody>
      </p:sp>
      <p:graphicFrame>
        <p:nvGraphicFramePr>
          <p:cNvPr id="12" name="gráfica baseline"/>
          <p:cNvGraphicFramePr/>
          <p:nvPr/>
        </p:nvGraphicFramePr>
        <p:xfrm>
          <a:off x="6035040" y="1280160"/>
          <a:ext cx="5577840" cy="4846320"/>
        </p:xfrm>
        <a:graphic>
          <a:graphicData uri="http://schemas.openxmlformats.org/drawingml/2006/chart">
            <c:chart xmlns:c="http://schemas.openxmlformats.org/drawingml/2006/chart" xmlns:r="http://schemas.openxmlformats.org/officeDocument/2006/relationships" r:id="rId4"/>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Búsqueda de hiperparámetros</a:t>
            </a:r>
            <a:endParaRPr lang="en-US" sz="3200" dirty="0"/>
          </a:p>
        </p:txBody>
      </p:sp>
      <p:graphicFrame>
        <p:nvGraphicFramePr>
          <p:cNvPr id="10" name="tabla hiperparámetros"/>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2852928"/>
        </p:xfrm>
        <a:graphic>
          <a:graphicData uri="http://schemas.openxmlformats.org/drawingml/2006/table">
            <a:tbl>
              <a:tblPr/>
              <a:tblGrid>
                <a:gridCol w="24688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66928">
                <a:tc>
                  <a:txBody>
                    <a:bodyPr/>
                    <a:lstStyle/>
                    <a:p>
                      <a:pPr marL="0" indent="0">
                        <a:buNone/>
                      </a:pPr>
                      <a:r>
                        <a:rPr lang="en-US" sz="1400" b="1" dirty="0">
                          <a:solidFill>
                            <a:srgbClr val="FFFFFF"/>
                          </a:solidFill>
                        </a:rPr>
                        <a:t>Modelo</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4A3428"/>
                    </a:solidFill>
                  </a:tcPr>
                </a:tc>
                <a:tc>
                  <a:txBody>
                    <a:bodyPr/>
                    <a:lstStyle/>
                    <a:p>
                      <a:pPr marL="0" indent="0">
                        <a:buNone/>
                      </a:pPr>
                      <a:r>
                        <a:rPr lang="en-US" sz="1400" b="1" dirty="0">
                          <a:solidFill>
                            <a:srgbClr val="FFFFFF"/>
                          </a:solidFill>
                        </a:rPr>
                        <a:t>Qué se probó</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4A3428"/>
                    </a:solidFill>
                  </a:tcPr>
                </a:tc>
                <a:tc>
                  <a:txBody>
                    <a:bodyPr/>
                    <a:lstStyle/>
                    <a:p>
                      <a:pPr marL="0" indent="0">
                        <a:buNone/>
                      </a:pPr>
                      <a:r>
                        <a:rPr lang="en-US" sz="1400" b="1" dirty="0">
                          <a:solidFill>
                            <a:srgbClr val="FFFFFF"/>
                          </a:solidFill>
                        </a:rPr>
                        <a:t>Combinaciones</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4A3428"/>
                    </a:solidFill>
                  </a:tcPr>
                </a:tc>
                <a:tc>
                  <a:txBody>
                    <a:bodyPr/>
                    <a:lstStyle/>
                    <a:p>
                      <a:pPr marL="0" indent="0">
                        <a:buNone/>
                      </a:pPr>
                      <a:r>
                        <a:rPr lang="en-US" sz="1400" b="1" dirty="0">
                          <a:solidFill>
                            <a:srgbClr val="FFFFFF"/>
                          </a:solidFill>
                        </a:rPr>
                        <a:t>Mejor configuración</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4A3428"/>
                    </a:solidFill>
                  </a:tcPr>
                </a:tc>
                <a:extLst>
                  <a:ext uri="{0D108BD9-81ED-4DB2-BD59-A6C34878D82A}">
                    <a16:rowId xmlns:a16="http://schemas.microsoft.com/office/drawing/2014/main" val="10000"/>
                  </a:ext>
                </a:extLst>
              </a:tr>
              <a:tr h="566928">
                <a:tc>
                  <a:txBody>
                    <a:bodyPr/>
                    <a:lstStyle/>
                    <a:p>
                      <a:pPr marL="0" indent="0" algn="l">
                        <a:buNone/>
                      </a:pPr>
                      <a:r>
                        <a:rPr lang="en-US" sz="1400" b="1" dirty="0">
                          <a:solidFill>
                            <a:srgbClr val="2B1D14"/>
                          </a:solidFill>
                        </a:rPr>
                        <a:t>Regresión logística</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B1D14"/>
                          </a:solidFill>
                        </a:rPr>
                        <a:t>C: 0.01 · 0.1 · 1 · 10  ×  pesos por clase</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8</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B1D14"/>
                          </a:solidFill>
                        </a:rPr>
                        <a:t>C = 10, sin pesos</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400" b="1" dirty="0">
                          <a:solidFill>
                            <a:srgbClr val="2B1D14"/>
                          </a:solidFill>
                        </a:rPr>
                        <a:t>KNN</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3EEE7"/>
                    </a:solidFill>
                  </a:tcPr>
                </a:tc>
                <a:tc>
                  <a:txBody>
                    <a:bodyPr/>
                    <a:lstStyle/>
                    <a:p>
                      <a:pPr marL="0" indent="0" algn="l">
                        <a:buNone/>
                      </a:pPr>
                      <a:r>
                        <a:rPr lang="en-US" sz="1400" dirty="0">
                          <a:solidFill>
                            <a:srgbClr val="2B1D14"/>
                          </a:solidFill>
                        </a:rPr>
                        <a:t>Vecinos 3–25  ×  uniforme/distancia  ×  Manhattan/euclidiana</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3EEE7"/>
                    </a:solidFill>
                  </a:tcPr>
                </a:tc>
                <a:tc>
                  <a:txBody>
                    <a:bodyPr/>
                    <a:lstStyle/>
                    <a:p>
                      <a:pPr marL="0" indent="0" algn="ctr">
                        <a:buNone/>
                      </a:pPr>
                      <a:r>
                        <a:rPr lang="en-US" sz="1400" dirty="0">
                          <a:solidFill>
                            <a:srgbClr val="2B1D14"/>
                          </a:solidFill>
                        </a:rPr>
                        <a:t>20</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3EEE7"/>
                    </a:solidFill>
                  </a:tcPr>
                </a:tc>
                <a:tc>
                  <a:txBody>
                    <a:bodyPr/>
                    <a:lstStyle/>
                    <a:p>
                      <a:pPr marL="0" indent="0" algn="l">
                        <a:buNone/>
                      </a:pPr>
                      <a:r>
                        <a:rPr lang="en-US" sz="1400" dirty="0">
                          <a:solidFill>
                            <a:srgbClr val="2B1D14"/>
                          </a:solidFill>
                        </a:rPr>
                        <a:t>25 vecinos, distancia, euclidiana</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3EEE7"/>
                    </a:solidFill>
                  </a:tcPr>
                </a:tc>
                <a:extLst>
                  <a:ext uri="{0D108BD9-81ED-4DB2-BD59-A6C34878D82A}">
                    <a16:rowId xmlns:a16="http://schemas.microsoft.com/office/drawing/2014/main" val="10002"/>
                  </a:ext>
                </a:extLst>
              </a:tr>
              <a:tr h="566928">
                <a:tc>
                  <a:txBody>
                    <a:bodyPr/>
                    <a:lstStyle/>
                    <a:p>
                      <a:pPr marL="0" indent="0" algn="l">
                        <a:buNone/>
                      </a:pPr>
                      <a:r>
                        <a:rPr lang="en-US" sz="1400" b="1" dirty="0">
                          <a:solidFill>
                            <a:srgbClr val="2B1D14"/>
                          </a:solidFill>
                        </a:rPr>
                        <a:t>Árbol de decisión</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B1D14"/>
                          </a:solidFill>
                        </a:rPr>
                        <a:t>Gini/entropía  ×  profundidad 4–sin límite  ×  semillas por hoja  ×  pesos</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112</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2B1D14"/>
                          </a:solidFill>
                        </a:rPr>
                        <a:t>Entropía, profundidad 10, hoja 5</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400" b="1" dirty="0">
                          <a:solidFill>
                            <a:srgbClr val="2B1D14"/>
                          </a:solidFill>
                        </a:rPr>
                        <a:t>Random forest (200 árboles)</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3EEE7"/>
                    </a:solidFill>
                  </a:tcPr>
                </a:tc>
                <a:tc>
                  <a:txBody>
                    <a:bodyPr/>
                    <a:lstStyle/>
                    <a:p>
                      <a:pPr marL="0" indent="0" algn="l">
                        <a:buNone/>
                      </a:pPr>
                      <a:r>
                        <a:rPr lang="en-US" sz="1400" dirty="0">
                          <a:solidFill>
                            <a:srgbClr val="2B1D14"/>
                          </a:solidFill>
                        </a:rPr>
                        <a:t>Profundidad  ×  semillas por hoja  ×  variables por corte  ×  pesos</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3EEE7"/>
                    </a:solidFill>
                  </a:tcPr>
                </a:tc>
                <a:tc>
                  <a:txBody>
                    <a:bodyPr/>
                    <a:lstStyle/>
                    <a:p>
                      <a:pPr marL="0" indent="0" algn="ctr">
                        <a:buNone/>
                      </a:pPr>
                      <a:r>
                        <a:rPr lang="en-US" sz="1400" dirty="0">
                          <a:solidFill>
                            <a:srgbClr val="2B1D14"/>
                          </a:solidFill>
                        </a:rPr>
                        <a:t>16</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3EEE7"/>
                    </a:solidFill>
                  </a:tcPr>
                </a:tc>
                <a:tc>
                  <a:txBody>
                    <a:bodyPr/>
                    <a:lstStyle/>
                    <a:p>
                      <a:pPr marL="0" indent="0" algn="l">
                        <a:buNone/>
                      </a:pPr>
                      <a:r>
                        <a:rPr lang="en-US" sz="1400" dirty="0">
                          <a:solidFill>
                            <a:srgbClr val="2B1D14"/>
                          </a:solidFill>
                        </a:rPr>
                        <a:t>Sin límite, hoja 4, 50 % variables</a:t>
                      </a:r>
                      <a:endParaRPr lang="en-US" sz="1400" dirty="0"/>
                    </a:p>
                  </a:txBody>
                  <a:tcPr marL="73152" marR="73152" marT="73152" marB="73152" anchor="ctr">
                    <a:lnL w="9525" cap="flat" cmpd="sng" algn="ctr">
                      <a:solidFill>
                        <a:srgbClr val="E1D8CC"/>
                      </a:solidFill>
                      <a:prstDash val="solid"/>
                      <a:round/>
                      <a:headEnd type="none" w="med" len="med"/>
                      <a:tailEnd type="none" w="med" len="med"/>
                    </a:lnL>
                    <a:lnR w="9525" cap="flat" cmpd="sng" algn="ctr">
                      <a:solidFill>
                        <a:srgbClr val="E1D8CC"/>
                      </a:solidFill>
                      <a:prstDash val="solid"/>
                      <a:round/>
                      <a:headEnd type="none" w="med" len="med"/>
                      <a:tailEnd type="none" w="med" len="med"/>
                    </a:lnR>
                    <a:lnT w="9525" cap="flat" cmpd="sng" algn="ctr">
                      <a:solidFill>
                        <a:srgbClr val="E1D8CC"/>
                      </a:solidFill>
                      <a:prstDash val="solid"/>
                      <a:round/>
                      <a:headEnd type="none" w="med" len="med"/>
                      <a:tailEnd type="none" w="med" len="med"/>
                    </a:lnT>
                    <a:lnB w="9525" cap="flat" cmpd="sng" algn="ctr">
                      <a:solidFill>
                        <a:srgbClr val="E1D8CC"/>
                      </a:solidFill>
                      <a:prstDash val="solid"/>
                      <a:round/>
                      <a:headEnd type="none" w="med" len="med"/>
                      <a:tailEnd type="none" w="med" len="med"/>
                    </a:lnB>
                    <a:solidFill>
                      <a:srgbClr val="F3EEE7"/>
                    </a:solidFill>
                  </a:tcPr>
                </a:tc>
                <a:extLst>
                  <a:ext uri="{0D108BD9-81ED-4DB2-BD59-A6C34878D82A}">
                    <a16:rowId xmlns:a16="http://schemas.microsoft.com/office/drawing/2014/main" val="10004"/>
                  </a:ext>
                </a:extLst>
              </a:tr>
            </a:tbl>
          </a:graphicData>
        </a:graphic>
      </p:graphicFrame>
      <p:sp>
        <p:nvSpPr>
          <p:cNvPr id="4" name="dato combinaciones en total"/>
          <p:cNvSpPr/>
          <p:nvPr/>
        </p:nvSpPr>
        <p:spPr>
          <a:xfrm>
            <a:off x="548640" y="4572000"/>
            <a:ext cx="3474720" cy="1554480"/>
          </a:xfrm>
          <a:prstGeom prst="roundRect">
            <a:avLst>
              <a:gd name="adj" fmla="val 7059"/>
            </a:avLst>
          </a:prstGeom>
          <a:solidFill>
            <a:schemeClr val="bg2"/>
          </a:solidFill>
          <a:ln/>
        </p:spPr>
        <p:txBody>
          <a:bodyPr/>
          <a:lstStyle/>
          <a:p>
            <a:endParaRPr lang="es-GT"/>
          </a:p>
        </p:txBody>
      </p:sp>
      <p:sp>
        <p:nvSpPr>
          <p:cNvPr id="5" name="Text 2"/>
          <p:cNvSpPr txBox="1"/>
          <p:nvPr/>
        </p:nvSpPr>
        <p:spPr>
          <a:xfrm>
            <a:off x="822960" y="4709160"/>
            <a:ext cx="2926080" cy="77724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157</a:t>
            </a:r>
            <a:endParaRPr lang="en-US" sz="4000" dirty="0"/>
          </a:p>
        </p:txBody>
      </p:sp>
      <p:sp>
        <p:nvSpPr>
          <p:cNvPr id="6" name="Text 3"/>
          <p:cNvSpPr txBox="1"/>
          <p:nvPr/>
        </p:nvSpPr>
        <p:spPr>
          <a:xfrm>
            <a:off x="822960" y="5486400"/>
            <a:ext cx="2926080" cy="457200"/>
          </a:xfrm>
          <a:prstGeom prst="rect">
            <a:avLst/>
          </a:prstGeom>
          <a:noFill/>
          <a:ln/>
        </p:spPr>
        <p:txBody>
          <a:bodyPr wrap="square" lIns="0" tIns="0" rIns="0" bIns="0" rtlCol="0" anchor="t"/>
          <a:lstStyle/>
          <a:p>
            <a:pPr marL="0" indent="0">
              <a:buNone/>
            </a:pPr>
            <a:r>
              <a:rPr lang="en-US" sz="1500" dirty="0">
                <a:solidFill>
                  <a:schemeClr val="tx2"/>
                </a:solidFill>
              </a:rPr>
              <a:t>combinaciones en total</a:t>
            </a:r>
            <a:endParaRPr lang="en-US" sz="1500" dirty="0"/>
          </a:p>
        </p:txBody>
      </p:sp>
      <p:sp>
        <p:nvSpPr>
          <p:cNvPr id="7" name="dato particiones por combinación"/>
          <p:cNvSpPr/>
          <p:nvPr/>
        </p:nvSpPr>
        <p:spPr>
          <a:xfrm>
            <a:off x="4297680" y="4572000"/>
            <a:ext cx="3474720" cy="1554480"/>
          </a:xfrm>
          <a:prstGeom prst="roundRect">
            <a:avLst>
              <a:gd name="adj" fmla="val 7059"/>
            </a:avLst>
          </a:prstGeom>
          <a:solidFill>
            <a:schemeClr val="bg2"/>
          </a:solidFill>
          <a:ln/>
        </p:spPr>
        <p:txBody>
          <a:bodyPr/>
          <a:lstStyle/>
          <a:p>
            <a:endParaRPr lang="es-GT"/>
          </a:p>
        </p:txBody>
      </p:sp>
      <p:sp>
        <p:nvSpPr>
          <p:cNvPr id="8" name="Text 5"/>
          <p:cNvSpPr txBox="1"/>
          <p:nvPr/>
        </p:nvSpPr>
        <p:spPr>
          <a:xfrm>
            <a:off x="4572000" y="4709160"/>
            <a:ext cx="2926080" cy="77724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5</a:t>
            </a:r>
            <a:endParaRPr lang="en-US" sz="4000" dirty="0"/>
          </a:p>
        </p:txBody>
      </p:sp>
      <p:sp>
        <p:nvSpPr>
          <p:cNvPr id="9" name="Text 6"/>
          <p:cNvSpPr txBox="1"/>
          <p:nvPr/>
        </p:nvSpPr>
        <p:spPr>
          <a:xfrm>
            <a:off x="4572000" y="5486400"/>
            <a:ext cx="2926080" cy="457200"/>
          </a:xfrm>
          <a:prstGeom prst="rect">
            <a:avLst/>
          </a:prstGeom>
          <a:noFill/>
          <a:ln/>
        </p:spPr>
        <p:txBody>
          <a:bodyPr wrap="square" lIns="0" tIns="0" rIns="0" bIns="0" rtlCol="0" anchor="t"/>
          <a:lstStyle/>
          <a:p>
            <a:pPr marL="0" indent="0">
              <a:buNone/>
            </a:pPr>
            <a:r>
              <a:rPr lang="en-US" sz="1500" dirty="0">
                <a:solidFill>
                  <a:schemeClr val="tx2"/>
                </a:solidFill>
              </a:rPr>
              <a:t>particiones por combinación</a:t>
            </a:r>
            <a:endParaRPr lang="en-US" sz="1500" dirty="0"/>
          </a:p>
        </p:txBody>
      </p:sp>
      <p:sp>
        <p:nvSpPr>
          <p:cNvPr id="3" name="dato entrenamientos evaluados"/>
          <p:cNvSpPr/>
          <p:nvPr/>
        </p:nvSpPr>
        <p:spPr>
          <a:xfrm>
            <a:off x="8046720" y="4572000"/>
            <a:ext cx="3474720" cy="1554480"/>
          </a:xfrm>
          <a:prstGeom prst="roundRect">
            <a:avLst>
              <a:gd name="adj" fmla="val 7059"/>
            </a:avLst>
          </a:prstGeom>
          <a:solidFill>
            <a:schemeClr val="bg2"/>
          </a:solidFill>
          <a:ln/>
        </p:spPr>
        <p:txBody>
          <a:bodyPr/>
          <a:lstStyle/>
          <a:p>
            <a:endParaRPr lang="es-GT"/>
          </a:p>
        </p:txBody>
      </p:sp>
      <p:sp>
        <p:nvSpPr>
          <p:cNvPr id="11" name="Text 8"/>
          <p:cNvSpPr txBox="1"/>
          <p:nvPr/>
        </p:nvSpPr>
        <p:spPr>
          <a:xfrm>
            <a:off x="8321040" y="4709160"/>
            <a:ext cx="2926080" cy="77724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785</a:t>
            </a:r>
            <a:endParaRPr lang="en-US" sz="4000" dirty="0"/>
          </a:p>
        </p:txBody>
      </p:sp>
      <p:sp>
        <p:nvSpPr>
          <p:cNvPr id="12" name="Text 9"/>
          <p:cNvSpPr txBox="1"/>
          <p:nvPr/>
        </p:nvSpPr>
        <p:spPr>
          <a:xfrm>
            <a:off x="8321040" y="5486400"/>
            <a:ext cx="2926080" cy="457200"/>
          </a:xfrm>
          <a:prstGeom prst="rect">
            <a:avLst/>
          </a:prstGeom>
          <a:noFill/>
          <a:ln/>
        </p:spPr>
        <p:txBody>
          <a:bodyPr wrap="square" lIns="0" tIns="0" rIns="0" bIns="0" rtlCol="0" anchor="t"/>
          <a:lstStyle/>
          <a:p>
            <a:pPr marL="0" indent="0">
              <a:buNone/>
            </a:pPr>
            <a:r>
              <a:rPr lang="en-US" sz="1500" dirty="0">
                <a:solidFill>
                  <a:schemeClr val="tx2"/>
                </a:solidFill>
              </a:rPr>
              <a:t>entrenamientos evaluados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Resultados en validación cruzada</a:t>
            </a:r>
            <a:endParaRPr lang="en-US" sz="3200" dirty="0"/>
          </a:p>
        </p:txBody>
      </p:sp>
      <p:graphicFrame>
        <p:nvGraphicFramePr>
          <p:cNvPr id="3" name="gráfica validación"/>
          <p:cNvGraphicFramePr/>
          <p:nvPr/>
        </p:nvGraphicFramePr>
        <p:xfrm>
          <a:off x="548640" y="1280160"/>
          <a:ext cx="722376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tarjeta empate"/>
          <p:cNvSpPr/>
          <p:nvPr/>
        </p:nvSpPr>
        <p:spPr>
          <a:xfrm>
            <a:off x="8138160" y="1371600"/>
            <a:ext cx="3474720" cy="2926080"/>
          </a:xfrm>
          <a:prstGeom prst="roundRect">
            <a:avLst>
              <a:gd name="adj" fmla="val 3750"/>
            </a:avLst>
          </a:prstGeom>
          <a:solidFill>
            <a:schemeClr val="bg2"/>
          </a:solidFill>
          <a:ln/>
        </p:spPr>
        <p:txBody>
          <a:bodyPr/>
          <a:lstStyle/>
          <a:p>
            <a:endParaRPr lang="es-GT"/>
          </a:p>
        </p:txBody>
      </p:sp>
      <p:sp>
        <p:nvSpPr>
          <p:cNvPr id="5" name="Text 2"/>
          <p:cNvSpPr txBox="1"/>
          <p:nvPr/>
        </p:nvSpPr>
        <p:spPr>
          <a:xfrm>
            <a:off x="8412480" y="1600200"/>
            <a:ext cx="2926080" cy="411480"/>
          </a:xfrm>
          <a:prstGeom prst="rect">
            <a:avLst/>
          </a:prstGeom>
          <a:noFill/>
          <a:ln/>
        </p:spPr>
        <p:txBody>
          <a:bodyPr wrap="square" lIns="0" tIns="0" rIns="0" bIns="0" rtlCol="0" anchor="t"/>
          <a:lstStyle/>
          <a:p>
            <a:pPr marL="0" indent="0">
              <a:buNone/>
            </a:pPr>
            <a:r>
              <a:rPr lang="en-US" sz="1900" b="1" dirty="0">
                <a:solidFill>
                  <a:schemeClr val="accent1"/>
                </a:solidFill>
              </a:rPr>
              <a:t>Empate técnico</a:t>
            </a:r>
            <a:endParaRPr lang="en-US" sz="1900" dirty="0"/>
          </a:p>
        </p:txBody>
      </p:sp>
      <p:sp>
        <p:nvSpPr>
          <p:cNvPr id="6" name="Text 3"/>
          <p:cNvSpPr txBox="1"/>
          <p:nvPr/>
        </p:nvSpPr>
        <p:spPr>
          <a:xfrm>
            <a:off x="8412480" y="2057400"/>
            <a:ext cx="2926080" cy="2103120"/>
          </a:xfrm>
          <a:prstGeom prst="rect">
            <a:avLst/>
          </a:prstGeom>
          <a:noFill/>
          <a:ln/>
        </p:spPr>
        <p:txBody>
          <a:bodyPr wrap="square" lIns="0" tIns="0" rIns="0" bIns="0" rtlCol="0" anchor="t"/>
          <a:lstStyle/>
          <a:p>
            <a:pPr marL="0" indent="0">
              <a:buNone/>
            </a:pPr>
            <a:r>
              <a:rPr lang="en-US" sz="1400" dirty="0">
                <a:solidFill>
                  <a:schemeClr val="tx1"/>
                </a:solidFill>
              </a:rPr>
              <a:t>Los tres primeros quedan a menos de una desviación (±0.004). KNN le gana a la logística solo en 3 de 5 particiones.</a:t>
            </a:r>
            <a:endParaRPr lang="en-US" sz="1400" dirty="0"/>
          </a:p>
        </p:txBody>
      </p:sp>
      <p:sp>
        <p:nvSpPr>
          <p:cNvPr id="7" name="tarjeta árbol"/>
          <p:cNvSpPr/>
          <p:nvPr/>
        </p:nvSpPr>
        <p:spPr>
          <a:xfrm>
            <a:off x="8138160" y="4526280"/>
            <a:ext cx="3474720" cy="1600200"/>
          </a:xfrm>
          <a:prstGeom prst="roundRect">
            <a:avLst>
              <a:gd name="adj" fmla="val 6857"/>
            </a:avLst>
          </a:prstGeom>
          <a:solidFill>
            <a:schemeClr val="bg2"/>
          </a:solidFill>
          <a:ln/>
        </p:spPr>
        <p:txBody>
          <a:bodyPr/>
          <a:lstStyle/>
          <a:p>
            <a:endParaRPr lang="es-GT"/>
          </a:p>
        </p:txBody>
      </p:sp>
      <p:sp>
        <p:nvSpPr>
          <p:cNvPr id="8" name="Text 5"/>
          <p:cNvSpPr txBox="1"/>
          <p:nvPr/>
        </p:nvSpPr>
        <p:spPr>
          <a:xfrm>
            <a:off x="8412480" y="4709160"/>
            <a:ext cx="2926080" cy="365760"/>
          </a:xfrm>
          <a:prstGeom prst="rect">
            <a:avLst/>
          </a:prstGeom>
          <a:noFill/>
          <a:ln/>
        </p:spPr>
        <p:txBody>
          <a:bodyPr wrap="square" lIns="0" tIns="0" rIns="0" bIns="0" rtlCol="0" anchor="t"/>
          <a:lstStyle/>
          <a:p>
            <a:pPr marL="0" indent="0">
              <a:buNone/>
            </a:pPr>
            <a:r>
              <a:rPr lang="en-US" sz="1700" b="1" dirty="0">
                <a:solidFill>
                  <a:schemeClr val="tx2"/>
                </a:solidFill>
              </a:rPr>
              <a:t>El árbol queda atrás</a:t>
            </a:r>
            <a:endParaRPr lang="en-US" sz="1700" dirty="0"/>
          </a:p>
        </p:txBody>
      </p:sp>
      <p:sp>
        <p:nvSpPr>
          <p:cNvPr id="9" name="Text 6"/>
          <p:cNvSpPr txBox="1"/>
          <p:nvPr/>
        </p:nvSpPr>
        <p:spPr>
          <a:xfrm>
            <a:off x="8412480" y="5120640"/>
            <a:ext cx="2926080" cy="822960"/>
          </a:xfrm>
          <a:prstGeom prst="rect">
            <a:avLst/>
          </a:prstGeom>
          <a:noFill/>
          <a:ln/>
        </p:spPr>
        <p:txBody>
          <a:bodyPr wrap="square" lIns="0" tIns="0" rIns="0" bIns="0" rtlCol="0" anchor="t"/>
          <a:lstStyle/>
          <a:p>
            <a:pPr marL="0" indent="0">
              <a:buNone/>
            </a:pPr>
            <a:r>
              <a:rPr lang="en-US" sz="1400" dirty="0">
                <a:solidFill>
                  <a:srgbClr val="6E5D52"/>
                </a:solidFill>
              </a:rPr>
              <a:t>Pierde contra los otros tres en las 5 particiones.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Diagnóstico de sobreajuste</a:t>
            </a:r>
            <a:endParaRPr lang="en-US" sz="3200" dirty="0"/>
          </a:p>
        </p:txBody>
      </p:sp>
      <p:graphicFrame>
        <p:nvGraphicFramePr>
          <p:cNvPr id="3" name="curva sobreajuste árbol"/>
          <p:cNvGraphicFramePr/>
          <p:nvPr/>
        </p:nvGraphicFramePr>
        <p:xfrm>
          <a:off x="548640" y="1280160"/>
          <a:ext cx="694944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863840" y="1371600"/>
            <a:ext cx="3749040" cy="411480"/>
          </a:xfrm>
          <a:prstGeom prst="rect">
            <a:avLst/>
          </a:prstGeom>
          <a:noFill/>
          <a:ln/>
        </p:spPr>
        <p:txBody>
          <a:bodyPr wrap="square" lIns="0" tIns="0" rIns="0" bIns="0" rtlCol="0" anchor="t"/>
          <a:lstStyle/>
          <a:p>
            <a:pPr marL="0" indent="0">
              <a:buNone/>
            </a:pPr>
            <a:r>
              <a:rPr lang="en-US" sz="1700" b="1" dirty="0">
                <a:solidFill>
                  <a:schemeClr val="tx2"/>
                </a:solidFill>
              </a:rPr>
              <a:t>Brecha entre entrenamiento y validación</a:t>
            </a:r>
            <a:endParaRPr lang="en-US" sz="1700" dirty="0"/>
          </a:p>
        </p:txBody>
      </p:sp>
      <p:sp>
        <p:nvSpPr>
          <p:cNvPr id="5" name="brecha Regresión logística"/>
          <p:cNvSpPr/>
          <p:nvPr/>
        </p:nvSpPr>
        <p:spPr>
          <a:xfrm>
            <a:off x="7863840" y="1920240"/>
            <a:ext cx="3749040" cy="594360"/>
          </a:xfrm>
          <a:prstGeom prst="roundRect">
            <a:avLst>
              <a:gd name="adj" fmla="val 18462"/>
            </a:avLst>
          </a:prstGeom>
          <a:solidFill>
            <a:schemeClr val="bg2"/>
          </a:solidFill>
          <a:ln/>
        </p:spPr>
        <p:txBody>
          <a:bodyPr/>
          <a:lstStyle/>
          <a:p>
            <a:endParaRPr lang="es-GT"/>
          </a:p>
        </p:txBody>
      </p:sp>
      <p:sp>
        <p:nvSpPr>
          <p:cNvPr id="6" name="punto brecha Regresión logística"/>
          <p:cNvSpPr/>
          <p:nvPr/>
        </p:nvSpPr>
        <p:spPr>
          <a:xfrm>
            <a:off x="8046720" y="2103120"/>
            <a:ext cx="228600" cy="228600"/>
          </a:xfrm>
          <a:prstGeom prst="ellipse">
            <a:avLst/>
          </a:prstGeom>
          <a:solidFill>
            <a:srgbClr val="5B8C5A"/>
          </a:solidFill>
          <a:ln/>
        </p:spPr>
        <p:txBody>
          <a:bodyPr/>
          <a:lstStyle/>
          <a:p>
            <a:endParaRPr lang="es-GT"/>
          </a:p>
        </p:txBody>
      </p:sp>
      <p:sp>
        <p:nvSpPr>
          <p:cNvPr id="7" name="Text 4"/>
          <p:cNvSpPr txBox="1"/>
          <p:nvPr/>
        </p:nvSpPr>
        <p:spPr>
          <a:xfrm>
            <a:off x="8412480" y="1920240"/>
            <a:ext cx="2103120" cy="594360"/>
          </a:xfrm>
          <a:prstGeom prst="rect">
            <a:avLst/>
          </a:prstGeom>
          <a:noFill/>
          <a:ln/>
        </p:spPr>
        <p:txBody>
          <a:bodyPr wrap="square" lIns="0" tIns="0" rIns="0" bIns="0" rtlCol="0" anchor="ctr"/>
          <a:lstStyle/>
          <a:p>
            <a:pPr marL="0" indent="0">
              <a:buNone/>
            </a:pPr>
            <a:r>
              <a:rPr lang="en-US" sz="1500" dirty="0">
                <a:solidFill>
                  <a:schemeClr val="tx1"/>
                </a:solidFill>
              </a:rPr>
              <a:t>Regresión logística</a:t>
            </a:r>
            <a:endParaRPr lang="en-US" sz="1500" dirty="0"/>
          </a:p>
        </p:txBody>
      </p:sp>
      <p:sp>
        <p:nvSpPr>
          <p:cNvPr id="8" name="Text 5"/>
          <p:cNvSpPr txBox="1"/>
          <p:nvPr/>
        </p:nvSpPr>
        <p:spPr>
          <a:xfrm>
            <a:off x="10515600" y="1920240"/>
            <a:ext cx="914400" cy="594360"/>
          </a:xfrm>
          <a:prstGeom prst="rect">
            <a:avLst/>
          </a:prstGeom>
          <a:noFill/>
          <a:ln/>
        </p:spPr>
        <p:txBody>
          <a:bodyPr wrap="square" lIns="0" tIns="0" rIns="0" bIns="0" rtlCol="0" anchor="ctr"/>
          <a:lstStyle/>
          <a:p>
            <a:pPr marL="0" indent="0" algn="r">
              <a:buNone/>
            </a:pPr>
            <a:r>
              <a:rPr lang="en-US" sz="1700" b="1" dirty="0">
                <a:solidFill>
                  <a:schemeClr val="tx2"/>
                </a:solidFill>
              </a:rPr>
              <a:t>0.001</a:t>
            </a:r>
            <a:endParaRPr lang="en-US" sz="1700" dirty="0"/>
          </a:p>
        </p:txBody>
      </p:sp>
      <p:sp>
        <p:nvSpPr>
          <p:cNvPr id="9" name="brecha Árbol"/>
          <p:cNvSpPr/>
          <p:nvPr/>
        </p:nvSpPr>
        <p:spPr>
          <a:xfrm>
            <a:off x="7863840" y="2633472"/>
            <a:ext cx="3749040" cy="594360"/>
          </a:xfrm>
          <a:prstGeom prst="roundRect">
            <a:avLst>
              <a:gd name="adj" fmla="val 18462"/>
            </a:avLst>
          </a:prstGeom>
          <a:solidFill>
            <a:schemeClr val="bg2"/>
          </a:solidFill>
          <a:ln/>
        </p:spPr>
        <p:txBody>
          <a:bodyPr/>
          <a:lstStyle/>
          <a:p>
            <a:endParaRPr lang="es-GT"/>
          </a:p>
        </p:txBody>
      </p:sp>
      <p:sp>
        <p:nvSpPr>
          <p:cNvPr id="10" name="punto brecha Árbol"/>
          <p:cNvSpPr/>
          <p:nvPr/>
        </p:nvSpPr>
        <p:spPr>
          <a:xfrm>
            <a:off x="8046720" y="2816352"/>
            <a:ext cx="228600" cy="228600"/>
          </a:xfrm>
          <a:prstGeom prst="ellipse">
            <a:avLst/>
          </a:prstGeom>
          <a:solidFill>
            <a:srgbClr val="D9B98A"/>
          </a:solidFill>
          <a:ln/>
        </p:spPr>
        <p:txBody>
          <a:bodyPr/>
          <a:lstStyle/>
          <a:p>
            <a:endParaRPr lang="es-GT"/>
          </a:p>
        </p:txBody>
      </p:sp>
      <p:sp>
        <p:nvSpPr>
          <p:cNvPr id="11" name="Text 8"/>
          <p:cNvSpPr txBox="1"/>
          <p:nvPr/>
        </p:nvSpPr>
        <p:spPr>
          <a:xfrm>
            <a:off x="8412480" y="2633472"/>
            <a:ext cx="2103120" cy="594360"/>
          </a:xfrm>
          <a:prstGeom prst="rect">
            <a:avLst/>
          </a:prstGeom>
          <a:noFill/>
          <a:ln/>
        </p:spPr>
        <p:txBody>
          <a:bodyPr wrap="square" lIns="0" tIns="0" rIns="0" bIns="0" rtlCol="0" anchor="ctr"/>
          <a:lstStyle/>
          <a:p>
            <a:pPr marL="0" indent="0">
              <a:buNone/>
            </a:pPr>
            <a:r>
              <a:rPr lang="en-US" sz="1500" dirty="0">
                <a:solidFill>
                  <a:schemeClr val="tx1"/>
                </a:solidFill>
              </a:rPr>
              <a:t>Árbol</a:t>
            </a:r>
            <a:endParaRPr lang="en-US" sz="1500" dirty="0"/>
          </a:p>
        </p:txBody>
      </p:sp>
      <p:sp>
        <p:nvSpPr>
          <p:cNvPr id="12" name="Text 9"/>
          <p:cNvSpPr txBox="1"/>
          <p:nvPr/>
        </p:nvSpPr>
        <p:spPr>
          <a:xfrm>
            <a:off x="10515600" y="2633472"/>
            <a:ext cx="914400" cy="594360"/>
          </a:xfrm>
          <a:prstGeom prst="rect">
            <a:avLst/>
          </a:prstGeom>
          <a:noFill/>
          <a:ln/>
        </p:spPr>
        <p:txBody>
          <a:bodyPr wrap="square" lIns="0" tIns="0" rIns="0" bIns="0" rtlCol="0" anchor="ctr"/>
          <a:lstStyle/>
          <a:p>
            <a:pPr marL="0" indent="0" algn="r">
              <a:buNone/>
            </a:pPr>
            <a:r>
              <a:rPr lang="en-US" sz="1700" b="1" dirty="0">
                <a:solidFill>
                  <a:schemeClr val="tx2"/>
                </a:solidFill>
              </a:rPr>
              <a:t>0.035</a:t>
            </a:r>
            <a:endParaRPr lang="en-US" sz="1700" dirty="0"/>
          </a:p>
        </p:txBody>
      </p:sp>
      <p:sp>
        <p:nvSpPr>
          <p:cNvPr id="13" name="brecha Random forest"/>
          <p:cNvSpPr/>
          <p:nvPr/>
        </p:nvSpPr>
        <p:spPr>
          <a:xfrm>
            <a:off x="7863840" y="3346704"/>
            <a:ext cx="3749040" cy="594360"/>
          </a:xfrm>
          <a:prstGeom prst="roundRect">
            <a:avLst>
              <a:gd name="adj" fmla="val 18462"/>
            </a:avLst>
          </a:prstGeom>
          <a:solidFill>
            <a:schemeClr val="bg2"/>
          </a:solidFill>
          <a:ln/>
        </p:spPr>
        <p:txBody>
          <a:bodyPr/>
          <a:lstStyle/>
          <a:p>
            <a:endParaRPr lang="es-GT"/>
          </a:p>
        </p:txBody>
      </p:sp>
      <p:sp>
        <p:nvSpPr>
          <p:cNvPr id="14" name="punto brecha Random forest"/>
          <p:cNvSpPr/>
          <p:nvPr/>
        </p:nvSpPr>
        <p:spPr>
          <a:xfrm>
            <a:off x="8046720" y="3529584"/>
            <a:ext cx="228600" cy="228600"/>
          </a:xfrm>
          <a:prstGeom prst="ellipse">
            <a:avLst/>
          </a:prstGeom>
          <a:solidFill>
            <a:srgbClr val="D9B98A"/>
          </a:solidFill>
          <a:ln/>
        </p:spPr>
        <p:txBody>
          <a:bodyPr/>
          <a:lstStyle/>
          <a:p>
            <a:endParaRPr lang="es-GT"/>
          </a:p>
        </p:txBody>
      </p:sp>
      <p:sp>
        <p:nvSpPr>
          <p:cNvPr id="15" name="Text 12"/>
          <p:cNvSpPr txBox="1"/>
          <p:nvPr/>
        </p:nvSpPr>
        <p:spPr>
          <a:xfrm>
            <a:off x="8412480" y="3346704"/>
            <a:ext cx="2103120" cy="594360"/>
          </a:xfrm>
          <a:prstGeom prst="rect">
            <a:avLst/>
          </a:prstGeom>
          <a:noFill/>
          <a:ln/>
        </p:spPr>
        <p:txBody>
          <a:bodyPr wrap="square" lIns="0" tIns="0" rIns="0" bIns="0" rtlCol="0" anchor="ctr"/>
          <a:lstStyle/>
          <a:p>
            <a:pPr marL="0" indent="0">
              <a:buNone/>
            </a:pPr>
            <a:r>
              <a:rPr lang="en-US" sz="1500" dirty="0">
                <a:solidFill>
                  <a:schemeClr val="tx1"/>
                </a:solidFill>
              </a:rPr>
              <a:t>Random forest</a:t>
            </a:r>
            <a:endParaRPr lang="en-US" sz="1500" dirty="0"/>
          </a:p>
        </p:txBody>
      </p:sp>
      <p:sp>
        <p:nvSpPr>
          <p:cNvPr id="16" name="Text 13"/>
          <p:cNvSpPr txBox="1"/>
          <p:nvPr/>
        </p:nvSpPr>
        <p:spPr>
          <a:xfrm>
            <a:off x="10515600" y="3346704"/>
            <a:ext cx="914400" cy="594360"/>
          </a:xfrm>
          <a:prstGeom prst="rect">
            <a:avLst/>
          </a:prstGeom>
          <a:noFill/>
          <a:ln/>
        </p:spPr>
        <p:txBody>
          <a:bodyPr wrap="square" lIns="0" tIns="0" rIns="0" bIns="0" rtlCol="0" anchor="ctr"/>
          <a:lstStyle/>
          <a:p>
            <a:pPr marL="0" indent="0" algn="r">
              <a:buNone/>
            </a:pPr>
            <a:r>
              <a:rPr lang="en-US" sz="1700" b="1" dirty="0">
                <a:solidFill>
                  <a:schemeClr val="tx2"/>
                </a:solidFill>
              </a:rPr>
              <a:t>0.038</a:t>
            </a:r>
            <a:endParaRPr lang="en-US" sz="1700" dirty="0"/>
          </a:p>
        </p:txBody>
      </p:sp>
      <p:sp>
        <p:nvSpPr>
          <p:cNvPr id="17" name="brecha KNN *"/>
          <p:cNvSpPr/>
          <p:nvPr/>
        </p:nvSpPr>
        <p:spPr>
          <a:xfrm>
            <a:off x="7863840" y="4059936"/>
            <a:ext cx="3749040" cy="594360"/>
          </a:xfrm>
          <a:prstGeom prst="roundRect">
            <a:avLst>
              <a:gd name="adj" fmla="val 18462"/>
            </a:avLst>
          </a:prstGeom>
          <a:solidFill>
            <a:schemeClr val="bg2"/>
          </a:solidFill>
          <a:ln/>
        </p:spPr>
        <p:txBody>
          <a:bodyPr/>
          <a:lstStyle/>
          <a:p>
            <a:endParaRPr lang="es-GT"/>
          </a:p>
        </p:txBody>
      </p:sp>
      <p:sp>
        <p:nvSpPr>
          <p:cNvPr id="18" name="punto brecha KNN *"/>
          <p:cNvSpPr/>
          <p:nvPr/>
        </p:nvSpPr>
        <p:spPr>
          <a:xfrm>
            <a:off x="8046720" y="4242816"/>
            <a:ext cx="228600" cy="228600"/>
          </a:xfrm>
          <a:prstGeom prst="ellipse">
            <a:avLst/>
          </a:prstGeom>
          <a:solidFill>
            <a:srgbClr val="C0532F"/>
          </a:solidFill>
          <a:ln/>
        </p:spPr>
        <p:txBody>
          <a:bodyPr/>
          <a:lstStyle/>
          <a:p>
            <a:endParaRPr lang="es-GT"/>
          </a:p>
        </p:txBody>
      </p:sp>
      <p:sp>
        <p:nvSpPr>
          <p:cNvPr id="19" name="Text 16"/>
          <p:cNvSpPr txBox="1"/>
          <p:nvPr/>
        </p:nvSpPr>
        <p:spPr>
          <a:xfrm>
            <a:off x="8412480" y="4059936"/>
            <a:ext cx="2103120" cy="594360"/>
          </a:xfrm>
          <a:prstGeom prst="rect">
            <a:avLst/>
          </a:prstGeom>
          <a:noFill/>
          <a:ln/>
        </p:spPr>
        <p:txBody>
          <a:bodyPr wrap="square" lIns="0" tIns="0" rIns="0" bIns="0" rtlCol="0" anchor="ctr"/>
          <a:lstStyle/>
          <a:p>
            <a:pPr marL="0" indent="0">
              <a:buNone/>
            </a:pPr>
            <a:r>
              <a:rPr lang="en-US" sz="1500" dirty="0">
                <a:solidFill>
                  <a:schemeClr val="tx1"/>
                </a:solidFill>
              </a:rPr>
              <a:t>KNN *</a:t>
            </a:r>
            <a:endParaRPr lang="en-US" sz="1500" dirty="0"/>
          </a:p>
        </p:txBody>
      </p:sp>
      <p:sp>
        <p:nvSpPr>
          <p:cNvPr id="20" name="Text 17"/>
          <p:cNvSpPr txBox="1"/>
          <p:nvPr/>
        </p:nvSpPr>
        <p:spPr>
          <a:xfrm>
            <a:off x="10515600" y="4059936"/>
            <a:ext cx="914400" cy="594360"/>
          </a:xfrm>
          <a:prstGeom prst="rect">
            <a:avLst/>
          </a:prstGeom>
          <a:noFill/>
          <a:ln/>
        </p:spPr>
        <p:txBody>
          <a:bodyPr wrap="square" lIns="0" tIns="0" rIns="0" bIns="0" rtlCol="0" anchor="ctr"/>
          <a:lstStyle/>
          <a:p>
            <a:pPr marL="0" indent="0" algn="r">
              <a:buNone/>
            </a:pPr>
            <a:r>
              <a:rPr lang="en-US" sz="1700" b="1" dirty="0">
                <a:solidFill>
                  <a:schemeClr val="tx2"/>
                </a:solidFill>
              </a:rPr>
              <a:t>0.061</a:t>
            </a:r>
            <a:endParaRPr lang="en-US" sz="1700" dirty="0"/>
          </a:p>
        </p:txBody>
      </p:sp>
      <p:sp>
        <p:nvSpPr>
          <p:cNvPr id="21" name="Text 18"/>
          <p:cNvSpPr txBox="1"/>
          <p:nvPr/>
        </p:nvSpPr>
        <p:spPr>
          <a:xfrm>
            <a:off x="7863840" y="4846320"/>
            <a:ext cx="3749040" cy="1371600"/>
          </a:xfrm>
          <a:prstGeom prst="rect">
            <a:avLst/>
          </a:prstGeom>
          <a:noFill/>
          <a:ln/>
        </p:spPr>
        <p:txBody>
          <a:bodyPr wrap="square" lIns="0" tIns="0" rIns="0" bIns="0" rtlCol="0" anchor="t"/>
          <a:lstStyle/>
          <a:p>
            <a:pPr marL="0" indent="0">
              <a:buNone/>
            </a:pPr>
            <a:r>
              <a:rPr lang="en-US" sz="1200" dirty="0">
                <a:solidFill>
                  <a:srgbClr val="6E5D52"/>
                </a:solidFill>
              </a:rPr>
              <a:t>Desde profundidad 8 solo sube el entrenamiento: el árbol empieza a memorizar.</a:t>
            </a:r>
            <a:endParaRPr lang="en-US" sz="1200" dirty="0"/>
          </a:p>
          <a:p>
            <a:pPr marL="0" indent="0">
              <a:buNone/>
            </a:pPr>
            <a:r>
              <a:rPr lang="en-US" sz="1200" dirty="0">
                <a:solidFill>
                  <a:srgbClr val="6E5D52"/>
                </a:solidFill>
              </a:rPr>
              <a:t>* KNN con pesos por distancia se encuentra a sí mismo en entrenamiento (F1 = 1.00).</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Cómo elegimos el modelo final</a:t>
            </a:r>
            <a:endParaRPr lang="en-US" sz="3200" dirty="0"/>
          </a:p>
        </p:txBody>
      </p:sp>
      <p:sp>
        <p:nvSpPr>
          <p:cNvPr id="3" name="paso regla 1"/>
          <p:cNvSpPr/>
          <p:nvPr/>
        </p:nvSpPr>
        <p:spPr>
          <a:xfrm>
            <a:off x="548640" y="1463040"/>
            <a:ext cx="2697480" cy="2651760"/>
          </a:xfrm>
          <a:prstGeom prst="roundRect">
            <a:avLst>
              <a:gd name="adj" fmla="val 4138"/>
            </a:avLst>
          </a:prstGeom>
          <a:solidFill>
            <a:schemeClr val="bg2"/>
          </a:solidFill>
          <a:ln/>
        </p:spPr>
        <p:txBody>
          <a:bodyPr/>
          <a:lstStyle/>
          <a:p>
            <a:endParaRPr lang="es-GT"/>
          </a:p>
        </p:txBody>
      </p:sp>
      <p:sp>
        <p:nvSpPr>
          <p:cNvPr id="4" name="número regla 1"/>
          <p:cNvSpPr/>
          <p:nvPr/>
        </p:nvSpPr>
        <p:spPr>
          <a:xfrm>
            <a:off x="822960" y="1691640"/>
            <a:ext cx="640080" cy="640080"/>
          </a:xfrm>
          <a:prstGeom prst="ellipse">
            <a:avLst/>
          </a:prstGeom>
          <a:solidFill>
            <a:schemeClr val="accent1"/>
          </a:solidFill>
          <a:ln/>
        </p:spPr>
        <p:txBody>
          <a:bodyPr/>
          <a:lstStyle/>
          <a:p>
            <a:endParaRPr lang="es-GT"/>
          </a:p>
        </p:txBody>
      </p:sp>
      <p:sp>
        <p:nvSpPr>
          <p:cNvPr id="5" name="Text 3"/>
          <p:cNvSpPr txBox="1"/>
          <p:nvPr/>
        </p:nvSpPr>
        <p:spPr>
          <a:xfrm>
            <a:off x="822960" y="169164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Text 4"/>
          <p:cNvSpPr txBox="1"/>
          <p:nvPr/>
        </p:nvSpPr>
        <p:spPr>
          <a:xfrm>
            <a:off x="822960" y="2560320"/>
            <a:ext cx="2194560" cy="777240"/>
          </a:xfrm>
          <a:prstGeom prst="rect">
            <a:avLst/>
          </a:prstGeom>
          <a:noFill/>
          <a:ln/>
        </p:spPr>
        <p:txBody>
          <a:bodyPr wrap="square" lIns="0" tIns="0" rIns="0" bIns="0" rtlCol="0" anchor="t"/>
          <a:lstStyle/>
          <a:p>
            <a:pPr marL="0" indent="0">
              <a:buNone/>
            </a:pPr>
            <a:r>
              <a:rPr lang="en-US" sz="1700" b="1" dirty="0">
                <a:solidFill>
                  <a:schemeClr val="tx2"/>
                </a:solidFill>
              </a:rPr>
              <a:t>Tomar el mejor F1 macro</a:t>
            </a:r>
            <a:endParaRPr lang="en-US" sz="1700" dirty="0"/>
          </a:p>
        </p:txBody>
      </p:sp>
      <p:sp>
        <p:nvSpPr>
          <p:cNvPr id="7" name="Text 5"/>
          <p:cNvSpPr txBox="1"/>
          <p:nvPr/>
        </p:nvSpPr>
        <p:spPr>
          <a:xfrm>
            <a:off x="822960" y="3383280"/>
            <a:ext cx="2194560" cy="594360"/>
          </a:xfrm>
          <a:prstGeom prst="rect">
            <a:avLst/>
          </a:prstGeom>
          <a:noFill/>
          <a:ln/>
        </p:spPr>
        <p:txBody>
          <a:bodyPr wrap="square" lIns="0" tIns="0" rIns="0" bIns="0" rtlCol="0" anchor="t"/>
          <a:lstStyle/>
          <a:p>
            <a:pPr marL="0" indent="0">
              <a:buNone/>
            </a:pPr>
            <a:r>
              <a:rPr lang="en-US" sz="1400" dirty="0">
                <a:solidFill>
                  <a:srgbClr val="6E5D52"/>
                </a:solidFill>
              </a:rPr>
              <a:t>KNN: 0.9386</a:t>
            </a:r>
            <a:endParaRPr lang="en-US" sz="1400" dirty="0"/>
          </a:p>
        </p:txBody>
      </p:sp>
      <p:sp>
        <p:nvSpPr>
          <p:cNvPr id="8" name="flecha regla 1"/>
          <p:cNvSpPr/>
          <p:nvPr/>
        </p:nvSpPr>
        <p:spPr>
          <a:xfrm>
            <a:off x="3264408" y="2606040"/>
            <a:ext cx="237744" cy="320040"/>
          </a:xfrm>
          <a:prstGeom prst="rightArrow">
            <a:avLst/>
          </a:prstGeom>
          <a:solidFill>
            <a:srgbClr val="D9B98A"/>
          </a:solidFill>
          <a:ln/>
        </p:spPr>
        <p:txBody>
          <a:bodyPr/>
          <a:lstStyle/>
          <a:p>
            <a:endParaRPr lang="es-GT"/>
          </a:p>
        </p:txBody>
      </p:sp>
      <p:sp>
        <p:nvSpPr>
          <p:cNvPr id="9" name="paso regla 2"/>
          <p:cNvSpPr/>
          <p:nvPr/>
        </p:nvSpPr>
        <p:spPr>
          <a:xfrm>
            <a:off x="3520440" y="1463040"/>
            <a:ext cx="2697480" cy="2651760"/>
          </a:xfrm>
          <a:prstGeom prst="roundRect">
            <a:avLst>
              <a:gd name="adj" fmla="val 4138"/>
            </a:avLst>
          </a:prstGeom>
          <a:solidFill>
            <a:schemeClr val="bg2"/>
          </a:solidFill>
          <a:ln/>
        </p:spPr>
        <p:txBody>
          <a:bodyPr/>
          <a:lstStyle/>
          <a:p>
            <a:endParaRPr lang="es-GT"/>
          </a:p>
        </p:txBody>
      </p:sp>
      <p:sp>
        <p:nvSpPr>
          <p:cNvPr id="10" name="número regla 2"/>
          <p:cNvSpPr/>
          <p:nvPr/>
        </p:nvSpPr>
        <p:spPr>
          <a:xfrm>
            <a:off x="3794760" y="1691640"/>
            <a:ext cx="640080" cy="640080"/>
          </a:xfrm>
          <a:prstGeom prst="ellipse">
            <a:avLst/>
          </a:prstGeom>
          <a:solidFill>
            <a:schemeClr val="accent1"/>
          </a:solidFill>
          <a:ln/>
        </p:spPr>
        <p:txBody>
          <a:bodyPr/>
          <a:lstStyle/>
          <a:p>
            <a:endParaRPr lang="es-GT"/>
          </a:p>
        </p:txBody>
      </p:sp>
      <p:sp>
        <p:nvSpPr>
          <p:cNvPr id="11" name="Text 9"/>
          <p:cNvSpPr txBox="1"/>
          <p:nvPr/>
        </p:nvSpPr>
        <p:spPr>
          <a:xfrm>
            <a:off x="3794760" y="169164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2" name="Text 10"/>
          <p:cNvSpPr txBox="1"/>
          <p:nvPr/>
        </p:nvSpPr>
        <p:spPr>
          <a:xfrm>
            <a:off x="3794760" y="2560320"/>
            <a:ext cx="2194560" cy="777240"/>
          </a:xfrm>
          <a:prstGeom prst="rect">
            <a:avLst/>
          </a:prstGeom>
          <a:noFill/>
          <a:ln/>
        </p:spPr>
        <p:txBody>
          <a:bodyPr wrap="square" lIns="0" tIns="0" rIns="0" bIns="0" rtlCol="0" anchor="t"/>
          <a:lstStyle/>
          <a:p>
            <a:pPr marL="0" indent="0">
              <a:buNone/>
            </a:pPr>
            <a:r>
              <a:rPr lang="en-US" sz="1700" b="1" dirty="0">
                <a:solidFill>
                  <a:schemeClr val="tx2"/>
                </a:solidFill>
              </a:rPr>
              <a:t>Empatados a menos de 1 desviación</a:t>
            </a:r>
            <a:endParaRPr lang="en-US" sz="1700" dirty="0"/>
          </a:p>
        </p:txBody>
      </p:sp>
      <p:sp>
        <p:nvSpPr>
          <p:cNvPr id="13" name="Text 11"/>
          <p:cNvSpPr txBox="1"/>
          <p:nvPr/>
        </p:nvSpPr>
        <p:spPr>
          <a:xfrm>
            <a:off x="3794760" y="3383280"/>
            <a:ext cx="2194560" cy="594360"/>
          </a:xfrm>
          <a:prstGeom prst="rect">
            <a:avLst/>
          </a:prstGeom>
          <a:noFill/>
          <a:ln/>
        </p:spPr>
        <p:txBody>
          <a:bodyPr wrap="square" lIns="0" tIns="0" rIns="0" bIns="0" rtlCol="0" anchor="t"/>
          <a:lstStyle/>
          <a:p>
            <a:pPr marL="0" indent="0">
              <a:buNone/>
            </a:pPr>
            <a:r>
              <a:rPr lang="en-US" sz="1400" dirty="0">
                <a:solidFill>
                  <a:srgbClr val="6E5D52"/>
                </a:solidFill>
              </a:rPr>
              <a:t>KNN, logística y random forest</a:t>
            </a:r>
            <a:endParaRPr lang="en-US" sz="1400" dirty="0"/>
          </a:p>
        </p:txBody>
      </p:sp>
      <p:sp>
        <p:nvSpPr>
          <p:cNvPr id="14" name="flecha regla 2"/>
          <p:cNvSpPr/>
          <p:nvPr/>
        </p:nvSpPr>
        <p:spPr>
          <a:xfrm>
            <a:off x="6236208" y="2606040"/>
            <a:ext cx="237744" cy="320040"/>
          </a:xfrm>
          <a:prstGeom prst="rightArrow">
            <a:avLst/>
          </a:prstGeom>
          <a:solidFill>
            <a:srgbClr val="D9B98A"/>
          </a:solidFill>
          <a:ln/>
        </p:spPr>
        <p:txBody>
          <a:bodyPr/>
          <a:lstStyle/>
          <a:p>
            <a:endParaRPr lang="es-GT"/>
          </a:p>
        </p:txBody>
      </p:sp>
      <p:sp>
        <p:nvSpPr>
          <p:cNvPr id="15" name="paso regla 3"/>
          <p:cNvSpPr/>
          <p:nvPr/>
        </p:nvSpPr>
        <p:spPr>
          <a:xfrm>
            <a:off x="6492240" y="1463040"/>
            <a:ext cx="2697480" cy="2651760"/>
          </a:xfrm>
          <a:prstGeom prst="roundRect">
            <a:avLst>
              <a:gd name="adj" fmla="val 4138"/>
            </a:avLst>
          </a:prstGeom>
          <a:solidFill>
            <a:schemeClr val="bg2"/>
          </a:solidFill>
          <a:ln/>
        </p:spPr>
        <p:txBody>
          <a:bodyPr/>
          <a:lstStyle/>
          <a:p>
            <a:endParaRPr lang="es-GT"/>
          </a:p>
        </p:txBody>
      </p:sp>
      <p:sp>
        <p:nvSpPr>
          <p:cNvPr id="16" name="número regla 3"/>
          <p:cNvSpPr/>
          <p:nvPr/>
        </p:nvSpPr>
        <p:spPr>
          <a:xfrm>
            <a:off x="6766560" y="1691640"/>
            <a:ext cx="640080" cy="640080"/>
          </a:xfrm>
          <a:prstGeom prst="ellipse">
            <a:avLst/>
          </a:prstGeom>
          <a:solidFill>
            <a:schemeClr val="accent1"/>
          </a:solidFill>
          <a:ln/>
        </p:spPr>
        <p:txBody>
          <a:bodyPr/>
          <a:lstStyle/>
          <a:p>
            <a:endParaRPr lang="es-GT"/>
          </a:p>
        </p:txBody>
      </p:sp>
      <p:sp>
        <p:nvSpPr>
          <p:cNvPr id="17" name="Text 15"/>
          <p:cNvSpPr txBox="1"/>
          <p:nvPr/>
        </p:nvSpPr>
        <p:spPr>
          <a:xfrm>
            <a:off x="6766560" y="169164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8" name="Text 16"/>
          <p:cNvSpPr txBox="1"/>
          <p:nvPr/>
        </p:nvSpPr>
        <p:spPr>
          <a:xfrm>
            <a:off x="6766560" y="2560320"/>
            <a:ext cx="2194560" cy="777240"/>
          </a:xfrm>
          <a:prstGeom prst="rect">
            <a:avLst/>
          </a:prstGeom>
          <a:noFill/>
          <a:ln/>
        </p:spPr>
        <p:txBody>
          <a:bodyPr wrap="square" lIns="0" tIns="0" rIns="0" bIns="0" rtlCol="0" anchor="t"/>
          <a:lstStyle/>
          <a:p>
            <a:pPr marL="0" indent="0">
              <a:buNone/>
            </a:pPr>
            <a:r>
              <a:rPr lang="en-US" sz="1700" b="1" dirty="0">
                <a:solidFill>
                  <a:schemeClr val="tx2"/>
                </a:solidFill>
              </a:rPr>
              <a:t>Menor brecha y más simple</a:t>
            </a:r>
            <a:endParaRPr lang="en-US" sz="1700" dirty="0"/>
          </a:p>
        </p:txBody>
      </p:sp>
      <p:sp>
        <p:nvSpPr>
          <p:cNvPr id="19" name="Text 17"/>
          <p:cNvSpPr txBox="1"/>
          <p:nvPr/>
        </p:nvSpPr>
        <p:spPr>
          <a:xfrm>
            <a:off x="6766560" y="3383280"/>
            <a:ext cx="2194560" cy="594360"/>
          </a:xfrm>
          <a:prstGeom prst="rect">
            <a:avLst/>
          </a:prstGeom>
          <a:noFill/>
          <a:ln/>
        </p:spPr>
        <p:txBody>
          <a:bodyPr wrap="square" lIns="0" tIns="0" rIns="0" bIns="0" rtlCol="0" anchor="t"/>
          <a:lstStyle/>
          <a:p>
            <a:pPr marL="0" indent="0">
              <a:buNone/>
            </a:pPr>
            <a:r>
              <a:rPr lang="en-US" sz="1400" dirty="0">
                <a:solidFill>
                  <a:srgbClr val="6E5D52"/>
                </a:solidFill>
              </a:rPr>
              <a:t>Regresión logística: 0.001</a:t>
            </a:r>
            <a:endParaRPr lang="en-US" sz="1400" dirty="0"/>
          </a:p>
        </p:txBody>
      </p:sp>
      <p:sp>
        <p:nvSpPr>
          <p:cNvPr id="20" name="flecha regla 3"/>
          <p:cNvSpPr/>
          <p:nvPr/>
        </p:nvSpPr>
        <p:spPr>
          <a:xfrm>
            <a:off x="9208008" y="2606040"/>
            <a:ext cx="237744" cy="320040"/>
          </a:xfrm>
          <a:prstGeom prst="rightArrow">
            <a:avLst/>
          </a:prstGeom>
          <a:solidFill>
            <a:srgbClr val="D9B98A"/>
          </a:solidFill>
          <a:ln/>
        </p:spPr>
        <p:txBody>
          <a:bodyPr/>
          <a:lstStyle/>
          <a:p>
            <a:endParaRPr lang="es-GT"/>
          </a:p>
        </p:txBody>
      </p:sp>
      <p:sp>
        <p:nvSpPr>
          <p:cNvPr id="21" name="modelo elegido"/>
          <p:cNvSpPr/>
          <p:nvPr/>
        </p:nvSpPr>
        <p:spPr>
          <a:xfrm>
            <a:off x="9464040" y="1463040"/>
            <a:ext cx="2148840" cy="2651760"/>
          </a:xfrm>
          <a:prstGeom prst="roundRect">
            <a:avLst>
              <a:gd name="adj" fmla="val 5106"/>
            </a:avLst>
          </a:prstGeom>
          <a:solidFill>
            <a:schemeClr val="tx2"/>
          </a:solidFill>
          <a:ln/>
        </p:spPr>
        <p:txBody>
          <a:bodyPr/>
          <a:lstStyle/>
          <a:p>
            <a:endParaRPr lang="es-GT"/>
          </a:p>
        </p:txBody>
      </p:sp>
      <p:sp>
        <p:nvSpPr>
          <p:cNvPr id="22" name="icono elegido círculo"/>
          <p:cNvSpPr/>
          <p:nvPr/>
        </p:nvSpPr>
        <p:spPr>
          <a:xfrm>
            <a:off x="10149840" y="1691640"/>
            <a:ext cx="777240" cy="777240"/>
          </a:xfrm>
          <a:prstGeom prst="ellipse">
            <a:avLst/>
          </a:prstGeom>
          <a:solidFill>
            <a:schemeClr val="accent2"/>
          </a:solidFill>
          <a:ln/>
        </p:spPr>
        <p:txBody>
          <a:bodyPr/>
          <a:lstStyle/>
          <a:p>
            <a:endParaRPr lang="es-GT"/>
          </a:p>
        </p:txBody>
      </p:sp>
      <p:pic>
        <p:nvPicPr>
          <p:cNvPr id="23" name="icono elegido" descr="preencoded.png"/>
          <p:cNvPicPr>
            <a:picLocks noChangeAspect="1"/>
          </p:cNvPicPr>
          <p:nvPr/>
        </p:nvPicPr>
        <p:blipFill>
          <a:blip r:embed="rId3"/>
          <a:stretch>
            <a:fillRect/>
          </a:stretch>
        </p:blipFill>
        <p:spPr>
          <a:xfrm>
            <a:off x="10344150" y="1885950"/>
            <a:ext cx="388620" cy="388620"/>
          </a:xfrm>
          <a:prstGeom prst="rect">
            <a:avLst/>
          </a:prstGeom>
        </p:spPr>
      </p:pic>
      <p:sp>
        <p:nvSpPr>
          <p:cNvPr id="24" name="Text 21"/>
          <p:cNvSpPr txBox="1"/>
          <p:nvPr/>
        </p:nvSpPr>
        <p:spPr>
          <a:xfrm>
            <a:off x="9601200" y="2606040"/>
            <a:ext cx="1874520" cy="777240"/>
          </a:xfrm>
          <a:prstGeom prst="rect">
            <a:avLst/>
          </a:prstGeom>
          <a:noFill/>
          <a:ln/>
        </p:spPr>
        <p:txBody>
          <a:bodyPr wrap="square" lIns="0" tIns="0" rIns="0" bIns="0" rtlCol="0" anchor="t"/>
          <a:lstStyle/>
          <a:p>
            <a:pPr marL="0" indent="0" algn="ctr">
              <a:buNone/>
            </a:pPr>
            <a:r>
              <a:rPr lang="en-US" sz="1800" b="1" dirty="0">
                <a:solidFill>
                  <a:schemeClr val="bg1"/>
                </a:solidFill>
              </a:rPr>
              <a:t>Regresión logística</a:t>
            </a:r>
            <a:endParaRPr lang="en-US" sz="1800" dirty="0"/>
          </a:p>
        </p:txBody>
      </p:sp>
      <p:sp>
        <p:nvSpPr>
          <p:cNvPr id="25" name="Text 22"/>
          <p:cNvSpPr txBox="1"/>
          <p:nvPr/>
        </p:nvSpPr>
        <p:spPr>
          <a:xfrm>
            <a:off x="9601200" y="3383280"/>
            <a:ext cx="1874520" cy="594360"/>
          </a:xfrm>
          <a:prstGeom prst="rect">
            <a:avLst/>
          </a:prstGeom>
          <a:noFill/>
          <a:ln/>
        </p:spPr>
        <p:txBody>
          <a:bodyPr wrap="square" lIns="0" tIns="0" rIns="0" bIns="0" rtlCol="0" anchor="t"/>
          <a:lstStyle/>
          <a:p>
            <a:pPr marL="0" indent="0" algn="ctr">
              <a:buNone/>
            </a:pPr>
            <a:r>
              <a:rPr lang="en-US" sz="1300" dirty="0">
                <a:solidFill>
                  <a:srgbClr val="D9B98A"/>
                </a:solidFill>
              </a:rPr>
              <a:t>C = 10, sin pesos, escalada</a:t>
            </a:r>
            <a:endParaRPr lang="en-US" sz="1300" dirty="0"/>
          </a:p>
        </p:txBody>
      </p:sp>
      <p:sp>
        <p:nvSpPr>
          <p:cNvPr id="26" name="nota regla"/>
          <p:cNvSpPr/>
          <p:nvPr/>
        </p:nvSpPr>
        <p:spPr>
          <a:xfrm>
            <a:off x="548640" y="4526280"/>
            <a:ext cx="11064240" cy="1600200"/>
          </a:xfrm>
          <a:prstGeom prst="roundRect">
            <a:avLst>
              <a:gd name="adj" fmla="val 6857"/>
            </a:avLst>
          </a:prstGeom>
          <a:solidFill>
            <a:schemeClr val="bg2"/>
          </a:solidFill>
          <a:ln/>
        </p:spPr>
        <p:txBody>
          <a:bodyPr/>
          <a:lstStyle/>
          <a:p>
            <a:endParaRPr lang="es-GT"/>
          </a:p>
        </p:txBody>
      </p:sp>
      <p:sp>
        <p:nvSpPr>
          <p:cNvPr id="27" name="icono candado círculo"/>
          <p:cNvSpPr/>
          <p:nvPr/>
        </p:nvSpPr>
        <p:spPr>
          <a:xfrm>
            <a:off x="822960" y="4846320"/>
            <a:ext cx="822960" cy="822960"/>
          </a:xfrm>
          <a:prstGeom prst="ellipse">
            <a:avLst/>
          </a:prstGeom>
          <a:solidFill>
            <a:schemeClr val="accent2"/>
          </a:solidFill>
          <a:ln/>
        </p:spPr>
        <p:txBody>
          <a:bodyPr/>
          <a:lstStyle/>
          <a:p>
            <a:endParaRPr lang="es-GT"/>
          </a:p>
        </p:txBody>
      </p:sp>
      <p:sp>
        <p:nvSpPr>
          <p:cNvPr id="29" name="Text 25"/>
          <p:cNvSpPr txBox="1"/>
          <p:nvPr/>
        </p:nvSpPr>
        <p:spPr>
          <a:xfrm>
            <a:off x="1920240" y="4663440"/>
            <a:ext cx="9509760" cy="1325880"/>
          </a:xfrm>
          <a:prstGeom prst="rect">
            <a:avLst/>
          </a:prstGeom>
          <a:noFill/>
          <a:ln/>
        </p:spPr>
        <p:txBody>
          <a:bodyPr wrap="square" lIns="0" tIns="0" rIns="0" bIns="0" rtlCol="0" anchor="ctr"/>
          <a:lstStyle/>
          <a:p>
            <a:pPr marL="0" indent="0">
              <a:buNone/>
            </a:pPr>
            <a:r>
              <a:rPr lang="en-US" sz="1500" b="1" dirty="0">
                <a:solidFill>
                  <a:schemeClr val="tx2"/>
                </a:solidFill>
              </a:rPr>
              <a:t>La regla se definió antes de abrir el test.</a:t>
            </a:r>
            <a:endParaRPr lang="en-US" sz="1500" dirty="0"/>
          </a:p>
          <a:p>
            <a:pPr marL="0" indent="0">
              <a:buNone/>
            </a:pPr>
            <a:r>
              <a:rPr lang="en-US" sz="1500" dirty="0">
                <a:solidFill>
                  <a:schemeClr val="tx1"/>
                </a:solidFill>
              </a:rPr>
              <a:t>Así el test no influye en la elección. Aunque ignoráramos la brecha artificial de KNN, la logística seguiría siendo la opción más simple dentro del empate.</a:t>
            </a:r>
            <a:endParaRPr lang="en-US" sz="1500" dirty="0"/>
          </a:p>
        </p:txBody>
      </p:sp>
      <p:sp>
        <p:nvSpPr>
          <p:cNvPr id="30"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Evaluación final en test (una sola vez)</a:t>
            </a:r>
            <a:endParaRPr lang="en-US" sz="3200" dirty="0"/>
          </a:p>
        </p:txBody>
      </p:sp>
      <p:sp>
        <p:nvSpPr>
          <p:cNvPr id="3" name="dato F1 macro en test"/>
          <p:cNvSpPr/>
          <p:nvPr/>
        </p:nvSpPr>
        <p:spPr>
          <a:xfrm>
            <a:off x="548640" y="1371600"/>
            <a:ext cx="3566160" cy="1508760"/>
          </a:xfrm>
          <a:prstGeom prst="roundRect">
            <a:avLst>
              <a:gd name="adj" fmla="val 7273"/>
            </a:avLst>
          </a:prstGeom>
          <a:solidFill>
            <a:schemeClr val="bg2"/>
          </a:solidFill>
          <a:ln/>
        </p:spPr>
        <p:txBody>
          <a:bodyPr/>
          <a:lstStyle/>
          <a:p>
            <a:endParaRPr lang="es-GT"/>
          </a:p>
        </p:txBody>
      </p:sp>
      <p:sp>
        <p:nvSpPr>
          <p:cNvPr id="4" name="Text 2"/>
          <p:cNvSpPr txBox="1"/>
          <p:nvPr/>
        </p:nvSpPr>
        <p:spPr>
          <a:xfrm>
            <a:off x="822960" y="1508760"/>
            <a:ext cx="3017520" cy="868680"/>
          </a:xfrm>
          <a:prstGeom prst="rect">
            <a:avLst/>
          </a:prstGeom>
          <a:noFill/>
          <a:ln/>
        </p:spPr>
        <p:txBody>
          <a:bodyPr wrap="square" lIns="0" tIns="0" rIns="0" bIns="0" rtlCol="0" anchor="t"/>
          <a:lstStyle/>
          <a:p>
            <a:pPr marL="0" indent="0">
              <a:buNone/>
            </a:pPr>
            <a:r>
              <a:rPr lang="en-US" sz="5000" b="1" dirty="0">
                <a:solidFill>
                  <a:schemeClr val="accent2"/>
                </a:solidFill>
                <a:latin typeface="Cambria" pitchFamily="34" charset="0"/>
                <a:ea typeface="Cambria" pitchFamily="34" charset="-122"/>
                <a:cs typeface="Cambria" pitchFamily="34" charset="-120"/>
              </a:rPr>
              <a:t>0.931</a:t>
            </a:r>
            <a:endParaRPr lang="en-US" sz="5000" dirty="0"/>
          </a:p>
        </p:txBody>
      </p:sp>
      <p:sp>
        <p:nvSpPr>
          <p:cNvPr id="5" name="Text 3"/>
          <p:cNvSpPr txBox="1"/>
          <p:nvPr/>
        </p:nvSpPr>
        <p:spPr>
          <a:xfrm>
            <a:off x="822960" y="2377440"/>
            <a:ext cx="3017520" cy="365760"/>
          </a:xfrm>
          <a:prstGeom prst="rect">
            <a:avLst/>
          </a:prstGeom>
          <a:noFill/>
          <a:ln/>
        </p:spPr>
        <p:txBody>
          <a:bodyPr wrap="square" lIns="0" tIns="0" rIns="0" bIns="0" rtlCol="0" anchor="t"/>
          <a:lstStyle/>
          <a:p>
            <a:pPr marL="0" indent="0">
              <a:buNone/>
            </a:pPr>
            <a:r>
              <a:rPr lang="en-US" sz="1600" dirty="0">
                <a:solidFill>
                  <a:schemeClr val="tx2"/>
                </a:solidFill>
              </a:rPr>
              <a:t>F1 macro en test</a:t>
            </a:r>
            <a:endParaRPr lang="en-US" sz="1600" dirty="0"/>
          </a:p>
        </p:txBody>
      </p:sp>
      <p:sp>
        <p:nvSpPr>
          <p:cNvPr id="6" name="dato accuracy en test"/>
          <p:cNvSpPr/>
          <p:nvPr/>
        </p:nvSpPr>
        <p:spPr>
          <a:xfrm>
            <a:off x="548640" y="3108960"/>
            <a:ext cx="3566160" cy="1508760"/>
          </a:xfrm>
          <a:prstGeom prst="roundRect">
            <a:avLst>
              <a:gd name="adj" fmla="val 7273"/>
            </a:avLst>
          </a:prstGeom>
          <a:solidFill>
            <a:schemeClr val="bg2"/>
          </a:solidFill>
          <a:ln/>
        </p:spPr>
        <p:txBody>
          <a:bodyPr/>
          <a:lstStyle/>
          <a:p>
            <a:endParaRPr lang="es-GT"/>
          </a:p>
        </p:txBody>
      </p:sp>
      <p:sp>
        <p:nvSpPr>
          <p:cNvPr id="7" name="Text 5"/>
          <p:cNvSpPr txBox="1"/>
          <p:nvPr/>
        </p:nvSpPr>
        <p:spPr>
          <a:xfrm>
            <a:off x="822960" y="3246120"/>
            <a:ext cx="3017520" cy="868680"/>
          </a:xfrm>
          <a:prstGeom prst="rect">
            <a:avLst/>
          </a:prstGeom>
          <a:noFill/>
          <a:ln/>
        </p:spPr>
        <p:txBody>
          <a:bodyPr wrap="square" lIns="0" tIns="0" rIns="0" bIns="0" rtlCol="0" anchor="t"/>
          <a:lstStyle/>
          <a:p>
            <a:pPr marL="0" indent="0">
              <a:buNone/>
            </a:pPr>
            <a:r>
              <a:rPr lang="en-US" sz="5000" b="1" dirty="0">
                <a:solidFill>
                  <a:schemeClr val="accent2"/>
                </a:solidFill>
                <a:latin typeface="Cambria" pitchFamily="34" charset="0"/>
                <a:ea typeface="Cambria" pitchFamily="34" charset="-122"/>
                <a:cs typeface="Cambria" pitchFamily="34" charset="-120"/>
              </a:rPr>
              <a:t>0.921</a:t>
            </a:r>
            <a:endParaRPr lang="en-US" sz="5000" dirty="0"/>
          </a:p>
        </p:txBody>
      </p:sp>
      <p:sp>
        <p:nvSpPr>
          <p:cNvPr id="8" name="Text 6"/>
          <p:cNvSpPr txBox="1"/>
          <p:nvPr/>
        </p:nvSpPr>
        <p:spPr>
          <a:xfrm>
            <a:off x="822960" y="4114800"/>
            <a:ext cx="3017520" cy="365760"/>
          </a:xfrm>
          <a:prstGeom prst="rect">
            <a:avLst/>
          </a:prstGeom>
          <a:noFill/>
          <a:ln/>
        </p:spPr>
        <p:txBody>
          <a:bodyPr wrap="square" lIns="0" tIns="0" rIns="0" bIns="0" rtlCol="0" anchor="t"/>
          <a:lstStyle/>
          <a:p>
            <a:pPr marL="0" indent="0">
              <a:buNone/>
            </a:pPr>
            <a:r>
              <a:rPr lang="en-US" sz="1600" dirty="0">
                <a:solidFill>
                  <a:schemeClr val="tx2"/>
                </a:solidFill>
              </a:rPr>
              <a:t>accuracy en test</a:t>
            </a:r>
            <a:endParaRPr lang="en-US" sz="1600" dirty="0"/>
          </a:p>
        </p:txBody>
      </p:sp>
      <p:sp>
        <p:nvSpPr>
          <p:cNvPr id="9" name="nota caída"/>
          <p:cNvSpPr/>
          <p:nvPr/>
        </p:nvSpPr>
        <p:spPr>
          <a:xfrm>
            <a:off x="548640" y="4846320"/>
            <a:ext cx="3566160" cy="1325880"/>
          </a:xfrm>
          <a:prstGeom prst="roundRect">
            <a:avLst>
              <a:gd name="adj" fmla="val 8276"/>
            </a:avLst>
          </a:prstGeom>
          <a:solidFill>
            <a:schemeClr val="bg2"/>
          </a:solidFill>
          <a:ln/>
        </p:spPr>
        <p:txBody>
          <a:bodyPr/>
          <a:lstStyle/>
          <a:p>
            <a:endParaRPr lang="es-GT"/>
          </a:p>
        </p:txBody>
      </p:sp>
      <p:sp>
        <p:nvSpPr>
          <p:cNvPr id="10" name="Text 8"/>
          <p:cNvSpPr txBox="1"/>
          <p:nvPr/>
        </p:nvSpPr>
        <p:spPr>
          <a:xfrm>
            <a:off x="777240" y="4983480"/>
            <a:ext cx="3200400" cy="1097280"/>
          </a:xfrm>
          <a:prstGeom prst="rect">
            <a:avLst/>
          </a:prstGeom>
          <a:noFill/>
          <a:ln/>
        </p:spPr>
        <p:txBody>
          <a:bodyPr wrap="square" lIns="0" tIns="0" rIns="0" bIns="0" rtlCol="0" anchor="t"/>
          <a:lstStyle/>
          <a:p>
            <a:pPr marL="0" indent="0">
              <a:buNone/>
            </a:pPr>
            <a:r>
              <a:rPr lang="en-US" sz="1400" b="1" dirty="0">
                <a:solidFill>
                  <a:schemeClr val="tx2"/>
                </a:solidFill>
              </a:rPr>
              <a:t>Validación 0.938 → test 0.931</a:t>
            </a:r>
            <a:endParaRPr lang="en-US" sz="1400" dirty="0"/>
          </a:p>
          <a:p>
            <a:pPr marL="0" indent="0">
              <a:buNone/>
            </a:pPr>
            <a:r>
              <a:rPr lang="en-US" sz="1400" dirty="0">
                <a:solidFill>
                  <a:schemeClr val="tx1"/>
                </a:solidFill>
              </a:rPr>
              <a:t>Caída de solo 0.0065: el modelo generaliza bien.</a:t>
            </a:r>
            <a:endParaRPr lang="en-US" sz="1400" dirty="0"/>
          </a:p>
        </p:txBody>
      </p:sp>
      <p:graphicFrame>
        <p:nvGraphicFramePr>
          <p:cNvPr id="11" name="gráfica F1 por variedad"/>
          <p:cNvGraphicFramePr/>
          <p:nvPr/>
        </p:nvGraphicFramePr>
        <p:xfrm>
          <a:off x="4480560" y="1280160"/>
          <a:ext cx="713232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Matriz de confusión en test</a:t>
            </a:r>
            <a:endParaRPr lang="en-US" sz="3200" dirty="0"/>
          </a:p>
        </p:txBody>
      </p:sp>
      <p:graphicFrame>
        <p:nvGraphicFramePr>
          <p:cNvPr id="15" name="matriz de confusión"/>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862279">
                  <a:extLst>
                    <a:ext uri="{9D8B030D-6E8A-4147-A177-3AD203B41FA5}">
                      <a16:colId xmlns:a16="http://schemas.microsoft.com/office/drawing/2014/main" val="20001"/>
                    </a:ext>
                  </a:extLst>
                </a:gridCol>
                <a:gridCol w="862279">
                  <a:extLst>
                    <a:ext uri="{9D8B030D-6E8A-4147-A177-3AD203B41FA5}">
                      <a16:colId xmlns:a16="http://schemas.microsoft.com/office/drawing/2014/main" val="20002"/>
                    </a:ext>
                  </a:extLst>
                </a:gridCol>
                <a:gridCol w="862279">
                  <a:extLst>
                    <a:ext uri="{9D8B030D-6E8A-4147-A177-3AD203B41FA5}">
                      <a16:colId xmlns:a16="http://schemas.microsoft.com/office/drawing/2014/main" val="20003"/>
                    </a:ext>
                  </a:extLst>
                </a:gridCol>
                <a:gridCol w="862279">
                  <a:extLst>
                    <a:ext uri="{9D8B030D-6E8A-4147-A177-3AD203B41FA5}">
                      <a16:colId xmlns:a16="http://schemas.microsoft.com/office/drawing/2014/main" val="20004"/>
                    </a:ext>
                  </a:extLst>
                </a:gridCol>
                <a:gridCol w="862279">
                  <a:extLst>
                    <a:ext uri="{9D8B030D-6E8A-4147-A177-3AD203B41FA5}">
                      <a16:colId xmlns:a16="http://schemas.microsoft.com/office/drawing/2014/main" val="20005"/>
                    </a:ext>
                  </a:extLst>
                </a:gridCol>
                <a:gridCol w="862279">
                  <a:extLst>
                    <a:ext uri="{9D8B030D-6E8A-4147-A177-3AD203B41FA5}">
                      <a16:colId xmlns:a16="http://schemas.microsoft.com/office/drawing/2014/main" val="20006"/>
                    </a:ext>
                  </a:extLst>
                </a:gridCol>
                <a:gridCol w="862279">
                  <a:extLst>
                    <a:ext uri="{9D8B030D-6E8A-4147-A177-3AD203B41FA5}">
                      <a16:colId xmlns:a16="http://schemas.microsoft.com/office/drawing/2014/main" val="20007"/>
                    </a:ext>
                  </a:extLst>
                </a:gridCol>
              </a:tblGrid>
              <a:tr h="566928">
                <a:tc>
                  <a:txBody>
                    <a:bodyPr/>
                    <a:lstStyle/>
                    <a:p>
                      <a:pPr marL="0" indent="0">
                        <a:buNone/>
                      </a:pPr>
                      <a:r>
                        <a:rPr lang="en-US" sz="1000" b="1" dirty="0">
                          <a:solidFill>
                            <a:srgbClr val="6E5D52"/>
                          </a:solidFill>
                        </a:rPr>
                        <a:t>Real ↓  /  Predicha →</a:t>
                      </a:r>
                      <a:endParaRPr lang="en-US" sz="10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100" b="1" dirty="0">
                          <a:solidFill>
                            <a:srgbClr val="4A3428"/>
                          </a:solidFill>
                        </a:rPr>
                        <a:t>BARBUNYA</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100" b="1" dirty="0">
                          <a:solidFill>
                            <a:srgbClr val="4A3428"/>
                          </a:solidFill>
                        </a:rPr>
                        <a:t>BOMBAY</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100" b="1" dirty="0">
                          <a:solidFill>
                            <a:srgbClr val="4A3428"/>
                          </a:solidFill>
                        </a:rPr>
                        <a:t>CALI</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100" b="1" dirty="0">
                          <a:solidFill>
                            <a:srgbClr val="4A3428"/>
                          </a:solidFill>
                        </a:rPr>
                        <a:t>DERMASON</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100" b="1" dirty="0">
                          <a:solidFill>
                            <a:srgbClr val="4A3428"/>
                          </a:solidFill>
                        </a:rPr>
                        <a:t>HOROZ</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100" b="1" dirty="0">
                          <a:solidFill>
                            <a:srgbClr val="4A3428"/>
                          </a:solidFill>
                        </a:rPr>
                        <a:t>SEKER</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100" b="1" dirty="0">
                          <a:solidFill>
                            <a:srgbClr val="4A3428"/>
                          </a:solidFill>
                        </a:rPr>
                        <a:t>SIRA</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extLst>
                  <a:ext uri="{0D108BD9-81ED-4DB2-BD59-A6C34878D82A}">
                    <a16:rowId xmlns:a16="http://schemas.microsoft.com/office/drawing/2014/main" val="10000"/>
                  </a:ext>
                </a:extLst>
              </a:tr>
              <a:tr h="566928">
                <a:tc>
                  <a:txBody>
                    <a:bodyPr/>
                    <a:lstStyle/>
                    <a:p>
                      <a:pPr marL="0" indent="0" algn="ctr">
                        <a:buNone/>
                      </a:pPr>
                      <a:r>
                        <a:rPr lang="en-US" sz="1100" b="1" dirty="0">
                          <a:solidFill>
                            <a:srgbClr val="4A3428"/>
                          </a:solidFill>
                        </a:rPr>
                        <a:t>BARBUNYA</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400" b="1" dirty="0">
                          <a:solidFill>
                            <a:srgbClr val="FFFFFF"/>
                          </a:solidFill>
                        </a:rPr>
                        <a:t>236</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8C5A"/>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18</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A88F"/>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4</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dirty="0">
                          <a:solidFill>
                            <a:srgbClr val="2B1D14"/>
                          </a:solidFill>
                        </a:rPr>
                        <a:t>7</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extLst>
                  <a:ext uri="{0D108BD9-81ED-4DB2-BD59-A6C34878D82A}">
                    <a16:rowId xmlns:a16="http://schemas.microsoft.com/office/drawing/2014/main" val="10001"/>
                  </a:ext>
                </a:extLst>
              </a:tr>
              <a:tr h="566928">
                <a:tc>
                  <a:txBody>
                    <a:bodyPr/>
                    <a:lstStyle/>
                    <a:p>
                      <a:pPr marL="0" indent="0" algn="ctr">
                        <a:buNone/>
                      </a:pPr>
                      <a:r>
                        <a:rPr lang="en-US" sz="1100" b="1" dirty="0">
                          <a:solidFill>
                            <a:srgbClr val="4A3428"/>
                          </a:solidFill>
                        </a:rPr>
                        <a:t>BOMBAY</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rPr>
                        <a:t>103</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8C5A"/>
                    </a:solidFill>
                  </a:tcPr>
                </a:tc>
                <a:tc>
                  <a:txBody>
                    <a:bodyPr/>
                    <a:lstStyle/>
                    <a:p>
                      <a:pPr marL="0" indent="0" algn="ctr">
                        <a:buNone/>
                      </a:pPr>
                      <a:r>
                        <a:rPr lang="en-US" sz="1400" dirty="0">
                          <a:solidFill>
                            <a:srgbClr val="2B1D14"/>
                          </a:solidFill>
                        </a:rPr>
                        <a:t>1</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ctr">
                        <a:buNone/>
                      </a:pPr>
                      <a:r>
                        <a:rPr lang="en-US" sz="1100" b="1" dirty="0">
                          <a:solidFill>
                            <a:srgbClr val="4A3428"/>
                          </a:solidFill>
                        </a:rPr>
                        <a:t>CALI</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400" dirty="0">
                          <a:solidFill>
                            <a:srgbClr val="2B1D14"/>
                          </a:solidFill>
                        </a:rPr>
                        <a:t>9</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rPr>
                        <a:t>307</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8C5A"/>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5</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dirty="0">
                          <a:solidFill>
                            <a:srgbClr val="2B1D14"/>
                          </a:solidFill>
                        </a:rPr>
                        <a:t>2</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dirty="0">
                          <a:solidFill>
                            <a:srgbClr val="2B1D14"/>
                          </a:solidFill>
                        </a:rPr>
                        <a:t>3</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extLst>
                  <a:ext uri="{0D108BD9-81ED-4DB2-BD59-A6C34878D82A}">
                    <a16:rowId xmlns:a16="http://schemas.microsoft.com/office/drawing/2014/main" val="10003"/>
                  </a:ext>
                </a:extLst>
              </a:tr>
              <a:tr h="566928">
                <a:tc>
                  <a:txBody>
                    <a:bodyPr/>
                    <a:lstStyle/>
                    <a:p>
                      <a:pPr marL="0" indent="0" algn="ctr">
                        <a:buNone/>
                      </a:pPr>
                      <a:r>
                        <a:rPr lang="en-US" sz="1100" b="1" dirty="0">
                          <a:solidFill>
                            <a:srgbClr val="4A3428"/>
                          </a:solidFill>
                        </a:rPr>
                        <a:t>DERMASON</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rPr>
                        <a:t>645</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8C5A"/>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11</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A88F"/>
                    </a:solidFill>
                  </a:tcPr>
                </a:tc>
                <a:tc>
                  <a:txBody>
                    <a:bodyPr/>
                    <a:lstStyle/>
                    <a:p>
                      <a:pPr marL="0" indent="0" algn="ctr">
                        <a:buNone/>
                      </a:pPr>
                      <a:r>
                        <a:rPr lang="en-US" sz="1400" b="1" dirty="0">
                          <a:solidFill>
                            <a:srgbClr val="FFFFFF"/>
                          </a:solidFill>
                        </a:rPr>
                        <a:t>53</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532F"/>
                    </a:solidFill>
                  </a:tcPr>
                </a:tc>
                <a:extLst>
                  <a:ext uri="{0D108BD9-81ED-4DB2-BD59-A6C34878D82A}">
                    <a16:rowId xmlns:a16="http://schemas.microsoft.com/office/drawing/2014/main" val="10004"/>
                  </a:ext>
                </a:extLst>
              </a:tr>
              <a:tr h="566928">
                <a:tc>
                  <a:txBody>
                    <a:bodyPr/>
                    <a:lstStyle/>
                    <a:p>
                      <a:pPr marL="0" indent="0" algn="ctr">
                        <a:buNone/>
                      </a:pPr>
                      <a:r>
                        <a:rPr lang="en-US" sz="1100" b="1" dirty="0">
                          <a:solidFill>
                            <a:srgbClr val="4A3428"/>
                          </a:solidFill>
                        </a:rPr>
                        <a:t>HOROZ</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400" dirty="0">
                          <a:solidFill>
                            <a:srgbClr val="2B1D14"/>
                          </a:solidFill>
                        </a:rPr>
                        <a:t>1</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12</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A88F"/>
                    </a:solidFill>
                  </a:tcPr>
                </a:tc>
                <a:tc>
                  <a:txBody>
                    <a:bodyPr/>
                    <a:lstStyle/>
                    <a:p>
                      <a:pPr marL="0" indent="0" algn="ctr">
                        <a:buNone/>
                      </a:pPr>
                      <a:r>
                        <a:rPr lang="en-US" sz="1400" dirty="0">
                          <a:solidFill>
                            <a:srgbClr val="2B1D14"/>
                          </a:solidFill>
                        </a:rPr>
                        <a:t>5</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b="1" dirty="0">
                          <a:solidFill>
                            <a:srgbClr val="FFFFFF"/>
                          </a:solidFill>
                        </a:rPr>
                        <a:t>350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8C5A"/>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4</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extLst>
                  <a:ext uri="{0D108BD9-81ED-4DB2-BD59-A6C34878D82A}">
                    <a16:rowId xmlns:a16="http://schemas.microsoft.com/office/drawing/2014/main" val="10005"/>
                  </a:ext>
                </a:extLst>
              </a:tr>
              <a:tr h="566928">
                <a:tc>
                  <a:txBody>
                    <a:bodyPr/>
                    <a:lstStyle/>
                    <a:p>
                      <a:pPr marL="0" indent="0" algn="ctr">
                        <a:buNone/>
                      </a:pPr>
                      <a:r>
                        <a:rPr lang="en-US" sz="1100" b="1" dirty="0">
                          <a:solidFill>
                            <a:srgbClr val="4A3428"/>
                          </a:solidFill>
                        </a:rPr>
                        <a:t>SEKER</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400" dirty="0">
                          <a:solidFill>
                            <a:srgbClr val="2B1D14"/>
                          </a:solidFill>
                        </a:rPr>
                        <a:t>7</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5</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rPr>
                        <a:t>385</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8C5A"/>
                    </a:solidFill>
                  </a:tcPr>
                </a:tc>
                <a:tc>
                  <a:txBody>
                    <a:bodyPr/>
                    <a:lstStyle/>
                    <a:p>
                      <a:pPr marL="0" indent="0" algn="ctr">
                        <a:buNone/>
                      </a:pPr>
                      <a:r>
                        <a:rPr lang="en-US" sz="1400" dirty="0">
                          <a:solidFill>
                            <a:srgbClr val="2B1D14"/>
                          </a:solidFill>
                        </a:rPr>
                        <a:t>9</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extLst>
                  <a:ext uri="{0D108BD9-81ED-4DB2-BD59-A6C34878D82A}">
                    <a16:rowId xmlns:a16="http://schemas.microsoft.com/office/drawing/2014/main" val="10006"/>
                  </a:ext>
                </a:extLst>
              </a:tr>
              <a:tr h="566928">
                <a:tc>
                  <a:txBody>
                    <a:bodyPr/>
                    <a:lstStyle/>
                    <a:p>
                      <a:pPr marL="0" indent="0" algn="ctr">
                        <a:buNone/>
                      </a:pPr>
                      <a:r>
                        <a:rPr lang="en-US" sz="1100" b="1" dirty="0">
                          <a:solidFill>
                            <a:srgbClr val="4A3428"/>
                          </a:solidFill>
                        </a:rPr>
                        <a:t>SIRA</a:t>
                      </a:r>
                      <a:endParaRPr lang="en-US" sz="11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EE7"/>
                    </a:solidFill>
                  </a:tcPr>
                </a:tc>
                <a:tc>
                  <a:txBody>
                    <a:bodyPr/>
                    <a:lstStyle/>
                    <a:p>
                      <a:pPr marL="0" indent="0" algn="ctr">
                        <a:buNone/>
                      </a:pPr>
                      <a:r>
                        <a:rPr lang="en-US" sz="1400" dirty="0">
                          <a:solidFill>
                            <a:srgbClr val="2B1D14"/>
                          </a:solidFill>
                        </a:rPr>
                        <a:t>1</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dirty="0">
                          <a:solidFill>
                            <a:srgbClr val="2B1D14"/>
                          </a:solidFill>
                        </a:rPr>
                        <a:t>0</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B1D14"/>
                          </a:solidFill>
                        </a:rPr>
                        <a:t>1</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b="1" dirty="0">
                          <a:solidFill>
                            <a:srgbClr val="FFFFFF"/>
                          </a:solidFill>
                        </a:rPr>
                        <a:t>42</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532F"/>
                    </a:solidFill>
                  </a:tcPr>
                </a:tc>
                <a:tc>
                  <a:txBody>
                    <a:bodyPr/>
                    <a:lstStyle/>
                    <a:p>
                      <a:pPr marL="0" indent="0" algn="ctr">
                        <a:buNone/>
                      </a:pPr>
                      <a:r>
                        <a:rPr lang="en-US" sz="1400" dirty="0">
                          <a:solidFill>
                            <a:srgbClr val="2B1D14"/>
                          </a:solidFill>
                        </a:rPr>
                        <a:t>6</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dirty="0">
                          <a:solidFill>
                            <a:srgbClr val="2B1D14"/>
                          </a:solidFill>
                        </a:rPr>
                        <a:t>9</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E3D9"/>
                    </a:solidFill>
                  </a:tcPr>
                </a:tc>
                <a:tc>
                  <a:txBody>
                    <a:bodyPr/>
                    <a:lstStyle/>
                    <a:p>
                      <a:pPr marL="0" indent="0" algn="ctr">
                        <a:buNone/>
                      </a:pPr>
                      <a:r>
                        <a:rPr lang="en-US" sz="1400" b="1" dirty="0">
                          <a:solidFill>
                            <a:srgbClr val="FFFFFF"/>
                          </a:solidFill>
                        </a:rPr>
                        <a:t>468</a:t>
                      </a:r>
                      <a:endParaRPr lang="en-US" sz="1400" dirty="0"/>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8C5A"/>
                    </a:solidFill>
                  </a:tcPr>
                </a:tc>
                <a:extLst>
                  <a:ext uri="{0D108BD9-81ED-4DB2-BD59-A6C34878D82A}">
                    <a16:rowId xmlns:a16="http://schemas.microsoft.com/office/drawing/2014/main" val="10007"/>
                  </a:ext>
                </a:extLst>
              </a:tr>
            </a:tbl>
          </a:graphicData>
        </a:graphic>
      </p:graphicFrame>
      <p:sp>
        <p:nvSpPr>
          <p:cNvPr id="4" name="tarjeta matriz"/>
          <p:cNvSpPr/>
          <p:nvPr/>
        </p:nvSpPr>
        <p:spPr>
          <a:xfrm>
            <a:off x="8412480" y="1371600"/>
            <a:ext cx="3200400" cy="4754880"/>
          </a:xfrm>
          <a:prstGeom prst="roundRect">
            <a:avLst>
              <a:gd name="adj" fmla="val 3429"/>
            </a:avLst>
          </a:prstGeom>
          <a:solidFill>
            <a:schemeClr val="bg2"/>
          </a:solidFill>
          <a:ln/>
        </p:spPr>
        <p:txBody>
          <a:bodyPr/>
          <a:lstStyle/>
          <a:p>
            <a:endParaRPr lang="es-GT"/>
          </a:p>
        </p:txBody>
      </p:sp>
      <p:sp>
        <p:nvSpPr>
          <p:cNvPr id="5" name="Text 2"/>
          <p:cNvSpPr txBox="1"/>
          <p:nvPr/>
        </p:nvSpPr>
        <p:spPr>
          <a:xfrm>
            <a:off x="8641080" y="1554480"/>
            <a:ext cx="2743200" cy="411480"/>
          </a:xfrm>
          <a:prstGeom prst="rect">
            <a:avLst/>
          </a:prstGeom>
          <a:noFill/>
          <a:ln/>
        </p:spPr>
        <p:txBody>
          <a:bodyPr wrap="square" lIns="0" tIns="0" rIns="0" bIns="0" rtlCol="0" anchor="t"/>
          <a:lstStyle/>
          <a:p>
            <a:pPr marL="0" indent="0">
              <a:buNone/>
            </a:pPr>
            <a:r>
              <a:rPr lang="en-US" sz="1800" b="1" dirty="0">
                <a:solidFill>
                  <a:schemeClr val="tx2"/>
                </a:solidFill>
              </a:rPr>
              <a:t>Cómo leerla</a:t>
            </a:r>
            <a:endParaRPr lang="en-US" sz="1800" dirty="0"/>
          </a:p>
        </p:txBody>
      </p:sp>
      <p:sp>
        <p:nvSpPr>
          <p:cNvPr id="6" name="Text 3"/>
          <p:cNvSpPr txBox="1"/>
          <p:nvPr/>
        </p:nvSpPr>
        <p:spPr>
          <a:xfrm>
            <a:off x="8641080" y="2011680"/>
            <a:ext cx="274320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Verde: aciertos (diagonal)</a:t>
            </a:r>
            <a:endParaRPr lang="en-US" sz="1400" dirty="0"/>
          </a:p>
          <a:p>
            <a:pPr marL="342900" indent="-342900">
              <a:spcAft>
                <a:spcPts val="600"/>
              </a:spcAft>
              <a:buSzPct val="100000"/>
              <a:buChar char="•"/>
            </a:pPr>
            <a:r>
              <a:rPr lang="en-US" sz="1400" dirty="0">
                <a:solidFill>
                  <a:schemeClr val="tx1"/>
                </a:solidFill>
              </a:rPr>
              <a:t>Rojo: errores grandes</a:t>
            </a:r>
            <a:endParaRPr lang="en-US" sz="1400" dirty="0"/>
          </a:p>
          <a:p>
            <a:pPr marL="342900" indent="-342900">
              <a:spcAft>
                <a:spcPts val="600"/>
              </a:spcAft>
              <a:buSzPct val="100000"/>
              <a:buChar char="•"/>
            </a:pPr>
            <a:r>
              <a:rPr lang="en-US" sz="1400" dirty="0">
                <a:solidFill>
                  <a:schemeClr val="tx1"/>
                </a:solidFill>
              </a:rPr>
              <a:t>2,494 de 2,709 correctas</a:t>
            </a:r>
            <a:endParaRPr lang="en-US" sz="1400" dirty="0"/>
          </a:p>
        </p:txBody>
      </p:sp>
      <p:sp>
        <p:nvSpPr>
          <p:cNvPr id="7" name="Text 4"/>
          <p:cNvSpPr txBox="1"/>
          <p:nvPr/>
        </p:nvSpPr>
        <p:spPr>
          <a:xfrm>
            <a:off x="8641080" y="3657600"/>
            <a:ext cx="2743200" cy="2286000"/>
          </a:xfrm>
          <a:prstGeom prst="rect">
            <a:avLst/>
          </a:prstGeom>
          <a:noFill/>
          <a:ln/>
        </p:spPr>
        <p:txBody>
          <a:bodyPr wrap="square" lIns="0" tIns="0" rIns="0" bIns="0" rtlCol="0" anchor="t"/>
          <a:lstStyle/>
          <a:p>
            <a:pPr marL="0" indent="0">
              <a:buNone/>
            </a:pPr>
            <a:r>
              <a:rPr lang="en-US" sz="3000" b="1" dirty="0">
                <a:solidFill>
                  <a:schemeClr val="accent2"/>
                </a:solidFill>
              </a:rPr>
              <a:t>53 + 42</a:t>
            </a:r>
            <a:endParaRPr lang="en-US" sz="1400" dirty="0"/>
          </a:p>
          <a:p>
            <a:pPr marL="0" indent="0">
              <a:buNone/>
            </a:pPr>
            <a:r>
              <a:rPr lang="en-US" sz="1400" dirty="0">
                <a:solidFill>
                  <a:schemeClr val="tx1"/>
                </a:solidFill>
              </a:rPr>
              <a:t>DERMASON ↔ SIRA, el par que ya se traslapaba en la exploración.</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¿Dónde se equivoca el modelo?</a:t>
            </a:r>
            <a:endParaRPr lang="en-US" sz="3200" dirty="0"/>
          </a:p>
        </p:txBody>
      </p:sp>
      <p:graphicFrame>
        <p:nvGraphicFramePr>
          <p:cNvPr id="3" name="gráfica errores por par"/>
          <p:cNvGraphicFramePr/>
          <p:nvPr/>
        </p:nvGraphicFramePr>
        <p:xfrm>
          <a:off x="548640" y="1280160"/>
          <a:ext cx="722376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dato 44"/>
          <p:cNvSpPr/>
          <p:nvPr/>
        </p:nvSpPr>
        <p:spPr>
          <a:xfrm>
            <a:off x="8138160" y="1371600"/>
            <a:ext cx="3474720" cy="2286000"/>
          </a:xfrm>
          <a:prstGeom prst="roundRect">
            <a:avLst>
              <a:gd name="adj" fmla="val 4800"/>
            </a:avLst>
          </a:prstGeom>
          <a:solidFill>
            <a:schemeClr val="bg2"/>
          </a:solidFill>
          <a:ln/>
        </p:spPr>
        <p:txBody>
          <a:bodyPr/>
          <a:lstStyle/>
          <a:p>
            <a:endParaRPr lang="es-GT"/>
          </a:p>
        </p:txBody>
      </p:sp>
      <p:sp>
        <p:nvSpPr>
          <p:cNvPr id="5" name="Text 2"/>
          <p:cNvSpPr txBox="1"/>
          <p:nvPr/>
        </p:nvSpPr>
        <p:spPr>
          <a:xfrm>
            <a:off x="8412480" y="1554480"/>
            <a:ext cx="2926080" cy="914400"/>
          </a:xfrm>
          <a:prstGeom prst="rect">
            <a:avLst/>
          </a:prstGeom>
          <a:noFill/>
          <a:ln/>
        </p:spPr>
        <p:txBody>
          <a:bodyPr wrap="square" lIns="0" tIns="0" rIns="0" bIns="0" rtlCol="0" anchor="t"/>
          <a:lstStyle/>
          <a:p>
            <a:pPr marL="0" indent="0">
              <a:buNone/>
            </a:pPr>
            <a:r>
              <a:rPr lang="en-US" sz="5400" b="1" dirty="0">
                <a:solidFill>
                  <a:schemeClr val="accent2"/>
                </a:solidFill>
                <a:latin typeface="Cambria" pitchFamily="34" charset="0"/>
                <a:ea typeface="Cambria" pitchFamily="34" charset="-122"/>
                <a:cs typeface="Cambria" pitchFamily="34" charset="-120"/>
              </a:rPr>
              <a:t>44 %</a:t>
            </a:r>
            <a:endParaRPr lang="en-US" sz="5400" dirty="0"/>
          </a:p>
        </p:txBody>
      </p:sp>
      <p:sp>
        <p:nvSpPr>
          <p:cNvPr id="6" name="Text 3"/>
          <p:cNvSpPr txBox="1"/>
          <p:nvPr/>
        </p:nvSpPr>
        <p:spPr>
          <a:xfrm>
            <a:off x="8412480" y="2514600"/>
            <a:ext cx="2926080" cy="822960"/>
          </a:xfrm>
          <a:prstGeom prst="rect">
            <a:avLst/>
          </a:prstGeom>
          <a:noFill/>
          <a:ln/>
        </p:spPr>
        <p:txBody>
          <a:bodyPr wrap="square" lIns="0" tIns="0" rIns="0" bIns="0" rtlCol="0" anchor="t"/>
          <a:lstStyle/>
          <a:p>
            <a:pPr marL="0" indent="0">
              <a:buNone/>
            </a:pPr>
            <a:r>
              <a:rPr lang="en-US" sz="1500" dirty="0">
                <a:solidFill>
                  <a:schemeClr val="tx2"/>
                </a:solidFill>
              </a:rPr>
              <a:t>de los errores son entre DERMASON y SIRA</a:t>
            </a:r>
            <a:endParaRPr lang="en-US" sz="1500" dirty="0"/>
          </a:p>
        </p:txBody>
      </p:sp>
      <p:sp>
        <p:nvSpPr>
          <p:cNvPr id="7" name="dato 57"/>
          <p:cNvSpPr/>
          <p:nvPr/>
        </p:nvSpPr>
        <p:spPr>
          <a:xfrm>
            <a:off x="8138160" y="3840480"/>
            <a:ext cx="3474720" cy="2286000"/>
          </a:xfrm>
          <a:prstGeom prst="roundRect">
            <a:avLst>
              <a:gd name="adj" fmla="val 4800"/>
            </a:avLst>
          </a:prstGeom>
          <a:solidFill>
            <a:schemeClr val="bg2"/>
          </a:solidFill>
          <a:ln/>
        </p:spPr>
        <p:txBody>
          <a:bodyPr/>
          <a:lstStyle/>
          <a:p>
            <a:endParaRPr lang="es-GT"/>
          </a:p>
        </p:txBody>
      </p:sp>
      <p:sp>
        <p:nvSpPr>
          <p:cNvPr id="8" name="Text 5"/>
          <p:cNvSpPr txBox="1"/>
          <p:nvPr/>
        </p:nvSpPr>
        <p:spPr>
          <a:xfrm>
            <a:off x="8412480" y="4023360"/>
            <a:ext cx="2926080" cy="914400"/>
          </a:xfrm>
          <a:prstGeom prst="rect">
            <a:avLst/>
          </a:prstGeom>
          <a:noFill/>
          <a:ln/>
        </p:spPr>
        <p:txBody>
          <a:bodyPr wrap="square" lIns="0" tIns="0" rIns="0" bIns="0" rtlCol="0" anchor="t"/>
          <a:lstStyle/>
          <a:p>
            <a:pPr marL="0" indent="0">
              <a:buNone/>
            </a:pPr>
            <a:r>
              <a:rPr lang="en-US" sz="5400" b="1" dirty="0">
                <a:solidFill>
                  <a:schemeClr val="accent4"/>
                </a:solidFill>
                <a:latin typeface="Cambria" pitchFamily="34" charset="0"/>
                <a:ea typeface="Cambria" pitchFamily="34" charset="-122"/>
                <a:cs typeface="Cambria" pitchFamily="34" charset="-120"/>
              </a:rPr>
              <a:t>57 %</a:t>
            </a:r>
            <a:endParaRPr lang="en-US" sz="5400" dirty="0"/>
          </a:p>
        </p:txBody>
      </p:sp>
      <p:sp>
        <p:nvSpPr>
          <p:cNvPr id="9" name="Text 6"/>
          <p:cNvSpPr txBox="1"/>
          <p:nvPr/>
        </p:nvSpPr>
        <p:spPr>
          <a:xfrm>
            <a:off x="8412480" y="4983480"/>
            <a:ext cx="2926080" cy="822960"/>
          </a:xfrm>
          <a:prstGeom prst="rect">
            <a:avLst/>
          </a:prstGeom>
          <a:noFill/>
          <a:ln/>
        </p:spPr>
        <p:txBody>
          <a:bodyPr wrap="square" lIns="0" tIns="0" rIns="0" bIns="0" rtlCol="0" anchor="t"/>
          <a:lstStyle/>
          <a:p>
            <a:pPr marL="0" indent="0">
              <a:buNone/>
            </a:pPr>
            <a:r>
              <a:rPr lang="en-US" sz="1500" dirty="0">
                <a:solidFill>
                  <a:schemeClr val="tx2"/>
                </a:solidFill>
              </a:rPr>
              <a:t>de los errores están en solo dos pares, los que ya se parecían</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Ejemplos concretos de errores</a:t>
            </a:r>
            <a:endParaRPr lang="en-US" sz="3200" dirty="0"/>
          </a:p>
        </p:txBody>
      </p:sp>
      <p:sp>
        <p:nvSpPr>
          <p:cNvPr id="3" name="ejemplo Fila 7436"/>
          <p:cNvSpPr/>
          <p:nvPr/>
        </p:nvSpPr>
        <p:spPr>
          <a:xfrm>
            <a:off x="548640" y="1371600"/>
            <a:ext cx="3474720" cy="4800600"/>
          </a:xfrm>
          <a:prstGeom prst="roundRect">
            <a:avLst>
              <a:gd name="adj" fmla="val 3158"/>
            </a:avLst>
          </a:prstGeom>
          <a:solidFill>
            <a:schemeClr val="bg2"/>
          </a:solidFill>
          <a:ln/>
        </p:spPr>
        <p:txBody>
          <a:bodyPr/>
          <a:lstStyle/>
          <a:p>
            <a:endParaRPr lang="es-GT"/>
          </a:p>
        </p:txBody>
      </p:sp>
      <p:sp>
        <p:nvSpPr>
          <p:cNvPr id="4" name="Text 2"/>
          <p:cNvSpPr txBox="1"/>
          <p:nvPr/>
        </p:nvSpPr>
        <p:spPr>
          <a:xfrm>
            <a:off x="822960" y="1554480"/>
            <a:ext cx="2926080" cy="411480"/>
          </a:xfrm>
          <a:prstGeom prst="rect">
            <a:avLst/>
          </a:prstGeom>
          <a:noFill/>
          <a:ln/>
        </p:spPr>
        <p:txBody>
          <a:bodyPr wrap="square" lIns="0" tIns="0" rIns="0" bIns="0" rtlCol="0" anchor="t"/>
          <a:lstStyle/>
          <a:p>
            <a:pPr marL="0" indent="0">
              <a:buNone/>
            </a:pPr>
            <a:r>
              <a:rPr lang="en-US" sz="1900" b="1" dirty="0">
                <a:solidFill>
                  <a:schemeClr val="tx2"/>
                </a:solidFill>
              </a:rPr>
              <a:t>Fila 7436</a:t>
            </a:r>
            <a:endParaRPr lang="en-US" sz="1900" dirty="0"/>
          </a:p>
        </p:txBody>
      </p:sp>
      <p:sp>
        <p:nvSpPr>
          <p:cNvPr id="5" name="real Fila 7436"/>
          <p:cNvSpPr/>
          <p:nvPr/>
        </p:nvSpPr>
        <p:spPr>
          <a:xfrm>
            <a:off x="822960" y="2148840"/>
            <a:ext cx="1280160" cy="457200"/>
          </a:xfrm>
          <a:prstGeom prst="roundRect">
            <a:avLst>
              <a:gd name="adj" fmla="val 20000"/>
            </a:avLst>
          </a:prstGeom>
          <a:solidFill>
            <a:schemeClr val="accent1"/>
          </a:solidFill>
          <a:ln/>
        </p:spPr>
        <p:txBody>
          <a:bodyPr/>
          <a:lstStyle/>
          <a:p>
            <a:endParaRPr lang="es-GT"/>
          </a:p>
        </p:txBody>
      </p:sp>
      <p:sp>
        <p:nvSpPr>
          <p:cNvPr id="6" name="Text 4"/>
          <p:cNvSpPr txBox="1"/>
          <p:nvPr/>
        </p:nvSpPr>
        <p:spPr>
          <a:xfrm>
            <a:off x="822960" y="2148840"/>
            <a:ext cx="1280160" cy="457200"/>
          </a:xfrm>
          <a:prstGeom prst="rect">
            <a:avLst/>
          </a:prstGeom>
          <a:noFill/>
          <a:ln/>
        </p:spPr>
        <p:txBody>
          <a:bodyPr wrap="square" lIns="0" tIns="0" rIns="0" bIns="0" rtlCol="0" anchor="ctr"/>
          <a:lstStyle/>
          <a:p>
            <a:pPr marL="0" indent="0" algn="ctr">
              <a:buNone/>
            </a:pPr>
            <a:r>
              <a:rPr lang="en-US" sz="1300" b="1" dirty="0">
                <a:solidFill>
                  <a:schemeClr val="bg1"/>
                </a:solidFill>
              </a:rPr>
              <a:t>SIRA</a:t>
            </a:r>
            <a:endParaRPr lang="en-US" sz="1300" dirty="0"/>
          </a:p>
        </p:txBody>
      </p:sp>
      <p:sp>
        <p:nvSpPr>
          <p:cNvPr id="7" name="Text 5"/>
          <p:cNvSpPr txBox="1"/>
          <p:nvPr/>
        </p:nvSpPr>
        <p:spPr>
          <a:xfrm>
            <a:off x="2103120" y="2148840"/>
            <a:ext cx="365760" cy="457200"/>
          </a:xfrm>
          <a:prstGeom prst="rect">
            <a:avLst/>
          </a:prstGeom>
          <a:noFill/>
          <a:ln/>
        </p:spPr>
        <p:txBody>
          <a:bodyPr wrap="square" lIns="0" tIns="0" rIns="0" bIns="0" rtlCol="0" anchor="ctr"/>
          <a:lstStyle/>
          <a:p>
            <a:pPr marL="0" indent="0" algn="ctr">
              <a:buNone/>
            </a:pPr>
            <a:r>
              <a:rPr lang="en-US" sz="2000" b="1" dirty="0">
                <a:solidFill>
                  <a:srgbClr val="6E5D52"/>
                </a:solidFill>
              </a:rPr>
              <a:t>→</a:t>
            </a:r>
            <a:endParaRPr lang="en-US" sz="2000" dirty="0"/>
          </a:p>
        </p:txBody>
      </p:sp>
      <p:sp>
        <p:nvSpPr>
          <p:cNvPr id="8" name="predicha Fila 7436"/>
          <p:cNvSpPr/>
          <p:nvPr/>
        </p:nvSpPr>
        <p:spPr>
          <a:xfrm>
            <a:off x="2468880" y="2148840"/>
            <a:ext cx="1280160" cy="457200"/>
          </a:xfrm>
          <a:prstGeom prst="roundRect">
            <a:avLst>
              <a:gd name="adj" fmla="val 20000"/>
            </a:avLst>
          </a:prstGeom>
          <a:solidFill>
            <a:schemeClr val="accent2"/>
          </a:solidFill>
          <a:ln/>
        </p:spPr>
        <p:txBody>
          <a:bodyPr/>
          <a:lstStyle/>
          <a:p>
            <a:endParaRPr lang="es-GT"/>
          </a:p>
        </p:txBody>
      </p:sp>
      <p:sp>
        <p:nvSpPr>
          <p:cNvPr id="9" name="Text 7"/>
          <p:cNvSpPr txBox="1"/>
          <p:nvPr/>
        </p:nvSpPr>
        <p:spPr>
          <a:xfrm>
            <a:off x="2468880" y="2148840"/>
            <a:ext cx="1280160" cy="457200"/>
          </a:xfrm>
          <a:prstGeom prst="rect">
            <a:avLst/>
          </a:prstGeom>
          <a:noFill/>
          <a:ln/>
        </p:spPr>
        <p:txBody>
          <a:bodyPr wrap="square" lIns="0" tIns="0" rIns="0" bIns="0" rtlCol="0" anchor="ctr"/>
          <a:lstStyle/>
          <a:p>
            <a:pPr marL="0" indent="0" algn="ctr">
              <a:buNone/>
            </a:pPr>
            <a:r>
              <a:rPr lang="en-US" sz="1300" b="1" dirty="0">
                <a:solidFill>
                  <a:schemeClr val="bg1"/>
                </a:solidFill>
              </a:rPr>
              <a:t>DERMASON</a:t>
            </a:r>
            <a:endParaRPr lang="en-US" sz="1300" dirty="0"/>
          </a:p>
        </p:txBody>
      </p:sp>
      <p:sp>
        <p:nvSpPr>
          <p:cNvPr id="10" name="Text 8"/>
          <p:cNvSpPr txBox="1"/>
          <p:nvPr/>
        </p:nvSpPr>
        <p:spPr>
          <a:xfrm>
            <a:off x="822960" y="2651760"/>
            <a:ext cx="1280160" cy="274320"/>
          </a:xfrm>
          <a:prstGeom prst="rect">
            <a:avLst/>
          </a:prstGeom>
          <a:noFill/>
          <a:ln/>
        </p:spPr>
        <p:txBody>
          <a:bodyPr wrap="square" lIns="0" tIns="0" rIns="0" bIns="0" rtlCol="0" anchor="t"/>
          <a:lstStyle/>
          <a:p>
            <a:pPr marL="0" indent="0" algn="ctr">
              <a:buNone/>
            </a:pPr>
            <a:r>
              <a:rPr lang="en-US" sz="1100" dirty="0">
                <a:solidFill>
                  <a:srgbClr val="6E5D52"/>
                </a:solidFill>
              </a:rPr>
              <a:t>real</a:t>
            </a:r>
            <a:endParaRPr lang="en-US" sz="1100" dirty="0"/>
          </a:p>
        </p:txBody>
      </p:sp>
      <p:sp>
        <p:nvSpPr>
          <p:cNvPr id="11" name="Text 9"/>
          <p:cNvSpPr txBox="1"/>
          <p:nvPr/>
        </p:nvSpPr>
        <p:spPr>
          <a:xfrm>
            <a:off x="2468880" y="2651760"/>
            <a:ext cx="1280160" cy="274320"/>
          </a:xfrm>
          <a:prstGeom prst="rect">
            <a:avLst/>
          </a:prstGeom>
          <a:noFill/>
          <a:ln/>
        </p:spPr>
        <p:txBody>
          <a:bodyPr wrap="square" lIns="0" tIns="0" rIns="0" bIns="0" rtlCol="0" anchor="t"/>
          <a:lstStyle/>
          <a:p>
            <a:pPr marL="0" indent="0" algn="ctr">
              <a:buNone/>
            </a:pPr>
            <a:r>
              <a:rPr lang="en-US" sz="1100" dirty="0">
                <a:solidFill>
                  <a:srgbClr val="6E5D52"/>
                </a:solidFill>
              </a:rPr>
              <a:t>predicha</a:t>
            </a:r>
            <a:endParaRPr lang="en-US" sz="1100" dirty="0"/>
          </a:p>
        </p:txBody>
      </p:sp>
      <p:sp>
        <p:nvSpPr>
          <p:cNvPr id="12" name="Text 10"/>
          <p:cNvSpPr txBox="1"/>
          <p:nvPr/>
        </p:nvSpPr>
        <p:spPr>
          <a:xfrm>
            <a:off x="822960" y="3063240"/>
            <a:ext cx="2926080" cy="731520"/>
          </a:xfrm>
          <a:prstGeom prst="rect">
            <a:avLst/>
          </a:prstGeom>
          <a:noFill/>
          <a:ln/>
        </p:spPr>
        <p:txBody>
          <a:bodyPr wrap="square" lIns="0" tIns="0" rIns="0" bIns="0" rtlCol="0" anchor="t"/>
          <a:lstStyle/>
          <a:p>
            <a:pPr marL="0" indent="0">
              <a:buNone/>
            </a:pPr>
            <a:r>
              <a:rPr lang="en-US" sz="3800" b="1" dirty="0">
                <a:solidFill>
                  <a:schemeClr val="tx2"/>
                </a:solidFill>
                <a:latin typeface="Cambria" pitchFamily="34" charset="0"/>
                <a:ea typeface="Cambria" pitchFamily="34" charset="-122"/>
                <a:cs typeface="Cambria" pitchFamily="34" charset="-120"/>
              </a:rPr>
              <a:t>97 %</a:t>
            </a:r>
            <a:endParaRPr lang="en-US" sz="3800" dirty="0"/>
          </a:p>
        </p:txBody>
      </p:sp>
      <p:sp>
        <p:nvSpPr>
          <p:cNvPr id="13" name="Text 11"/>
          <p:cNvSpPr txBox="1"/>
          <p:nvPr/>
        </p:nvSpPr>
        <p:spPr>
          <a:xfrm>
            <a:off x="822960" y="3794760"/>
            <a:ext cx="2926080" cy="320040"/>
          </a:xfrm>
          <a:prstGeom prst="rect">
            <a:avLst/>
          </a:prstGeom>
          <a:noFill/>
          <a:ln/>
        </p:spPr>
        <p:txBody>
          <a:bodyPr wrap="square" lIns="0" tIns="0" rIns="0" bIns="0" rtlCol="0" anchor="t"/>
          <a:lstStyle/>
          <a:p>
            <a:pPr marL="0" indent="0">
              <a:buNone/>
            </a:pPr>
            <a:r>
              <a:rPr lang="en-US" sz="1200" dirty="0">
                <a:solidFill>
                  <a:srgbClr val="6E5D52"/>
                </a:solidFill>
              </a:rPr>
              <a:t>confianza del modelo</a:t>
            </a:r>
            <a:endParaRPr lang="en-US" sz="1200" dirty="0"/>
          </a:p>
        </p:txBody>
      </p:sp>
      <p:sp>
        <p:nvSpPr>
          <p:cNvPr id="14" name="Text 12"/>
          <p:cNvSpPr txBox="1"/>
          <p:nvPr/>
        </p:nvSpPr>
        <p:spPr>
          <a:xfrm>
            <a:off x="822960" y="4297680"/>
            <a:ext cx="2926080" cy="1737360"/>
          </a:xfrm>
          <a:prstGeom prst="rect">
            <a:avLst/>
          </a:prstGeom>
          <a:noFill/>
          <a:ln/>
        </p:spPr>
        <p:txBody>
          <a:bodyPr wrap="square" lIns="0" tIns="0" rIns="0" bIns="0" rtlCol="0" anchor="t"/>
          <a:lstStyle/>
          <a:p>
            <a:pPr marL="0" indent="0">
              <a:buNone/>
            </a:pPr>
            <a:r>
              <a:rPr lang="en-US" sz="1400" dirty="0">
                <a:solidFill>
                  <a:schemeClr val="tx1"/>
                </a:solidFill>
              </a:rPr>
              <a:t>Área y proporción de ejes casi iguales a la mediana de DERMASON. Con estas medidas parece una DERMASON típica.</a:t>
            </a:r>
            <a:endParaRPr lang="en-US" sz="1400" dirty="0"/>
          </a:p>
        </p:txBody>
      </p:sp>
      <p:sp>
        <p:nvSpPr>
          <p:cNvPr id="15" name="ejemplo Fila 3872"/>
          <p:cNvSpPr/>
          <p:nvPr/>
        </p:nvSpPr>
        <p:spPr>
          <a:xfrm>
            <a:off x="4297680" y="1371600"/>
            <a:ext cx="3474720" cy="4800600"/>
          </a:xfrm>
          <a:prstGeom prst="roundRect">
            <a:avLst>
              <a:gd name="adj" fmla="val 3158"/>
            </a:avLst>
          </a:prstGeom>
          <a:solidFill>
            <a:schemeClr val="bg2"/>
          </a:solidFill>
          <a:ln/>
        </p:spPr>
        <p:txBody>
          <a:bodyPr/>
          <a:lstStyle/>
          <a:p>
            <a:endParaRPr lang="es-GT"/>
          </a:p>
        </p:txBody>
      </p:sp>
      <p:sp>
        <p:nvSpPr>
          <p:cNvPr id="16" name="Text 14"/>
          <p:cNvSpPr txBox="1"/>
          <p:nvPr/>
        </p:nvSpPr>
        <p:spPr>
          <a:xfrm>
            <a:off x="4572000" y="1554480"/>
            <a:ext cx="2926080" cy="411480"/>
          </a:xfrm>
          <a:prstGeom prst="rect">
            <a:avLst/>
          </a:prstGeom>
          <a:noFill/>
          <a:ln/>
        </p:spPr>
        <p:txBody>
          <a:bodyPr wrap="square" lIns="0" tIns="0" rIns="0" bIns="0" rtlCol="0" anchor="t"/>
          <a:lstStyle/>
          <a:p>
            <a:pPr marL="0" indent="0">
              <a:buNone/>
            </a:pPr>
            <a:r>
              <a:rPr lang="en-US" sz="1900" b="1" dirty="0">
                <a:solidFill>
                  <a:schemeClr val="tx2"/>
                </a:solidFill>
              </a:rPr>
              <a:t>Fila 3872</a:t>
            </a:r>
            <a:endParaRPr lang="en-US" sz="1900" dirty="0"/>
          </a:p>
        </p:txBody>
      </p:sp>
      <p:sp>
        <p:nvSpPr>
          <p:cNvPr id="17" name="real Fila 3872"/>
          <p:cNvSpPr/>
          <p:nvPr/>
        </p:nvSpPr>
        <p:spPr>
          <a:xfrm>
            <a:off x="4572000" y="2148840"/>
            <a:ext cx="1280160" cy="457200"/>
          </a:xfrm>
          <a:prstGeom prst="roundRect">
            <a:avLst>
              <a:gd name="adj" fmla="val 20000"/>
            </a:avLst>
          </a:prstGeom>
          <a:solidFill>
            <a:schemeClr val="accent1"/>
          </a:solidFill>
          <a:ln/>
        </p:spPr>
        <p:txBody>
          <a:bodyPr/>
          <a:lstStyle/>
          <a:p>
            <a:endParaRPr lang="es-GT"/>
          </a:p>
        </p:txBody>
      </p:sp>
      <p:sp>
        <p:nvSpPr>
          <p:cNvPr id="18" name="Text 16"/>
          <p:cNvSpPr txBox="1"/>
          <p:nvPr/>
        </p:nvSpPr>
        <p:spPr>
          <a:xfrm>
            <a:off x="4572000" y="2148840"/>
            <a:ext cx="1280160" cy="457200"/>
          </a:xfrm>
          <a:prstGeom prst="rect">
            <a:avLst/>
          </a:prstGeom>
          <a:noFill/>
          <a:ln/>
        </p:spPr>
        <p:txBody>
          <a:bodyPr wrap="square" lIns="0" tIns="0" rIns="0" bIns="0" rtlCol="0" anchor="ctr"/>
          <a:lstStyle/>
          <a:p>
            <a:pPr marL="0" indent="0" algn="ctr">
              <a:buNone/>
            </a:pPr>
            <a:r>
              <a:rPr lang="en-US" sz="1300" b="1" dirty="0">
                <a:solidFill>
                  <a:schemeClr val="bg1"/>
                </a:solidFill>
              </a:rPr>
              <a:t>CALI</a:t>
            </a:r>
            <a:endParaRPr lang="en-US" sz="1300" dirty="0"/>
          </a:p>
        </p:txBody>
      </p:sp>
      <p:sp>
        <p:nvSpPr>
          <p:cNvPr id="19" name="Text 17"/>
          <p:cNvSpPr txBox="1"/>
          <p:nvPr/>
        </p:nvSpPr>
        <p:spPr>
          <a:xfrm>
            <a:off x="5852160" y="2148840"/>
            <a:ext cx="365760" cy="457200"/>
          </a:xfrm>
          <a:prstGeom prst="rect">
            <a:avLst/>
          </a:prstGeom>
          <a:noFill/>
          <a:ln/>
        </p:spPr>
        <p:txBody>
          <a:bodyPr wrap="square" lIns="0" tIns="0" rIns="0" bIns="0" rtlCol="0" anchor="ctr"/>
          <a:lstStyle/>
          <a:p>
            <a:pPr marL="0" indent="0" algn="ctr">
              <a:buNone/>
            </a:pPr>
            <a:r>
              <a:rPr lang="en-US" sz="2000" b="1" dirty="0">
                <a:solidFill>
                  <a:srgbClr val="6E5D52"/>
                </a:solidFill>
              </a:rPr>
              <a:t>→</a:t>
            </a:r>
            <a:endParaRPr lang="en-US" sz="2000" dirty="0"/>
          </a:p>
        </p:txBody>
      </p:sp>
      <p:sp>
        <p:nvSpPr>
          <p:cNvPr id="20" name="predicha Fila 3872"/>
          <p:cNvSpPr/>
          <p:nvPr/>
        </p:nvSpPr>
        <p:spPr>
          <a:xfrm>
            <a:off x="6217920" y="2148840"/>
            <a:ext cx="1280160" cy="457200"/>
          </a:xfrm>
          <a:prstGeom prst="roundRect">
            <a:avLst>
              <a:gd name="adj" fmla="val 20000"/>
            </a:avLst>
          </a:prstGeom>
          <a:solidFill>
            <a:schemeClr val="accent2"/>
          </a:solidFill>
          <a:ln/>
        </p:spPr>
        <p:txBody>
          <a:bodyPr/>
          <a:lstStyle/>
          <a:p>
            <a:endParaRPr lang="es-GT"/>
          </a:p>
        </p:txBody>
      </p:sp>
      <p:sp>
        <p:nvSpPr>
          <p:cNvPr id="21" name="Text 19"/>
          <p:cNvSpPr txBox="1"/>
          <p:nvPr/>
        </p:nvSpPr>
        <p:spPr>
          <a:xfrm>
            <a:off x="6217920" y="2148840"/>
            <a:ext cx="1280160" cy="457200"/>
          </a:xfrm>
          <a:prstGeom prst="rect">
            <a:avLst/>
          </a:prstGeom>
          <a:noFill/>
          <a:ln/>
        </p:spPr>
        <p:txBody>
          <a:bodyPr wrap="square" lIns="0" tIns="0" rIns="0" bIns="0" rtlCol="0" anchor="ctr"/>
          <a:lstStyle/>
          <a:p>
            <a:pPr marL="0" indent="0" algn="ctr">
              <a:buNone/>
            </a:pPr>
            <a:r>
              <a:rPr lang="en-US" sz="1300" b="1" dirty="0">
                <a:solidFill>
                  <a:schemeClr val="bg1"/>
                </a:solidFill>
              </a:rPr>
              <a:t>SEKER</a:t>
            </a:r>
            <a:endParaRPr lang="en-US" sz="1300" dirty="0"/>
          </a:p>
        </p:txBody>
      </p:sp>
      <p:sp>
        <p:nvSpPr>
          <p:cNvPr id="22" name="Text 20"/>
          <p:cNvSpPr txBox="1"/>
          <p:nvPr/>
        </p:nvSpPr>
        <p:spPr>
          <a:xfrm>
            <a:off x="4572000" y="2651760"/>
            <a:ext cx="1280160" cy="274320"/>
          </a:xfrm>
          <a:prstGeom prst="rect">
            <a:avLst/>
          </a:prstGeom>
          <a:noFill/>
          <a:ln/>
        </p:spPr>
        <p:txBody>
          <a:bodyPr wrap="square" lIns="0" tIns="0" rIns="0" bIns="0" rtlCol="0" anchor="t"/>
          <a:lstStyle/>
          <a:p>
            <a:pPr marL="0" indent="0" algn="ctr">
              <a:buNone/>
            </a:pPr>
            <a:r>
              <a:rPr lang="en-US" sz="1100" dirty="0">
                <a:solidFill>
                  <a:srgbClr val="6E5D52"/>
                </a:solidFill>
              </a:rPr>
              <a:t>real</a:t>
            </a:r>
            <a:endParaRPr lang="en-US" sz="1100" dirty="0"/>
          </a:p>
        </p:txBody>
      </p:sp>
      <p:sp>
        <p:nvSpPr>
          <p:cNvPr id="23" name="Text 21"/>
          <p:cNvSpPr txBox="1"/>
          <p:nvPr/>
        </p:nvSpPr>
        <p:spPr>
          <a:xfrm>
            <a:off x="6217920" y="2651760"/>
            <a:ext cx="1280160" cy="274320"/>
          </a:xfrm>
          <a:prstGeom prst="rect">
            <a:avLst/>
          </a:prstGeom>
          <a:noFill/>
          <a:ln/>
        </p:spPr>
        <p:txBody>
          <a:bodyPr wrap="square" lIns="0" tIns="0" rIns="0" bIns="0" rtlCol="0" anchor="t"/>
          <a:lstStyle/>
          <a:p>
            <a:pPr marL="0" indent="0" algn="ctr">
              <a:buNone/>
            </a:pPr>
            <a:r>
              <a:rPr lang="en-US" sz="1100" dirty="0">
                <a:solidFill>
                  <a:srgbClr val="6E5D52"/>
                </a:solidFill>
              </a:rPr>
              <a:t>predicha</a:t>
            </a:r>
            <a:endParaRPr lang="en-US" sz="1100" dirty="0"/>
          </a:p>
        </p:txBody>
      </p:sp>
      <p:sp>
        <p:nvSpPr>
          <p:cNvPr id="24" name="Text 22"/>
          <p:cNvSpPr txBox="1"/>
          <p:nvPr/>
        </p:nvSpPr>
        <p:spPr>
          <a:xfrm>
            <a:off x="4572000" y="3063240"/>
            <a:ext cx="2926080" cy="731520"/>
          </a:xfrm>
          <a:prstGeom prst="rect">
            <a:avLst/>
          </a:prstGeom>
          <a:noFill/>
          <a:ln/>
        </p:spPr>
        <p:txBody>
          <a:bodyPr wrap="square" lIns="0" tIns="0" rIns="0" bIns="0" rtlCol="0" anchor="t"/>
          <a:lstStyle/>
          <a:p>
            <a:pPr marL="0" indent="0">
              <a:buNone/>
            </a:pPr>
            <a:r>
              <a:rPr lang="en-US" sz="3800" b="1" dirty="0">
                <a:solidFill>
                  <a:schemeClr val="tx2"/>
                </a:solidFill>
                <a:latin typeface="Cambria" pitchFamily="34" charset="0"/>
                <a:ea typeface="Cambria" pitchFamily="34" charset="-122"/>
                <a:cs typeface="Cambria" pitchFamily="34" charset="-120"/>
              </a:rPr>
              <a:t>99.5 %</a:t>
            </a:r>
            <a:endParaRPr lang="en-US" sz="3800" dirty="0"/>
          </a:p>
        </p:txBody>
      </p:sp>
      <p:sp>
        <p:nvSpPr>
          <p:cNvPr id="25" name="Text 23"/>
          <p:cNvSpPr txBox="1"/>
          <p:nvPr/>
        </p:nvSpPr>
        <p:spPr>
          <a:xfrm>
            <a:off x="4572000" y="3794760"/>
            <a:ext cx="2926080" cy="320040"/>
          </a:xfrm>
          <a:prstGeom prst="rect">
            <a:avLst/>
          </a:prstGeom>
          <a:noFill/>
          <a:ln/>
        </p:spPr>
        <p:txBody>
          <a:bodyPr wrap="square" lIns="0" tIns="0" rIns="0" bIns="0" rtlCol="0" anchor="t"/>
          <a:lstStyle/>
          <a:p>
            <a:pPr marL="0" indent="0">
              <a:buNone/>
            </a:pPr>
            <a:r>
              <a:rPr lang="en-US" sz="1200" dirty="0">
                <a:solidFill>
                  <a:srgbClr val="6E5D52"/>
                </a:solidFill>
              </a:rPr>
              <a:t>confianza del modelo</a:t>
            </a:r>
            <a:endParaRPr lang="en-US" sz="1200" dirty="0"/>
          </a:p>
        </p:txBody>
      </p:sp>
      <p:sp>
        <p:nvSpPr>
          <p:cNvPr id="26" name="Text 24"/>
          <p:cNvSpPr txBox="1"/>
          <p:nvPr/>
        </p:nvSpPr>
        <p:spPr>
          <a:xfrm>
            <a:off x="4572000" y="4297680"/>
            <a:ext cx="2926080" cy="1737360"/>
          </a:xfrm>
          <a:prstGeom prst="rect">
            <a:avLst/>
          </a:prstGeom>
          <a:noFill/>
          <a:ln/>
        </p:spPr>
        <p:txBody>
          <a:bodyPr wrap="square" lIns="0" tIns="0" rIns="0" bIns="0" rtlCol="0" anchor="t"/>
          <a:lstStyle/>
          <a:p>
            <a:pPr marL="0" indent="0">
              <a:buNone/>
            </a:pPr>
            <a:r>
              <a:rPr lang="en-US" sz="1400" dirty="0">
                <a:solidFill>
                  <a:schemeClr val="tx1"/>
                </a:solidFill>
              </a:rPr>
              <a:t>Es una CALI pequeña y redonda, más parecida a SEKER. Una probabilidad alta no garantiza un acierto.</a:t>
            </a:r>
            <a:endParaRPr lang="en-US" sz="1400" dirty="0"/>
          </a:p>
        </p:txBody>
      </p:sp>
      <p:sp>
        <p:nvSpPr>
          <p:cNvPr id="27" name="ejemplo Fila 3374"/>
          <p:cNvSpPr/>
          <p:nvPr/>
        </p:nvSpPr>
        <p:spPr>
          <a:xfrm>
            <a:off x="8046720" y="1371600"/>
            <a:ext cx="3474720" cy="4800600"/>
          </a:xfrm>
          <a:prstGeom prst="roundRect">
            <a:avLst>
              <a:gd name="adj" fmla="val 3158"/>
            </a:avLst>
          </a:prstGeom>
          <a:solidFill>
            <a:schemeClr val="bg2"/>
          </a:solidFill>
          <a:ln/>
        </p:spPr>
        <p:txBody>
          <a:bodyPr/>
          <a:lstStyle/>
          <a:p>
            <a:endParaRPr lang="es-GT"/>
          </a:p>
        </p:txBody>
      </p:sp>
      <p:sp>
        <p:nvSpPr>
          <p:cNvPr id="28" name="Text 26"/>
          <p:cNvSpPr txBox="1"/>
          <p:nvPr/>
        </p:nvSpPr>
        <p:spPr>
          <a:xfrm>
            <a:off x="8321040" y="1554480"/>
            <a:ext cx="2926080" cy="411480"/>
          </a:xfrm>
          <a:prstGeom prst="rect">
            <a:avLst/>
          </a:prstGeom>
          <a:noFill/>
          <a:ln/>
        </p:spPr>
        <p:txBody>
          <a:bodyPr wrap="square" lIns="0" tIns="0" rIns="0" bIns="0" rtlCol="0" anchor="t"/>
          <a:lstStyle/>
          <a:p>
            <a:pPr marL="0" indent="0">
              <a:buNone/>
            </a:pPr>
            <a:r>
              <a:rPr lang="en-US" sz="1900" b="1" dirty="0">
                <a:solidFill>
                  <a:schemeClr val="tx2"/>
                </a:solidFill>
              </a:rPr>
              <a:t>Fila 3374</a:t>
            </a:r>
            <a:endParaRPr lang="en-US" sz="1900" dirty="0"/>
          </a:p>
        </p:txBody>
      </p:sp>
      <p:sp>
        <p:nvSpPr>
          <p:cNvPr id="29" name="real Fila 3374"/>
          <p:cNvSpPr/>
          <p:nvPr/>
        </p:nvSpPr>
        <p:spPr>
          <a:xfrm>
            <a:off x="8321040" y="2148840"/>
            <a:ext cx="1280160" cy="457200"/>
          </a:xfrm>
          <a:prstGeom prst="roundRect">
            <a:avLst>
              <a:gd name="adj" fmla="val 20000"/>
            </a:avLst>
          </a:prstGeom>
          <a:solidFill>
            <a:schemeClr val="accent1"/>
          </a:solidFill>
          <a:ln/>
        </p:spPr>
        <p:txBody>
          <a:bodyPr/>
          <a:lstStyle/>
          <a:p>
            <a:endParaRPr lang="es-GT"/>
          </a:p>
        </p:txBody>
      </p:sp>
      <p:sp>
        <p:nvSpPr>
          <p:cNvPr id="30" name="Text 28"/>
          <p:cNvSpPr txBox="1"/>
          <p:nvPr/>
        </p:nvSpPr>
        <p:spPr>
          <a:xfrm>
            <a:off x="8321040" y="2148840"/>
            <a:ext cx="1280160" cy="457200"/>
          </a:xfrm>
          <a:prstGeom prst="rect">
            <a:avLst/>
          </a:prstGeom>
          <a:noFill/>
          <a:ln/>
        </p:spPr>
        <p:txBody>
          <a:bodyPr wrap="square" lIns="0" tIns="0" rIns="0" bIns="0" rtlCol="0" anchor="ctr"/>
          <a:lstStyle/>
          <a:p>
            <a:pPr marL="0" indent="0" algn="ctr">
              <a:buNone/>
            </a:pPr>
            <a:r>
              <a:rPr lang="en-US" sz="1300" b="1" dirty="0">
                <a:solidFill>
                  <a:schemeClr val="bg1"/>
                </a:solidFill>
              </a:rPr>
              <a:t>BOMBAY</a:t>
            </a:r>
            <a:endParaRPr lang="en-US" sz="1300" dirty="0"/>
          </a:p>
        </p:txBody>
      </p:sp>
      <p:sp>
        <p:nvSpPr>
          <p:cNvPr id="31" name="Text 29"/>
          <p:cNvSpPr txBox="1"/>
          <p:nvPr/>
        </p:nvSpPr>
        <p:spPr>
          <a:xfrm>
            <a:off x="9601200" y="2148840"/>
            <a:ext cx="365760" cy="457200"/>
          </a:xfrm>
          <a:prstGeom prst="rect">
            <a:avLst/>
          </a:prstGeom>
          <a:noFill/>
          <a:ln/>
        </p:spPr>
        <p:txBody>
          <a:bodyPr wrap="square" lIns="0" tIns="0" rIns="0" bIns="0" rtlCol="0" anchor="ctr"/>
          <a:lstStyle/>
          <a:p>
            <a:pPr marL="0" indent="0" algn="ctr">
              <a:buNone/>
            </a:pPr>
            <a:r>
              <a:rPr lang="en-US" sz="2000" b="1" dirty="0">
                <a:solidFill>
                  <a:srgbClr val="6E5D52"/>
                </a:solidFill>
              </a:rPr>
              <a:t>→</a:t>
            </a:r>
            <a:endParaRPr lang="en-US" sz="2000" dirty="0"/>
          </a:p>
        </p:txBody>
      </p:sp>
      <p:sp>
        <p:nvSpPr>
          <p:cNvPr id="32" name="predicha Fila 3374"/>
          <p:cNvSpPr/>
          <p:nvPr/>
        </p:nvSpPr>
        <p:spPr>
          <a:xfrm>
            <a:off x="9966960" y="2148840"/>
            <a:ext cx="1280160" cy="457200"/>
          </a:xfrm>
          <a:prstGeom prst="roundRect">
            <a:avLst>
              <a:gd name="adj" fmla="val 20000"/>
            </a:avLst>
          </a:prstGeom>
          <a:solidFill>
            <a:schemeClr val="accent2"/>
          </a:solidFill>
          <a:ln/>
        </p:spPr>
        <p:txBody>
          <a:bodyPr/>
          <a:lstStyle/>
          <a:p>
            <a:endParaRPr lang="es-GT"/>
          </a:p>
        </p:txBody>
      </p:sp>
      <p:sp>
        <p:nvSpPr>
          <p:cNvPr id="33" name="Text 31"/>
          <p:cNvSpPr txBox="1"/>
          <p:nvPr/>
        </p:nvSpPr>
        <p:spPr>
          <a:xfrm>
            <a:off x="9966960" y="2148840"/>
            <a:ext cx="1280160" cy="457200"/>
          </a:xfrm>
          <a:prstGeom prst="rect">
            <a:avLst/>
          </a:prstGeom>
          <a:noFill/>
          <a:ln/>
        </p:spPr>
        <p:txBody>
          <a:bodyPr wrap="square" lIns="0" tIns="0" rIns="0" bIns="0" rtlCol="0" anchor="ctr"/>
          <a:lstStyle/>
          <a:p>
            <a:pPr marL="0" indent="0" algn="ctr">
              <a:buNone/>
            </a:pPr>
            <a:r>
              <a:rPr lang="en-US" sz="1300" b="1" dirty="0">
                <a:solidFill>
                  <a:schemeClr val="bg1"/>
                </a:solidFill>
              </a:rPr>
              <a:t>CALI</a:t>
            </a:r>
            <a:endParaRPr lang="en-US" sz="1300" dirty="0"/>
          </a:p>
        </p:txBody>
      </p:sp>
      <p:sp>
        <p:nvSpPr>
          <p:cNvPr id="34" name="Text 32"/>
          <p:cNvSpPr txBox="1"/>
          <p:nvPr/>
        </p:nvSpPr>
        <p:spPr>
          <a:xfrm>
            <a:off x="8321040" y="2651760"/>
            <a:ext cx="1280160" cy="274320"/>
          </a:xfrm>
          <a:prstGeom prst="rect">
            <a:avLst/>
          </a:prstGeom>
          <a:noFill/>
          <a:ln/>
        </p:spPr>
        <p:txBody>
          <a:bodyPr wrap="square" lIns="0" tIns="0" rIns="0" bIns="0" rtlCol="0" anchor="t"/>
          <a:lstStyle/>
          <a:p>
            <a:pPr marL="0" indent="0" algn="ctr">
              <a:buNone/>
            </a:pPr>
            <a:r>
              <a:rPr lang="en-US" sz="1100" dirty="0">
                <a:solidFill>
                  <a:srgbClr val="6E5D52"/>
                </a:solidFill>
              </a:rPr>
              <a:t>real</a:t>
            </a:r>
            <a:endParaRPr lang="en-US" sz="1100" dirty="0"/>
          </a:p>
        </p:txBody>
      </p:sp>
      <p:sp>
        <p:nvSpPr>
          <p:cNvPr id="35" name="Text 33"/>
          <p:cNvSpPr txBox="1"/>
          <p:nvPr/>
        </p:nvSpPr>
        <p:spPr>
          <a:xfrm>
            <a:off x="9966960" y="2651760"/>
            <a:ext cx="1280160" cy="274320"/>
          </a:xfrm>
          <a:prstGeom prst="rect">
            <a:avLst/>
          </a:prstGeom>
          <a:noFill/>
          <a:ln/>
        </p:spPr>
        <p:txBody>
          <a:bodyPr wrap="square" lIns="0" tIns="0" rIns="0" bIns="0" rtlCol="0" anchor="t"/>
          <a:lstStyle/>
          <a:p>
            <a:pPr marL="0" indent="0" algn="ctr">
              <a:buNone/>
            </a:pPr>
            <a:r>
              <a:rPr lang="en-US" sz="1100" dirty="0">
                <a:solidFill>
                  <a:srgbClr val="6E5D52"/>
                </a:solidFill>
              </a:rPr>
              <a:t>predicha</a:t>
            </a:r>
            <a:endParaRPr lang="en-US" sz="1100" dirty="0"/>
          </a:p>
        </p:txBody>
      </p:sp>
      <p:sp>
        <p:nvSpPr>
          <p:cNvPr id="36" name="Text 34"/>
          <p:cNvSpPr txBox="1"/>
          <p:nvPr/>
        </p:nvSpPr>
        <p:spPr>
          <a:xfrm>
            <a:off x="8321040" y="3063240"/>
            <a:ext cx="2926080" cy="731520"/>
          </a:xfrm>
          <a:prstGeom prst="rect">
            <a:avLst/>
          </a:prstGeom>
          <a:noFill/>
          <a:ln/>
        </p:spPr>
        <p:txBody>
          <a:bodyPr wrap="square" lIns="0" tIns="0" rIns="0" bIns="0" rtlCol="0" anchor="t"/>
          <a:lstStyle/>
          <a:p>
            <a:pPr marL="0" indent="0">
              <a:buNone/>
            </a:pPr>
            <a:r>
              <a:rPr lang="en-US" sz="3800" b="1" dirty="0">
                <a:solidFill>
                  <a:schemeClr val="tx2"/>
                </a:solidFill>
                <a:latin typeface="Cambria" pitchFamily="34" charset="0"/>
                <a:ea typeface="Cambria" pitchFamily="34" charset="-122"/>
                <a:cs typeface="Cambria" pitchFamily="34" charset="-120"/>
              </a:rPr>
              <a:t>84 %</a:t>
            </a:r>
            <a:endParaRPr lang="en-US" sz="3800" dirty="0"/>
          </a:p>
        </p:txBody>
      </p:sp>
      <p:sp>
        <p:nvSpPr>
          <p:cNvPr id="37" name="Text 35"/>
          <p:cNvSpPr txBox="1"/>
          <p:nvPr/>
        </p:nvSpPr>
        <p:spPr>
          <a:xfrm>
            <a:off x="8321040" y="3794760"/>
            <a:ext cx="2926080" cy="320040"/>
          </a:xfrm>
          <a:prstGeom prst="rect">
            <a:avLst/>
          </a:prstGeom>
          <a:noFill/>
          <a:ln/>
        </p:spPr>
        <p:txBody>
          <a:bodyPr wrap="square" lIns="0" tIns="0" rIns="0" bIns="0" rtlCol="0" anchor="t"/>
          <a:lstStyle/>
          <a:p>
            <a:pPr marL="0" indent="0">
              <a:buNone/>
            </a:pPr>
            <a:r>
              <a:rPr lang="en-US" sz="1200" dirty="0">
                <a:solidFill>
                  <a:srgbClr val="6E5D52"/>
                </a:solidFill>
              </a:rPr>
              <a:t>confianza del modelo</a:t>
            </a:r>
            <a:endParaRPr lang="en-US" sz="1200" dirty="0"/>
          </a:p>
        </p:txBody>
      </p:sp>
      <p:sp>
        <p:nvSpPr>
          <p:cNvPr id="38" name="Text 36"/>
          <p:cNvSpPr txBox="1"/>
          <p:nvPr/>
        </p:nvSpPr>
        <p:spPr>
          <a:xfrm>
            <a:off x="8321040" y="4297680"/>
            <a:ext cx="2926080" cy="1737360"/>
          </a:xfrm>
          <a:prstGeom prst="rect">
            <a:avLst/>
          </a:prstGeom>
          <a:noFill/>
          <a:ln/>
        </p:spPr>
        <p:txBody>
          <a:bodyPr wrap="square" lIns="0" tIns="0" rIns="0" bIns="0" rtlCol="0" anchor="t"/>
          <a:lstStyle/>
          <a:p>
            <a:pPr marL="0" indent="0">
              <a:buNone/>
            </a:pPr>
            <a:r>
              <a:rPr lang="en-US" sz="1400" dirty="0">
                <a:solidFill>
                  <a:schemeClr val="tx1"/>
                </a:solidFill>
              </a:rPr>
              <a:t>El único BOMBAY fallado: más pequeño y menos sólido de lo normal. Puede ser una forma rara o un error de segmentación.</a:t>
            </a:r>
            <a:endParaRPr lang="en-US" sz="1400" dirty="0"/>
          </a:p>
        </p:txBody>
      </p:sp>
      <p:sp>
        <p:nvSpPr>
          <p:cNvPr id="3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Limitaciones y posibles sesgos</a:t>
            </a:r>
            <a:endParaRPr lang="en-US" sz="3200" dirty="0"/>
          </a:p>
        </p:txBody>
      </p:sp>
      <p:sp>
        <p:nvSpPr>
          <p:cNvPr id="3" name="limitación Un solo origen"/>
          <p:cNvSpPr/>
          <p:nvPr/>
        </p:nvSpPr>
        <p:spPr>
          <a:xfrm>
            <a:off x="548640" y="1371600"/>
            <a:ext cx="5440680" cy="2240280"/>
          </a:xfrm>
          <a:prstGeom prst="roundRect">
            <a:avLst>
              <a:gd name="adj" fmla="val 4898"/>
            </a:avLst>
          </a:prstGeom>
          <a:solidFill>
            <a:schemeClr val="bg2"/>
          </a:solidFill>
          <a:ln/>
        </p:spPr>
        <p:txBody>
          <a:bodyPr/>
          <a:lstStyle/>
          <a:p>
            <a:endParaRPr lang="es-GT"/>
          </a:p>
        </p:txBody>
      </p:sp>
      <p:sp>
        <p:nvSpPr>
          <p:cNvPr id="4" name="icono Un solo origen círculo"/>
          <p:cNvSpPr/>
          <p:nvPr/>
        </p:nvSpPr>
        <p:spPr>
          <a:xfrm>
            <a:off x="822960" y="1645920"/>
            <a:ext cx="777240" cy="777240"/>
          </a:xfrm>
          <a:prstGeom prst="ellipse">
            <a:avLst/>
          </a:prstGeom>
          <a:solidFill>
            <a:schemeClr val="accent4"/>
          </a:solidFill>
          <a:ln/>
        </p:spPr>
        <p:txBody>
          <a:bodyPr/>
          <a:lstStyle/>
          <a:p>
            <a:endParaRPr lang="es-GT"/>
          </a:p>
        </p:txBody>
      </p:sp>
      <p:pic>
        <p:nvPicPr>
          <p:cNvPr id="5" name="icono Un solo origen" descr="preencoded.png"/>
          <p:cNvPicPr>
            <a:picLocks noChangeAspect="1"/>
          </p:cNvPicPr>
          <p:nvPr/>
        </p:nvPicPr>
        <p:blipFill>
          <a:blip r:embed="rId3"/>
          <a:stretch>
            <a:fillRect/>
          </a:stretch>
        </p:blipFill>
        <p:spPr>
          <a:xfrm>
            <a:off x="1017270" y="1840230"/>
            <a:ext cx="388620" cy="388620"/>
          </a:xfrm>
          <a:prstGeom prst="rect">
            <a:avLst/>
          </a:prstGeom>
        </p:spPr>
      </p:pic>
      <p:sp>
        <p:nvSpPr>
          <p:cNvPr id="6" name="Text 3"/>
          <p:cNvSpPr txBox="1"/>
          <p:nvPr/>
        </p:nvSpPr>
        <p:spPr>
          <a:xfrm>
            <a:off x="1828800" y="1645920"/>
            <a:ext cx="3931920" cy="411480"/>
          </a:xfrm>
          <a:prstGeom prst="rect">
            <a:avLst/>
          </a:prstGeom>
          <a:noFill/>
          <a:ln/>
        </p:spPr>
        <p:txBody>
          <a:bodyPr wrap="square" lIns="0" tIns="0" rIns="0" bIns="0" rtlCol="0" anchor="t"/>
          <a:lstStyle/>
          <a:p>
            <a:pPr marL="0" indent="0">
              <a:buNone/>
            </a:pPr>
            <a:r>
              <a:rPr lang="en-US" sz="2000" b="1" dirty="0">
                <a:solidFill>
                  <a:schemeClr val="tx2"/>
                </a:solidFill>
              </a:rPr>
              <a:t>Un solo origen</a:t>
            </a:r>
            <a:endParaRPr lang="en-US" sz="2000" dirty="0"/>
          </a:p>
        </p:txBody>
      </p:sp>
      <p:sp>
        <p:nvSpPr>
          <p:cNvPr id="7" name="Text 4"/>
          <p:cNvSpPr txBox="1"/>
          <p:nvPr/>
        </p:nvSpPr>
        <p:spPr>
          <a:xfrm>
            <a:off x="1828800" y="2148840"/>
            <a:ext cx="3931920" cy="1280160"/>
          </a:xfrm>
          <a:prstGeom prst="rect">
            <a:avLst/>
          </a:prstGeom>
          <a:noFill/>
          <a:ln/>
        </p:spPr>
        <p:txBody>
          <a:bodyPr wrap="square" lIns="0" tIns="0" rIns="0" bIns="0" rtlCol="0" anchor="t"/>
          <a:lstStyle/>
          <a:p>
            <a:pPr marL="0" indent="0">
              <a:buNone/>
            </a:pPr>
            <a:r>
              <a:rPr lang="en-US" sz="1500" dirty="0">
                <a:solidFill>
                  <a:schemeClr val="tx1"/>
                </a:solidFill>
              </a:rPr>
              <a:t>Semillas de un solo estudio en Turquía, misma cámara y luz. Sesgo de recolección: no sabemos cómo funciona con otras fotos.</a:t>
            </a:r>
            <a:endParaRPr lang="en-US" sz="1500" dirty="0"/>
          </a:p>
        </p:txBody>
      </p:sp>
      <p:sp>
        <p:nvSpPr>
          <p:cNvPr id="8" name="limitación Solo 7 variedades"/>
          <p:cNvSpPr/>
          <p:nvPr/>
        </p:nvSpPr>
        <p:spPr>
          <a:xfrm>
            <a:off x="6172200" y="1371600"/>
            <a:ext cx="5440680" cy="2240280"/>
          </a:xfrm>
          <a:prstGeom prst="roundRect">
            <a:avLst>
              <a:gd name="adj" fmla="val 4898"/>
            </a:avLst>
          </a:prstGeom>
          <a:solidFill>
            <a:schemeClr val="bg2"/>
          </a:solidFill>
          <a:ln/>
        </p:spPr>
        <p:txBody>
          <a:bodyPr/>
          <a:lstStyle/>
          <a:p>
            <a:endParaRPr lang="es-GT"/>
          </a:p>
        </p:txBody>
      </p:sp>
      <p:sp>
        <p:nvSpPr>
          <p:cNvPr id="9" name="icono Solo 7 variedades círculo"/>
          <p:cNvSpPr/>
          <p:nvPr/>
        </p:nvSpPr>
        <p:spPr>
          <a:xfrm>
            <a:off x="6446520" y="1645920"/>
            <a:ext cx="777240" cy="777240"/>
          </a:xfrm>
          <a:prstGeom prst="ellipse">
            <a:avLst/>
          </a:prstGeom>
          <a:solidFill>
            <a:schemeClr val="accent4"/>
          </a:solidFill>
          <a:ln/>
        </p:spPr>
        <p:txBody>
          <a:bodyPr/>
          <a:lstStyle/>
          <a:p>
            <a:endParaRPr lang="es-GT"/>
          </a:p>
        </p:txBody>
      </p:sp>
      <p:pic>
        <p:nvPicPr>
          <p:cNvPr id="10" name="icono Solo 7 variedades" descr="preencoded.png"/>
          <p:cNvPicPr>
            <a:picLocks noChangeAspect="1"/>
          </p:cNvPicPr>
          <p:nvPr/>
        </p:nvPicPr>
        <p:blipFill>
          <a:blip r:embed="rId4"/>
          <a:stretch>
            <a:fillRect/>
          </a:stretch>
        </p:blipFill>
        <p:spPr>
          <a:xfrm>
            <a:off x="6640830" y="1840230"/>
            <a:ext cx="388620" cy="388620"/>
          </a:xfrm>
          <a:prstGeom prst="rect">
            <a:avLst/>
          </a:prstGeom>
        </p:spPr>
      </p:pic>
      <p:sp>
        <p:nvSpPr>
          <p:cNvPr id="11" name="Text 7"/>
          <p:cNvSpPr txBox="1"/>
          <p:nvPr/>
        </p:nvSpPr>
        <p:spPr>
          <a:xfrm>
            <a:off x="7452360" y="1645920"/>
            <a:ext cx="3931920" cy="411480"/>
          </a:xfrm>
          <a:prstGeom prst="rect">
            <a:avLst/>
          </a:prstGeom>
          <a:noFill/>
          <a:ln/>
        </p:spPr>
        <p:txBody>
          <a:bodyPr wrap="square" lIns="0" tIns="0" rIns="0" bIns="0" rtlCol="0" anchor="t"/>
          <a:lstStyle/>
          <a:p>
            <a:pPr marL="0" indent="0">
              <a:buNone/>
            </a:pPr>
            <a:r>
              <a:rPr lang="en-US" sz="2000" b="1" dirty="0">
                <a:solidFill>
                  <a:schemeClr val="tx2"/>
                </a:solidFill>
              </a:rPr>
              <a:t>Solo 7 variedades</a:t>
            </a:r>
            <a:endParaRPr lang="en-US" sz="2000" dirty="0"/>
          </a:p>
        </p:txBody>
      </p:sp>
      <p:sp>
        <p:nvSpPr>
          <p:cNvPr id="12" name="Text 8"/>
          <p:cNvSpPr txBox="1"/>
          <p:nvPr/>
        </p:nvSpPr>
        <p:spPr>
          <a:xfrm>
            <a:off x="7452360" y="2148840"/>
            <a:ext cx="3931920" cy="1280160"/>
          </a:xfrm>
          <a:prstGeom prst="rect">
            <a:avLst/>
          </a:prstGeom>
          <a:noFill/>
          <a:ln/>
        </p:spPr>
        <p:txBody>
          <a:bodyPr wrap="square" lIns="0" tIns="0" rIns="0" bIns="0" rtlCol="0" anchor="t"/>
          <a:lstStyle/>
          <a:p>
            <a:pPr marL="0" indent="0">
              <a:buNone/>
            </a:pPr>
            <a:r>
              <a:rPr lang="en-US" sz="1500" dirty="0">
                <a:solidFill>
                  <a:schemeClr val="tx1"/>
                </a:solidFill>
              </a:rPr>
              <a:t>El modelo siempre responde una de las siete. Una variedad nueva se clasificaría mal sin aviso.</a:t>
            </a:r>
            <a:endParaRPr lang="en-US" sz="1500" dirty="0"/>
          </a:p>
        </p:txBody>
      </p:sp>
      <p:sp>
        <p:nvSpPr>
          <p:cNvPr id="13" name="limitación Medidas ya calculadas"/>
          <p:cNvSpPr/>
          <p:nvPr/>
        </p:nvSpPr>
        <p:spPr>
          <a:xfrm>
            <a:off x="548640" y="3840480"/>
            <a:ext cx="5440680" cy="2240280"/>
          </a:xfrm>
          <a:prstGeom prst="roundRect">
            <a:avLst>
              <a:gd name="adj" fmla="val 4898"/>
            </a:avLst>
          </a:prstGeom>
          <a:solidFill>
            <a:schemeClr val="bg2"/>
          </a:solidFill>
          <a:ln/>
        </p:spPr>
        <p:txBody>
          <a:bodyPr/>
          <a:lstStyle/>
          <a:p>
            <a:endParaRPr lang="es-GT"/>
          </a:p>
        </p:txBody>
      </p:sp>
      <p:sp>
        <p:nvSpPr>
          <p:cNvPr id="14" name="icono Medidas ya calculadas círculo"/>
          <p:cNvSpPr/>
          <p:nvPr/>
        </p:nvSpPr>
        <p:spPr>
          <a:xfrm>
            <a:off x="822960" y="4114800"/>
            <a:ext cx="777240" cy="777240"/>
          </a:xfrm>
          <a:prstGeom prst="ellipse">
            <a:avLst/>
          </a:prstGeom>
          <a:solidFill>
            <a:schemeClr val="accent4"/>
          </a:solidFill>
          <a:ln/>
        </p:spPr>
        <p:txBody>
          <a:bodyPr/>
          <a:lstStyle/>
          <a:p>
            <a:endParaRPr lang="es-GT"/>
          </a:p>
        </p:txBody>
      </p:sp>
      <p:pic>
        <p:nvPicPr>
          <p:cNvPr id="15" name="icono Medidas ya calculadas" descr="preencoded.png"/>
          <p:cNvPicPr>
            <a:picLocks noChangeAspect="1"/>
          </p:cNvPicPr>
          <p:nvPr/>
        </p:nvPicPr>
        <p:blipFill>
          <a:blip r:embed="rId5"/>
          <a:stretch>
            <a:fillRect/>
          </a:stretch>
        </p:blipFill>
        <p:spPr>
          <a:xfrm>
            <a:off x="1017270" y="4309110"/>
            <a:ext cx="388620" cy="388620"/>
          </a:xfrm>
          <a:prstGeom prst="rect">
            <a:avLst/>
          </a:prstGeom>
        </p:spPr>
      </p:pic>
      <p:sp>
        <p:nvSpPr>
          <p:cNvPr id="16" name="Text 11"/>
          <p:cNvSpPr txBox="1"/>
          <p:nvPr/>
        </p:nvSpPr>
        <p:spPr>
          <a:xfrm>
            <a:off x="1828800" y="4114800"/>
            <a:ext cx="3931920" cy="411480"/>
          </a:xfrm>
          <a:prstGeom prst="rect">
            <a:avLst/>
          </a:prstGeom>
          <a:noFill/>
          <a:ln/>
        </p:spPr>
        <p:txBody>
          <a:bodyPr wrap="square" lIns="0" tIns="0" rIns="0" bIns="0" rtlCol="0" anchor="t"/>
          <a:lstStyle/>
          <a:p>
            <a:pPr marL="0" indent="0">
              <a:buNone/>
            </a:pPr>
            <a:r>
              <a:rPr lang="en-US" sz="2000" b="1" dirty="0">
                <a:solidFill>
                  <a:schemeClr val="tx2"/>
                </a:solidFill>
              </a:rPr>
              <a:t>Medidas ya calculadas</a:t>
            </a:r>
            <a:endParaRPr lang="en-US" sz="2000" dirty="0"/>
          </a:p>
        </p:txBody>
      </p:sp>
      <p:sp>
        <p:nvSpPr>
          <p:cNvPr id="17" name="Text 12"/>
          <p:cNvSpPr txBox="1"/>
          <p:nvPr/>
        </p:nvSpPr>
        <p:spPr>
          <a:xfrm>
            <a:off x="1828800" y="4617720"/>
            <a:ext cx="3931920" cy="1280160"/>
          </a:xfrm>
          <a:prstGeom prst="rect">
            <a:avLst/>
          </a:prstGeom>
          <a:noFill/>
          <a:ln/>
        </p:spPr>
        <p:txBody>
          <a:bodyPr wrap="square" lIns="0" tIns="0" rIns="0" bIns="0" rtlCol="0" anchor="t"/>
          <a:lstStyle/>
          <a:p>
            <a:pPr marL="0" indent="0">
              <a:buNone/>
            </a:pPr>
            <a:r>
              <a:rPr lang="en-US" sz="1500" dirty="0">
                <a:solidFill>
                  <a:schemeClr val="tx1"/>
                </a:solidFill>
              </a:rPr>
              <a:t>Dependemos de cómo se segmentaron las imágenes. Un error ahí pasa directo al modelo.</a:t>
            </a:r>
            <a:endParaRPr lang="en-US" sz="1500" dirty="0"/>
          </a:p>
        </p:txBody>
      </p:sp>
      <p:sp>
        <p:nvSpPr>
          <p:cNvPr id="18" name="limitación Faltan variables"/>
          <p:cNvSpPr/>
          <p:nvPr/>
        </p:nvSpPr>
        <p:spPr>
          <a:xfrm>
            <a:off x="6172200" y="3840480"/>
            <a:ext cx="5440680" cy="2240280"/>
          </a:xfrm>
          <a:prstGeom prst="roundRect">
            <a:avLst>
              <a:gd name="adj" fmla="val 4898"/>
            </a:avLst>
          </a:prstGeom>
          <a:solidFill>
            <a:schemeClr val="bg2"/>
          </a:solidFill>
          <a:ln/>
        </p:spPr>
        <p:txBody>
          <a:bodyPr/>
          <a:lstStyle/>
          <a:p>
            <a:endParaRPr lang="es-GT"/>
          </a:p>
        </p:txBody>
      </p:sp>
      <p:sp>
        <p:nvSpPr>
          <p:cNvPr id="19" name="icono Faltan variables círculo"/>
          <p:cNvSpPr/>
          <p:nvPr/>
        </p:nvSpPr>
        <p:spPr>
          <a:xfrm>
            <a:off x="6446520" y="4114800"/>
            <a:ext cx="777240" cy="777240"/>
          </a:xfrm>
          <a:prstGeom prst="ellipse">
            <a:avLst/>
          </a:prstGeom>
          <a:solidFill>
            <a:schemeClr val="accent4"/>
          </a:solidFill>
          <a:ln/>
        </p:spPr>
        <p:txBody>
          <a:bodyPr/>
          <a:lstStyle/>
          <a:p>
            <a:endParaRPr lang="es-GT"/>
          </a:p>
        </p:txBody>
      </p:sp>
      <p:pic>
        <p:nvPicPr>
          <p:cNvPr id="20" name="icono Faltan variables" descr="preencoded.png"/>
          <p:cNvPicPr>
            <a:picLocks noChangeAspect="1"/>
          </p:cNvPicPr>
          <p:nvPr/>
        </p:nvPicPr>
        <p:blipFill>
          <a:blip r:embed="rId6"/>
          <a:stretch>
            <a:fillRect/>
          </a:stretch>
        </p:blipFill>
        <p:spPr>
          <a:xfrm>
            <a:off x="6640830" y="4309110"/>
            <a:ext cx="388620" cy="388620"/>
          </a:xfrm>
          <a:prstGeom prst="rect">
            <a:avLst/>
          </a:prstGeom>
        </p:spPr>
      </p:pic>
      <p:sp>
        <p:nvSpPr>
          <p:cNvPr id="21" name="Text 15"/>
          <p:cNvSpPr txBox="1"/>
          <p:nvPr/>
        </p:nvSpPr>
        <p:spPr>
          <a:xfrm>
            <a:off x="7452360" y="4114800"/>
            <a:ext cx="3931920" cy="411480"/>
          </a:xfrm>
          <a:prstGeom prst="rect">
            <a:avLst/>
          </a:prstGeom>
          <a:noFill/>
          <a:ln/>
        </p:spPr>
        <p:txBody>
          <a:bodyPr wrap="square" lIns="0" tIns="0" rIns="0" bIns="0" rtlCol="0" anchor="t"/>
          <a:lstStyle/>
          <a:p>
            <a:pPr marL="0" indent="0">
              <a:buNone/>
            </a:pPr>
            <a:r>
              <a:rPr lang="en-US" sz="2000" b="1" dirty="0">
                <a:solidFill>
                  <a:schemeClr val="tx2"/>
                </a:solidFill>
              </a:rPr>
              <a:t>Faltan variables</a:t>
            </a:r>
            <a:endParaRPr lang="en-US" sz="2000" dirty="0"/>
          </a:p>
        </p:txBody>
      </p:sp>
      <p:sp>
        <p:nvSpPr>
          <p:cNvPr id="22" name="Text 16"/>
          <p:cNvSpPr txBox="1"/>
          <p:nvPr/>
        </p:nvSpPr>
        <p:spPr>
          <a:xfrm>
            <a:off x="7452360" y="4617720"/>
            <a:ext cx="3931920" cy="1280160"/>
          </a:xfrm>
          <a:prstGeom prst="rect">
            <a:avLst/>
          </a:prstGeom>
          <a:noFill/>
          <a:ln/>
        </p:spPr>
        <p:txBody>
          <a:bodyPr wrap="square" lIns="0" tIns="0" rIns="0" bIns="0" rtlCol="0" anchor="t"/>
          <a:lstStyle/>
          <a:p>
            <a:pPr marL="0" indent="0">
              <a:buNone/>
            </a:pPr>
            <a:r>
              <a:rPr lang="en-US" sz="1500" dirty="0">
                <a:solidFill>
                  <a:schemeClr val="tx1"/>
                </a:solidFill>
              </a:rPr>
              <a:t>Para separar DERMASON de SIRA probablemente harían falta color o textura.</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E5D5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280160"/>
          </a:xfrm>
          <a:prstGeom prst="rect">
            <a:avLst/>
          </a:prstGeom>
          <a:noFill/>
          <a:ln/>
        </p:spPr>
        <p:txBody>
          <a:bodyPr wrap="square" rtlCol="0" anchor="b"/>
          <a:lstStyle/>
          <a:p>
            <a:pPr marL="0" indent="0">
              <a:buNone/>
            </a:pPr>
            <a:r>
              <a:rPr lang="en-US" sz="4600" b="1" dirty="0">
                <a:solidFill>
                  <a:schemeClr val="bg1"/>
                </a:solidFill>
                <a:latin typeface="Cambria" pitchFamily="34" charset="0"/>
                <a:ea typeface="Cambria" pitchFamily="34" charset="-122"/>
                <a:cs typeface="Cambria" pitchFamily="34" charset="-120"/>
              </a:rPr>
              <a:t>Con 16 medidas basta para un F1 de 0.93</a:t>
            </a:r>
            <a:endParaRPr lang="en-US" sz="4600" dirty="0"/>
          </a:p>
        </p:txBody>
      </p:sp>
      <p:sp>
        <p:nvSpPr>
          <p:cNvPr id="3" name="Text 0"/>
          <p:cNvSpPr>
            <a:spLocks noGrp="1"/>
          </p:cNvSpPr>
          <p:nvPr>
            <p:ph type="body" idx="101" hasCustomPrompt="1"/>
          </p:nvPr>
        </p:nvSpPr>
        <p:spPr>
          <a:xfrm>
            <a:off x="731520" y="3520440"/>
            <a:ext cx="10698480" cy="1280160"/>
          </a:xfrm>
          <a:prstGeom prst="rect">
            <a:avLst/>
          </a:prstGeom>
          <a:noFill/>
          <a:ln/>
        </p:spPr>
        <p:txBody>
          <a:bodyPr wrap="square" rtlCol="0" anchor="t"/>
          <a:lstStyle/>
          <a:p>
            <a:pPr marL="342900" indent="-342900">
              <a:spcAft>
                <a:spcPts val="800"/>
              </a:spcAft>
              <a:buSzPct val="100000"/>
              <a:buChar char="•"/>
            </a:pPr>
            <a:r>
              <a:rPr lang="en-US" sz="2000" dirty="0">
                <a:solidFill>
                  <a:schemeClr val="bg2"/>
                </a:solidFill>
              </a:rPr>
              <a:t>Un modelo lineal simple rinde igual que KNN y el random forest.</a:t>
            </a:r>
            <a:endParaRPr lang="en-US" sz="2000" dirty="0"/>
          </a:p>
          <a:p>
            <a:pPr marL="342900" indent="-342900">
              <a:spcAft>
                <a:spcPts val="800"/>
              </a:spcAft>
              <a:buSzPct val="100000"/>
              <a:buChar char="•"/>
            </a:pPr>
            <a:r>
              <a:rPr lang="en-US" sz="2000" dirty="0">
                <a:solidFill>
                  <a:schemeClr val="bg2"/>
                </a:solidFill>
              </a:rPr>
              <a:t>Los errores se concentran en variedades que también se parecen en las medidas.</a:t>
            </a:r>
            <a:endParaRPr lang="en-US" sz="2000" dirty="0"/>
          </a:p>
          <a:p>
            <a:pPr marL="342900" indent="-342900">
              <a:spcAft>
                <a:spcPts val="800"/>
              </a:spcAft>
              <a:buSzPct val="100000"/>
              <a:buChar char="•"/>
            </a:pPr>
            <a:r>
              <a:rPr lang="en-US" sz="2000" dirty="0">
                <a:solidFill>
                  <a:schemeClr val="bg2"/>
                </a:solidFill>
              </a:rPr>
              <a:t>Todo es reproducible: python src/ver_resultados.py muestra los resultados en vivo.</a:t>
            </a:r>
            <a:endParaRPr lang="en-US" sz="2000" dirty="0"/>
          </a:p>
          <a:p>
            <a:pPr marL="0" indent="0">
              <a:spcAft>
                <a:spcPts val="800"/>
              </a:spcAft>
              <a:buNone/>
            </a:pPr>
            <a:r>
              <a:rPr lang="en-US" sz="2000" b="1" dirty="0">
                <a:solidFill>
                  <a:srgbClr val="D9B98A"/>
                </a:solidFill>
              </a:rPr>
              <a:t>Gracias · ¿Preguntas?</a:t>
            </a:r>
            <a:endParaRPr lang="en-US" sz="2000" dirty="0"/>
          </a:p>
        </p:txBody>
      </p:sp>
    </p:spTree>
  </p:cSld>
  <p:clrMapOvr>
    <a:masterClrMapping/>
  </p:clrMapOvr>
</p:sld>
</file>

<file path=ppt/theme/theme1.xml><?xml version="1.0" encoding="utf-8"?>
<a:theme xmlns:a="http://schemas.openxmlformats.org/drawingml/2006/main" name="Frijol">
  <a:themeElements>
    <a:clrScheme name="Frijol">
      <a:dk1>
        <a:srgbClr val="2B1D14"/>
      </a:dk1>
      <a:lt1>
        <a:srgbClr val="FFFFFF"/>
      </a:lt1>
      <a:dk2>
        <a:srgbClr val="4A3428"/>
      </a:dk2>
      <a:lt2>
        <a:srgbClr val="F3EEE7"/>
      </a:lt2>
      <a:accent1>
        <a:srgbClr val="5B8C5A"/>
      </a:accent1>
      <a:accent2>
        <a:srgbClr val="C0532F"/>
      </a:accent2>
      <a:accent3>
        <a:srgbClr val="D9B98A"/>
      </a:accent3>
      <a:accent4>
        <a:srgbClr val="8A6E5A"/>
      </a:accent4>
      <a:accent5>
        <a:srgbClr val="3D6B4C"/>
      </a:accent5>
      <a:accent6>
        <a:srgbClr val="9A9A9A"/>
      </a:accent6>
      <a:hlink>
        <a:srgbClr val="3D6B4C"/>
      </a:hlink>
      <a:folHlink>
        <a:srgbClr val="8A6E5A"/>
      </a:folHlink>
    </a:clrScheme>
    <a:fontScheme name="Frijo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2665</Words>
  <Application>Microsoft Office PowerPoint</Application>
  <PresentationFormat>Panorámica</PresentationFormat>
  <Paragraphs>332</Paragraphs>
  <Slides>18</Slides>
  <Notes>18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Cambria</vt:lpstr>
      <vt:lpstr>Courier New</vt:lpstr>
      <vt:lpstr>Frijol</vt:lpstr>
      <vt:lpstr>Clasificación de variedades de frijol</vt:lpstr>
      <vt:lpstr>El problema: reconocer la variedad de una semilla</vt:lpstr>
      <vt:lpstr>Los datos: Dry Bean de UCI</vt:lpstr>
      <vt:lpstr>Las variedades no están balanceadas</vt:lpstr>
      <vt:lpstr>Qué distingue a cada variedad</vt:lpstr>
      <vt:lpstr>Cómo funciona el código</vt:lpstr>
      <vt:lpstr>Decisiones de preprocesamiento</vt:lpstr>
      <vt:lpstr>El punto de partida: el baseline</vt:lpstr>
      <vt:lpstr>Búsqueda de hiperparámetros</vt:lpstr>
      <vt:lpstr>Resultados en validación cruzada</vt:lpstr>
      <vt:lpstr>Diagnóstico de sobreajuste</vt:lpstr>
      <vt:lpstr>Cómo elegimos el modelo final</vt:lpstr>
      <vt:lpstr>Evaluación final en test (una sola vez)</vt:lpstr>
      <vt:lpstr>Matriz de confusión en test</vt:lpstr>
      <vt:lpstr>¿Dónde se equivoca el modelo?</vt:lpstr>
      <vt:lpstr>Ejemplos concretos de errores</vt:lpstr>
      <vt:lpstr>Limitaciones y posibles sesgos</vt:lpstr>
      <vt:lpstr>Con 16 medidas basta para un F1 de 0.93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Clasificación de variedades de frijol</dc:title>
  <dc:subject>PptxGenJS Presentation</dc:subject>
  <dc:creator>Rodrigo Ramírez y Denis Rodríguez</dc:creator>
  <cp:lastModifiedBy>Denis Rodríguez</cp:lastModifiedBy>
  <cp:revision>2</cp:revision>
  <dcterms:created xsi:type="dcterms:W3CDTF">2026-10-26T22:18:08Z</dcterms:created>
  <dcterms:modified xsi:type="dcterms:W3CDTF">2026-10-26T22:21:09Z</dcterms:modified>
</cp:coreProperties>
</file>